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7.jpg" ContentType="image/jpeg"/>
  <Override PartName="/ppt/media/image8.jpg" ContentType="image/jpeg"/>
  <Override PartName="/ppt/media/image9.jpg" ContentType="image/jpeg"/>
  <Override PartName="/ppt/media/image10.jpg" ContentType="image/jpeg"/>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handoutMasterIdLst>
    <p:handoutMasterId r:id="rId26"/>
  </p:handoutMasterIdLst>
  <p:sldIdLst>
    <p:sldId id="256" r:id="rId2"/>
    <p:sldId id="257" r:id="rId3"/>
    <p:sldId id="258" r:id="rId4"/>
    <p:sldId id="259" r:id="rId5"/>
    <p:sldId id="281" r:id="rId6"/>
    <p:sldId id="294" r:id="rId7"/>
    <p:sldId id="295" r:id="rId8"/>
    <p:sldId id="267" r:id="rId9"/>
    <p:sldId id="261" r:id="rId10"/>
    <p:sldId id="273" r:id="rId11"/>
    <p:sldId id="274" r:id="rId12"/>
    <p:sldId id="275" r:id="rId13"/>
    <p:sldId id="262" r:id="rId14"/>
    <p:sldId id="282" r:id="rId15"/>
    <p:sldId id="271" r:id="rId16"/>
    <p:sldId id="287" r:id="rId17"/>
    <p:sldId id="296" r:id="rId18"/>
    <p:sldId id="297" r:id="rId19"/>
    <p:sldId id="298" r:id="rId20"/>
    <p:sldId id="264" r:id="rId21"/>
    <p:sldId id="279" r:id="rId22"/>
    <p:sldId id="299" r:id="rId23"/>
    <p:sldId id="265" r:id="rId24"/>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2923" autoAdjust="0"/>
  </p:normalViewPr>
  <p:slideViewPr>
    <p:cSldViewPr>
      <p:cViewPr varScale="1">
        <p:scale>
          <a:sx n="47" d="100"/>
          <a:sy n="47" d="100"/>
        </p:scale>
        <p:origin x="1080"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FD1D26-469A-ED12-1AEA-07CD2AD097AF}"/>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r>
              <a:rPr lang="en-IN"/>
              <a:t>Smart Intruder Detection System</a:t>
            </a:r>
          </a:p>
        </p:txBody>
      </p:sp>
      <p:sp>
        <p:nvSpPr>
          <p:cNvPr id="3" name="Date Placeholder 2">
            <a:extLst>
              <a:ext uri="{FF2B5EF4-FFF2-40B4-BE49-F238E27FC236}">
                <a16:creationId xmlns:a16="http://schemas.microsoft.com/office/drawing/2014/main" id="{7EDF9FCC-2E28-56B6-04B3-EC148454A828}"/>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DD476B-9912-4308-A520-4ACFDB597F08}" type="datetime1">
              <a:rPr lang="en-IN" smtClean="0"/>
              <a:t>13-08-2026</a:t>
            </a:fld>
            <a:endParaRPr lang="en-IN"/>
          </a:p>
        </p:txBody>
      </p:sp>
      <p:sp>
        <p:nvSpPr>
          <p:cNvPr id="4" name="Footer Placeholder 3">
            <a:extLst>
              <a:ext uri="{FF2B5EF4-FFF2-40B4-BE49-F238E27FC236}">
                <a16:creationId xmlns:a16="http://schemas.microsoft.com/office/drawing/2014/main" id="{9D4B610E-6A1D-326A-582B-BED82AD0CFE1}"/>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058134FA-CDEA-0580-A292-AAE499F7D96E}"/>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F9C66567-6D10-40F1-B912-C67440757E04}" type="slidenum">
              <a:rPr lang="en-IN" smtClean="0"/>
              <a:t>‹#›</a:t>
            </a:fld>
            <a:endParaRPr lang="en-IN"/>
          </a:p>
        </p:txBody>
      </p:sp>
    </p:spTree>
    <p:extLst>
      <p:ext uri="{BB962C8B-B14F-4D97-AF65-F5344CB8AC3E}">
        <p14:creationId xmlns:p14="http://schemas.microsoft.com/office/powerpoint/2010/main" val="1576314694"/>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r>
              <a:rPr lang="en-IN"/>
              <a:t>Smart Intruder Detection System</a:t>
            </a:r>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66CD6C87-EA24-4FFB-BBDE-75329E00FE1B}" type="datetime1">
              <a:rPr lang="en-IN" smtClean="0"/>
              <a:t>13-08-2026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502DE272-1E40-48E6-A8EC-1B6D69A774C6}" type="slidenum">
              <a:rPr lang="en-IN" smtClean="0"/>
              <a:t>‹#›</a:t>
            </a:fld>
            <a:endParaRPr lang="en-IN"/>
          </a:p>
        </p:txBody>
      </p:sp>
    </p:spTree>
    <p:extLst>
      <p:ext uri="{BB962C8B-B14F-4D97-AF65-F5344CB8AC3E}">
        <p14:creationId xmlns:p14="http://schemas.microsoft.com/office/powerpoint/2010/main" val="252199930"/>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IN"/>
              <a:t>Smart Intruder Detection System</a:t>
            </a:r>
          </a:p>
        </p:txBody>
      </p:sp>
      <p:sp>
        <p:nvSpPr>
          <p:cNvPr id="5" name="Date Placeholder 4"/>
          <p:cNvSpPr>
            <a:spLocks noGrp="1"/>
          </p:cNvSpPr>
          <p:nvPr>
            <p:ph type="dt" idx="1"/>
          </p:nvPr>
        </p:nvSpPr>
        <p:spPr/>
        <p:txBody>
          <a:bodyPr/>
          <a:lstStyle/>
          <a:p>
            <a:fld id="{66CD6C87-EA24-4FFB-BBDE-75329E00FE1B}" type="datetime1">
              <a:rPr lang="en-IN" smtClean="0"/>
              <a:t>13-08-2026</a:t>
            </a:fld>
            <a:endParaRPr lang="en-IN"/>
          </a:p>
        </p:txBody>
      </p:sp>
      <p:sp>
        <p:nvSpPr>
          <p:cNvPr id="6" name="Slide Number Placeholder 5"/>
          <p:cNvSpPr>
            <a:spLocks noGrp="1"/>
          </p:cNvSpPr>
          <p:nvPr>
            <p:ph type="sldNum" sz="quarter" idx="5"/>
          </p:nvPr>
        </p:nvSpPr>
        <p:spPr/>
        <p:txBody>
          <a:bodyPr/>
          <a:lstStyle/>
          <a:p>
            <a:fld id="{502DE272-1E40-48E6-A8EC-1B6D69A774C6}" type="slidenum">
              <a:rPr lang="en-IN" smtClean="0"/>
              <a:t>1</a:t>
            </a:fld>
            <a:endParaRPr lang="en-IN"/>
          </a:p>
        </p:txBody>
      </p:sp>
    </p:spTree>
    <p:extLst>
      <p:ext uri="{BB962C8B-B14F-4D97-AF65-F5344CB8AC3E}">
        <p14:creationId xmlns:p14="http://schemas.microsoft.com/office/powerpoint/2010/main" val="3096698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2DE272-1E40-48E6-A8EC-1B6D69A774C6}" type="slidenum">
              <a:rPr lang="en-IN" smtClean="0"/>
              <a:t>2</a:t>
            </a:fld>
            <a:endParaRPr lang="en-IN"/>
          </a:p>
        </p:txBody>
      </p:sp>
      <p:sp>
        <p:nvSpPr>
          <p:cNvPr id="5" name="Header Placeholder 4">
            <a:extLst>
              <a:ext uri="{FF2B5EF4-FFF2-40B4-BE49-F238E27FC236}">
                <a16:creationId xmlns:a16="http://schemas.microsoft.com/office/drawing/2014/main" id="{4D011A6B-4693-4001-0BC9-E6377A332206}"/>
              </a:ext>
            </a:extLst>
          </p:cNvPr>
          <p:cNvSpPr>
            <a:spLocks noGrp="1"/>
          </p:cNvSpPr>
          <p:nvPr>
            <p:ph type="hdr" sz="quarter"/>
          </p:nvPr>
        </p:nvSpPr>
        <p:spPr/>
        <p:txBody>
          <a:bodyPr/>
          <a:lstStyle/>
          <a:p>
            <a:r>
              <a:rPr lang="en-IN"/>
              <a:t>Smart Intruder Detection System</a:t>
            </a:r>
          </a:p>
        </p:txBody>
      </p:sp>
      <p:sp>
        <p:nvSpPr>
          <p:cNvPr id="6" name="Date Placeholder 5">
            <a:extLst>
              <a:ext uri="{FF2B5EF4-FFF2-40B4-BE49-F238E27FC236}">
                <a16:creationId xmlns:a16="http://schemas.microsoft.com/office/drawing/2014/main" id="{167E2624-1E45-E5B8-58DB-588F846E2EC0}"/>
              </a:ext>
            </a:extLst>
          </p:cNvPr>
          <p:cNvSpPr>
            <a:spLocks noGrp="1"/>
          </p:cNvSpPr>
          <p:nvPr>
            <p:ph type="dt" idx="1"/>
          </p:nvPr>
        </p:nvSpPr>
        <p:spPr/>
        <p:txBody>
          <a:bodyPr/>
          <a:lstStyle/>
          <a:p>
            <a:fld id="{C2165416-C405-43E6-BE91-81977D58FE97}" type="datetime1">
              <a:rPr lang="en-IN" smtClean="0"/>
              <a:t>13-08-2026</a:t>
            </a:fld>
            <a:endParaRPr lang="en-IN"/>
          </a:p>
        </p:txBody>
      </p:sp>
    </p:spTree>
    <p:extLst>
      <p:ext uri="{BB962C8B-B14F-4D97-AF65-F5344CB8AC3E}">
        <p14:creationId xmlns:p14="http://schemas.microsoft.com/office/powerpoint/2010/main" val="1892282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D1CC4-ACA9-657C-CD61-F13D8577A8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1ED58-3F20-0E81-08A9-4EBC895C6E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AA511F-56AC-A99E-801A-DD39D21CF3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05B2A9-DB5F-E776-2A7C-90A745F252D7}"/>
              </a:ext>
            </a:extLst>
          </p:cNvPr>
          <p:cNvSpPr>
            <a:spLocks noGrp="1"/>
          </p:cNvSpPr>
          <p:nvPr>
            <p:ph type="sldNum" sz="quarter" idx="5"/>
          </p:nvPr>
        </p:nvSpPr>
        <p:spPr/>
        <p:txBody>
          <a:bodyPr/>
          <a:lstStyle/>
          <a:p>
            <a:fld id="{502DE272-1E40-48E6-A8EC-1B6D69A774C6}" type="slidenum">
              <a:rPr lang="en-IN" smtClean="0"/>
              <a:t>10</a:t>
            </a:fld>
            <a:endParaRPr lang="en-IN"/>
          </a:p>
        </p:txBody>
      </p:sp>
      <p:sp>
        <p:nvSpPr>
          <p:cNvPr id="5" name="Header Placeholder 4">
            <a:extLst>
              <a:ext uri="{FF2B5EF4-FFF2-40B4-BE49-F238E27FC236}">
                <a16:creationId xmlns:a16="http://schemas.microsoft.com/office/drawing/2014/main" id="{15C7B88C-D4C2-C16E-E05F-9835CA0C2619}"/>
              </a:ext>
            </a:extLst>
          </p:cNvPr>
          <p:cNvSpPr>
            <a:spLocks noGrp="1"/>
          </p:cNvSpPr>
          <p:nvPr>
            <p:ph type="hdr" sz="quarter"/>
          </p:nvPr>
        </p:nvSpPr>
        <p:spPr/>
        <p:txBody>
          <a:bodyPr/>
          <a:lstStyle/>
          <a:p>
            <a:r>
              <a:rPr lang="en-IN"/>
              <a:t>Smart Intruder Detection System</a:t>
            </a:r>
          </a:p>
        </p:txBody>
      </p:sp>
      <p:sp>
        <p:nvSpPr>
          <p:cNvPr id="6" name="Date Placeholder 5">
            <a:extLst>
              <a:ext uri="{FF2B5EF4-FFF2-40B4-BE49-F238E27FC236}">
                <a16:creationId xmlns:a16="http://schemas.microsoft.com/office/drawing/2014/main" id="{37D60F30-F748-6CB0-6FF4-04E76466137C}"/>
              </a:ext>
            </a:extLst>
          </p:cNvPr>
          <p:cNvSpPr>
            <a:spLocks noGrp="1"/>
          </p:cNvSpPr>
          <p:nvPr>
            <p:ph type="dt" idx="1"/>
          </p:nvPr>
        </p:nvSpPr>
        <p:spPr/>
        <p:txBody>
          <a:bodyPr/>
          <a:lstStyle/>
          <a:p>
            <a:fld id="{C2165416-C405-43E6-BE91-81977D58FE97}" type="datetime1">
              <a:rPr lang="en-IN" smtClean="0"/>
              <a:t>13-08-2026</a:t>
            </a:fld>
            <a:endParaRPr lang="en-IN"/>
          </a:p>
        </p:txBody>
      </p:sp>
    </p:spTree>
    <p:extLst>
      <p:ext uri="{BB962C8B-B14F-4D97-AF65-F5344CB8AC3E}">
        <p14:creationId xmlns:p14="http://schemas.microsoft.com/office/powerpoint/2010/main" val="2012352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208E0-A380-AE49-0325-83F107CBB4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23BA2A-5F32-57AB-394E-AC0B6A475A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507FE8-BE79-7619-99C1-70005711B9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7424B9-100E-1D52-C2A4-313C6B70CFA7}"/>
              </a:ext>
            </a:extLst>
          </p:cNvPr>
          <p:cNvSpPr>
            <a:spLocks noGrp="1"/>
          </p:cNvSpPr>
          <p:nvPr>
            <p:ph type="sldNum" sz="quarter" idx="5"/>
          </p:nvPr>
        </p:nvSpPr>
        <p:spPr/>
        <p:txBody>
          <a:bodyPr/>
          <a:lstStyle/>
          <a:p>
            <a:fld id="{502DE272-1E40-48E6-A8EC-1B6D69A774C6}" type="slidenum">
              <a:rPr lang="en-IN" smtClean="0"/>
              <a:t>11</a:t>
            </a:fld>
            <a:endParaRPr lang="en-IN"/>
          </a:p>
        </p:txBody>
      </p:sp>
      <p:sp>
        <p:nvSpPr>
          <p:cNvPr id="5" name="Header Placeholder 4">
            <a:extLst>
              <a:ext uri="{FF2B5EF4-FFF2-40B4-BE49-F238E27FC236}">
                <a16:creationId xmlns:a16="http://schemas.microsoft.com/office/drawing/2014/main" id="{2B2068B0-D817-BA98-FCF4-0F6B239EAE2E}"/>
              </a:ext>
            </a:extLst>
          </p:cNvPr>
          <p:cNvSpPr>
            <a:spLocks noGrp="1"/>
          </p:cNvSpPr>
          <p:nvPr>
            <p:ph type="hdr" sz="quarter"/>
          </p:nvPr>
        </p:nvSpPr>
        <p:spPr/>
        <p:txBody>
          <a:bodyPr/>
          <a:lstStyle/>
          <a:p>
            <a:r>
              <a:rPr lang="en-IN"/>
              <a:t>Smart Intruder Detection System</a:t>
            </a:r>
          </a:p>
        </p:txBody>
      </p:sp>
      <p:sp>
        <p:nvSpPr>
          <p:cNvPr id="6" name="Date Placeholder 5">
            <a:extLst>
              <a:ext uri="{FF2B5EF4-FFF2-40B4-BE49-F238E27FC236}">
                <a16:creationId xmlns:a16="http://schemas.microsoft.com/office/drawing/2014/main" id="{FE42B4D2-DDFD-D227-DC38-84B7C16EC57D}"/>
              </a:ext>
            </a:extLst>
          </p:cNvPr>
          <p:cNvSpPr>
            <a:spLocks noGrp="1"/>
          </p:cNvSpPr>
          <p:nvPr>
            <p:ph type="dt" idx="1"/>
          </p:nvPr>
        </p:nvSpPr>
        <p:spPr/>
        <p:txBody>
          <a:bodyPr/>
          <a:lstStyle/>
          <a:p>
            <a:fld id="{C2165416-C405-43E6-BE91-81977D58FE97}" type="datetime1">
              <a:rPr lang="en-IN" smtClean="0"/>
              <a:t>13-08-2026</a:t>
            </a:fld>
            <a:endParaRPr lang="en-IN"/>
          </a:p>
        </p:txBody>
      </p:sp>
    </p:spTree>
    <p:extLst>
      <p:ext uri="{BB962C8B-B14F-4D97-AF65-F5344CB8AC3E}">
        <p14:creationId xmlns:p14="http://schemas.microsoft.com/office/powerpoint/2010/main" val="252059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AD5AD-276F-9067-689C-C5B4DD6C3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DAEB2-9F21-6AF9-7224-B81EFFEF75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2897ED-F3DE-5985-ED9D-D8D7BC12F3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0A01D6-7289-DB9E-B1AD-986F46F2AC0B}"/>
              </a:ext>
            </a:extLst>
          </p:cNvPr>
          <p:cNvSpPr>
            <a:spLocks noGrp="1"/>
          </p:cNvSpPr>
          <p:nvPr>
            <p:ph type="sldNum" sz="quarter" idx="5"/>
          </p:nvPr>
        </p:nvSpPr>
        <p:spPr/>
        <p:txBody>
          <a:bodyPr/>
          <a:lstStyle/>
          <a:p>
            <a:fld id="{502DE272-1E40-48E6-A8EC-1B6D69A774C6}" type="slidenum">
              <a:rPr lang="en-IN" smtClean="0"/>
              <a:t>12</a:t>
            </a:fld>
            <a:endParaRPr lang="en-IN"/>
          </a:p>
        </p:txBody>
      </p:sp>
      <p:sp>
        <p:nvSpPr>
          <p:cNvPr id="5" name="Header Placeholder 4">
            <a:extLst>
              <a:ext uri="{FF2B5EF4-FFF2-40B4-BE49-F238E27FC236}">
                <a16:creationId xmlns:a16="http://schemas.microsoft.com/office/drawing/2014/main" id="{B74818E7-1FE3-111F-89C5-69AA18D5C24F}"/>
              </a:ext>
            </a:extLst>
          </p:cNvPr>
          <p:cNvSpPr>
            <a:spLocks noGrp="1"/>
          </p:cNvSpPr>
          <p:nvPr>
            <p:ph type="hdr" sz="quarter"/>
          </p:nvPr>
        </p:nvSpPr>
        <p:spPr/>
        <p:txBody>
          <a:bodyPr/>
          <a:lstStyle/>
          <a:p>
            <a:r>
              <a:rPr lang="en-IN"/>
              <a:t>Smart Intruder Detection System</a:t>
            </a:r>
          </a:p>
        </p:txBody>
      </p:sp>
      <p:sp>
        <p:nvSpPr>
          <p:cNvPr id="6" name="Date Placeholder 5">
            <a:extLst>
              <a:ext uri="{FF2B5EF4-FFF2-40B4-BE49-F238E27FC236}">
                <a16:creationId xmlns:a16="http://schemas.microsoft.com/office/drawing/2014/main" id="{1473E046-4118-04C6-3CEE-D7A7FA02D64A}"/>
              </a:ext>
            </a:extLst>
          </p:cNvPr>
          <p:cNvSpPr>
            <a:spLocks noGrp="1"/>
          </p:cNvSpPr>
          <p:nvPr>
            <p:ph type="dt" idx="1"/>
          </p:nvPr>
        </p:nvSpPr>
        <p:spPr/>
        <p:txBody>
          <a:bodyPr/>
          <a:lstStyle/>
          <a:p>
            <a:fld id="{C2165416-C405-43E6-BE91-81977D58FE97}" type="datetime1">
              <a:rPr lang="en-IN" smtClean="0"/>
              <a:t>13-08-2026</a:t>
            </a:fld>
            <a:endParaRPr lang="en-IN"/>
          </a:p>
        </p:txBody>
      </p:sp>
    </p:spTree>
    <p:extLst>
      <p:ext uri="{BB962C8B-B14F-4D97-AF65-F5344CB8AC3E}">
        <p14:creationId xmlns:p14="http://schemas.microsoft.com/office/powerpoint/2010/main" val="3717312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IN"/>
              <a:t>Smart Intruder Detection System</a:t>
            </a:r>
          </a:p>
        </p:txBody>
      </p:sp>
      <p:sp>
        <p:nvSpPr>
          <p:cNvPr id="5" name="Date Placeholder 4"/>
          <p:cNvSpPr>
            <a:spLocks noGrp="1"/>
          </p:cNvSpPr>
          <p:nvPr>
            <p:ph type="dt" idx="1"/>
          </p:nvPr>
        </p:nvSpPr>
        <p:spPr/>
        <p:txBody>
          <a:bodyPr/>
          <a:lstStyle/>
          <a:p>
            <a:fld id="{66CD6C87-EA24-4FFB-BBDE-75329E00FE1B}" type="datetime1">
              <a:rPr lang="en-IN" smtClean="0"/>
              <a:t>13-08-2026</a:t>
            </a:fld>
            <a:endParaRPr lang="en-IN"/>
          </a:p>
        </p:txBody>
      </p:sp>
      <p:sp>
        <p:nvSpPr>
          <p:cNvPr id="6" name="Slide Number Placeholder 5"/>
          <p:cNvSpPr>
            <a:spLocks noGrp="1"/>
          </p:cNvSpPr>
          <p:nvPr>
            <p:ph type="sldNum" sz="quarter" idx="5"/>
          </p:nvPr>
        </p:nvSpPr>
        <p:spPr/>
        <p:txBody>
          <a:bodyPr/>
          <a:lstStyle/>
          <a:p>
            <a:fld id="{502DE272-1E40-48E6-A8EC-1B6D69A774C6}" type="slidenum">
              <a:rPr lang="en-IN" smtClean="0"/>
              <a:t>20</a:t>
            </a:fld>
            <a:endParaRPr lang="en-IN"/>
          </a:p>
        </p:txBody>
      </p:sp>
    </p:spTree>
    <p:extLst>
      <p:ext uri="{BB962C8B-B14F-4D97-AF65-F5344CB8AC3E}">
        <p14:creationId xmlns:p14="http://schemas.microsoft.com/office/powerpoint/2010/main" val="34459767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r>
              <a:rPr lang="en-IN"/>
              <a:t>Smart Intruder Detection System</a:t>
            </a:r>
          </a:p>
        </p:txBody>
      </p:sp>
      <p:sp>
        <p:nvSpPr>
          <p:cNvPr id="5" name="Date Placeholder 4"/>
          <p:cNvSpPr>
            <a:spLocks noGrp="1"/>
          </p:cNvSpPr>
          <p:nvPr>
            <p:ph type="dt" idx="1"/>
          </p:nvPr>
        </p:nvSpPr>
        <p:spPr/>
        <p:txBody>
          <a:bodyPr/>
          <a:lstStyle/>
          <a:p>
            <a:fld id="{66CD6C87-EA24-4FFB-BBDE-75329E00FE1B}" type="datetime1">
              <a:rPr lang="en-IN" smtClean="0"/>
              <a:t>13-08-2026</a:t>
            </a:fld>
            <a:endParaRPr lang="en-IN"/>
          </a:p>
        </p:txBody>
      </p:sp>
      <p:sp>
        <p:nvSpPr>
          <p:cNvPr id="6" name="Slide Number Placeholder 5"/>
          <p:cNvSpPr>
            <a:spLocks noGrp="1"/>
          </p:cNvSpPr>
          <p:nvPr>
            <p:ph type="sldNum" sz="quarter" idx="5"/>
          </p:nvPr>
        </p:nvSpPr>
        <p:spPr/>
        <p:txBody>
          <a:bodyPr/>
          <a:lstStyle/>
          <a:p>
            <a:fld id="{502DE272-1E40-48E6-A8EC-1B6D69A774C6}" type="slidenum">
              <a:rPr lang="en-IN" smtClean="0"/>
              <a:t>22</a:t>
            </a:fld>
            <a:endParaRPr lang="en-IN"/>
          </a:p>
        </p:txBody>
      </p:sp>
    </p:spTree>
    <p:extLst>
      <p:ext uri="{BB962C8B-B14F-4D97-AF65-F5344CB8AC3E}">
        <p14:creationId xmlns:p14="http://schemas.microsoft.com/office/powerpoint/2010/main" val="34463266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IN"/>
              <a:t>B - 07</a:t>
            </a:r>
            <a:endParaRPr spc="-25" dirty="0"/>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US" cap="small" spc="-75"/>
              <a:t>Dept. of Computer Science and Engineering (Data Science)                   Srinivasa Ramanujan Institute of Technology </a:t>
            </a:r>
            <a:endParaRPr cap="small" spc="-95" dirty="0"/>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IN"/>
              <a:t>B - 07</a:t>
            </a:r>
            <a:endParaRPr spc="-25" dirty="0"/>
          </a:p>
        </p:txBody>
      </p:sp>
      <p:sp>
        <p:nvSpPr>
          <p:cNvPr id="5" name="Holder 5"/>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US" cap="small" spc="-75"/>
              <a:t>Dept. of Computer Science and Engineering (Data Science)                   Srinivasa Ramanujan Institute of Technology </a:t>
            </a:r>
            <a:endParaRPr cap="small" spc="-95" dirty="0"/>
          </a:p>
        </p:txBody>
      </p:sp>
      <p:sp>
        <p:nvSpPr>
          <p:cNvPr id="6" name="Holder 6"/>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IN"/>
              <a:t>B - 07</a:t>
            </a:r>
            <a:endParaRPr spc="-25" dirty="0"/>
          </a:p>
        </p:txBody>
      </p:sp>
      <p:sp>
        <p:nvSpPr>
          <p:cNvPr id="6" name="Holder 6"/>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US" cap="small" spc="-75"/>
              <a:t>Dept. of Computer Science and Engineering (Data Science)                   Srinivasa Ramanujan Institute of Technology </a:t>
            </a:r>
            <a:endParaRPr cap="small" spc="-95" dirty="0"/>
          </a:p>
        </p:txBody>
      </p:sp>
      <p:sp>
        <p:nvSpPr>
          <p:cNvPr id="7" name="Holder 7"/>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IN"/>
              <a:t>B - 07</a:t>
            </a:r>
            <a:endParaRPr spc="-25" dirty="0"/>
          </a:p>
        </p:txBody>
      </p:sp>
      <p:sp>
        <p:nvSpPr>
          <p:cNvPr id="4" name="Holder 4"/>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US" cap="small" spc="-75"/>
              <a:t>Dept. of Computer Science and Engineering (Data Science)                   Srinivasa Ramanujan Institute of Technology </a:t>
            </a:r>
            <a:endParaRPr cap="small" spc="-95" dirty="0"/>
          </a:p>
        </p:txBody>
      </p:sp>
      <p:sp>
        <p:nvSpPr>
          <p:cNvPr id="5" name="Holder 5"/>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IN"/>
              <a:t>B - 07</a:t>
            </a:r>
            <a:endParaRPr spc="-25" dirty="0"/>
          </a:p>
        </p:txBody>
      </p:sp>
      <p:sp>
        <p:nvSpPr>
          <p:cNvPr id="3" name="Holder 3"/>
          <p:cNvSpPr>
            <a:spLocks noGrp="1"/>
          </p:cNvSpPr>
          <p:nvPr>
            <p:ph type="dt" sz="half" idx="6"/>
          </p:nvPr>
        </p:nvSpPr>
        <p:spPr/>
        <p:txBody>
          <a:bodyPr lIns="0" tIns="0" rIns="0" bIns="0"/>
          <a:lstStyle>
            <a:lvl1pPr>
              <a:defRPr sz="1600" b="0" i="0">
                <a:solidFill>
                  <a:schemeClr val="bg1"/>
                </a:solidFill>
                <a:latin typeface="Times New Roman"/>
                <a:cs typeface="Times New Roman"/>
              </a:defRPr>
            </a:lvl1pPr>
          </a:lstStyle>
          <a:p>
            <a:pPr marL="12700">
              <a:lnSpc>
                <a:spcPts val="1845"/>
              </a:lnSpc>
            </a:pPr>
            <a:r>
              <a:rPr lang="en-US" cap="small" spc="-75"/>
              <a:t>Dept. of Computer Science and Engineering (Data Science)                   Srinivasa Ramanujan Institute of Technology </a:t>
            </a:r>
            <a:endParaRPr cap="small" spc="-95" dirty="0"/>
          </a:p>
        </p:txBody>
      </p:sp>
      <p:sp>
        <p:nvSpPr>
          <p:cNvPr id="4" name="Holder 4"/>
          <p:cNvSpPr>
            <a:spLocks noGrp="1"/>
          </p:cNvSpPr>
          <p:nvPr>
            <p:ph type="sldNum" sz="quarter" idx="7"/>
          </p:nvPr>
        </p:nvSpPr>
        <p:spPr/>
        <p:txBody>
          <a:bodyPr lIns="0" tIns="0" rIns="0" bIns="0"/>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77238" y="6642827"/>
            <a:ext cx="5654040" cy="215265"/>
          </a:xfrm>
          <a:custGeom>
            <a:avLst/>
            <a:gdLst/>
            <a:ahLst/>
            <a:cxnLst/>
            <a:rect l="l" t="t" r="r" b="b"/>
            <a:pathLst>
              <a:path w="5654040" h="215265">
                <a:moveTo>
                  <a:pt x="5654038" y="215171"/>
                </a:moveTo>
                <a:lnTo>
                  <a:pt x="0" y="215171"/>
                </a:lnTo>
                <a:lnTo>
                  <a:pt x="0" y="0"/>
                </a:lnTo>
                <a:lnTo>
                  <a:pt x="5654038" y="0"/>
                </a:lnTo>
                <a:lnTo>
                  <a:pt x="5654038" y="215171"/>
                </a:lnTo>
                <a:close/>
              </a:path>
            </a:pathLst>
          </a:custGeom>
          <a:solidFill>
            <a:srgbClr val="002060"/>
          </a:solidFill>
        </p:spPr>
        <p:txBody>
          <a:bodyPr wrap="square" lIns="0" tIns="0" rIns="0" bIns="0" rtlCol="0"/>
          <a:lstStyle/>
          <a:p>
            <a:endParaRPr/>
          </a:p>
        </p:txBody>
      </p:sp>
      <p:sp>
        <p:nvSpPr>
          <p:cNvPr id="17" name="bg object 17"/>
          <p:cNvSpPr/>
          <p:nvPr/>
        </p:nvSpPr>
        <p:spPr>
          <a:xfrm>
            <a:off x="6431277" y="6641865"/>
            <a:ext cx="5323205" cy="216535"/>
          </a:xfrm>
          <a:custGeom>
            <a:avLst/>
            <a:gdLst/>
            <a:ahLst/>
            <a:cxnLst/>
            <a:rect l="l" t="t" r="r" b="b"/>
            <a:pathLst>
              <a:path w="5323205" h="216534">
                <a:moveTo>
                  <a:pt x="5322916" y="216133"/>
                </a:moveTo>
                <a:lnTo>
                  <a:pt x="0" y="216133"/>
                </a:lnTo>
                <a:lnTo>
                  <a:pt x="0" y="0"/>
                </a:lnTo>
                <a:lnTo>
                  <a:pt x="5322916" y="0"/>
                </a:lnTo>
                <a:lnTo>
                  <a:pt x="5322916" y="216133"/>
                </a:lnTo>
                <a:close/>
              </a:path>
            </a:pathLst>
          </a:custGeom>
          <a:solidFill>
            <a:srgbClr val="008080"/>
          </a:solidFill>
        </p:spPr>
        <p:txBody>
          <a:bodyPr wrap="square" lIns="0" tIns="0" rIns="0" bIns="0" rtlCol="0"/>
          <a:lstStyle/>
          <a:p>
            <a:endParaRPr/>
          </a:p>
        </p:txBody>
      </p:sp>
      <p:sp>
        <p:nvSpPr>
          <p:cNvPr id="18" name="bg object 18"/>
          <p:cNvSpPr/>
          <p:nvPr/>
        </p:nvSpPr>
        <p:spPr>
          <a:xfrm>
            <a:off x="11754195" y="6641864"/>
            <a:ext cx="438150" cy="216535"/>
          </a:xfrm>
          <a:custGeom>
            <a:avLst/>
            <a:gdLst/>
            <a:ahLst/>
            <a:cxnLst/>
            <a:rect l="l" t="t" r="r" b="b"/>
            <a:pathLst>
              <a:path w="438150" h="216534">
                <a:moveTo>
                  <a:pt x="437803" y="216132"/>
                </a:moveTo>
                <a:lnTo>
                  <a:pt x="0" y="216132"/>
                </a:lnTo>
                <a:lnTo>
                  <a:pt x="0" y="0"/>
                </a:lnTo>
                <a:lnTo>
                  <a:pt x="437803" y="0"/>
                </a:lnTo>
                <a:lnTo>
                  <a:pt x="437803" y="216132"/>
                </a:lnTo>
                <a:close/>
              </a:path>
            </a:pathLst>
          </a:custGeom>
          <a:solidFill>
            <a:srgbClr val="FFC000"/>
          </a:solidFill>
        </p:spPr>
        <p:txBody>
          <a:bodyPr wrap="square" lIns="0" tIns="0" rIns="0" bIns="0" rtlCol="0"/>
          <a:lstStyle/>
          <a:p>
            <a:endParaRPr/>
          </a:p>
        </p:txBody>
      </p:sp>
      <p:pic>
        <p:nvPicPr>
          <p:cNvPr id="19" name="bg object 19"/>
          <p:cNvPicPr/>
          <p:nvPr/>
        </p:nvPicPr>
        <p:blipFill>
          <a:blip r:embed="rId7" cstate="print"/>
          <a:stretch>
            <a:fillRect/>
          </a:stretch>
        </p:blipFill>
        <p:spPr>
          <a:xfrm>
            <a:off x="11506200" y="5956065"/>
            <a:ext cx="685799" cy="681643"/>
          </a:xfrm>
          <a:prstGeom prst="rect">
            <a:avLst/>
          </a:prstGeom>
        </p:spPr>
      </p:pic>
      <p:sp>
        <p:nvSpPr>
          <p:cNvPr id="20" name="bg object 20"/>
          <p:cNvSpPr/>
          <p:nvPr/>
        </p:nvSpPr>
        <p:spPr>
          <a:xfrm>
            <a:off x="0" y="6642827"/>
            <a:ext cx="777240" cy="215265"/>
          </a:xfrm>
          <a:custGeom>
            <a:avLst/>
            <a:gdLst/>
            <a:ahLst/>
            <a:cxnLst/>
            <a:rect l="l" t="t" r="r" b="b"/>
            <a:pathLst>
              <a:path w="777240" h="215265">
                <a:moveTo>
                  <a:pt x="777238" y="215171"/>
                </a:moveTo>
                <a:lnTo>
                  <a:pt x="0" y="215171"/>
                </a:lnTo>
                <a:lnTo>
                  <a:pt x="0" y="0"/>
                </a:lnTo>
                <a:lnTo>
                  <a:pt x="777238" y="0"/>
                </a:lnTo>
                <a:lnTo>
                  <a:pt x="777238" y="215171"/>
                </a:lnTo>
                <a:close/>
              </a:path>
            </a:pathLst>
          </a:custGeom>
          <a:solidFill>
            <a:srgbClr val="C55A11"/>
          </a:solidFill>
        </p:spPr>
        <p:txBody>
          <a:bodyPr wrap="square" lIns="0" tIns="0" rIns="0" bIns="0" rtlCol="0"/>
          <a:lstStyle/>
          <a:p>
            <a:endParaRPr/>
          </a:p>
        </p:txBody>
      </p:sp>
      <p:sp>
        <p:nvSpPr>
          <p:cNvPr id="21" name="bg object 21"/>
          <p:cNvSpPr/>
          <p:nvPr/>
        </p:nvSpPr>
        <p:spPr>
          <a:xfrm>
            <a:off x="-1" y="0"/>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a:p>
        </p:txBody>
      </p:sp>
      <p:sp>
        <p:nvSpPr>
          <p:cNvPr id="2" name="Holder 2"/>
          <p:cNvSpPr>
            <a:spLocks noGrp="1"/>
          </p:cNvSpPr>
          <p:nvPr>
            <p:ph type="title"/>
          </p:nvPr>
        </p:nvSpPr>
        <p:spPr>
          <a:xfrm>
            <a:off x="73025" y="-50596"/>
            <a:ext cx="3888104" cy="695960"/>
          </a:xfrm>
          <a:prstGeom prst="rect">
            <a:avLst/>
          </a:prstGeom>
        </p:spPr>
        <p:txBody>
          <a:bodyPr wrap="square" lIns="0" tIns="0" rIns="0" bIns="0">
            <a:spAutoFit/>
          </a:bodyPr>
          <a:lstStyle>
            <a:lvl1pPr>
              <a:defRPr sz="4400" b="0" i="0">
                <a:solidFill>
                  <a:schemeClr val="bg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41783" y="6629792"/>
            <a:ext cx="544830" cy="230832"/>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lang="en-IN"/>
              <a:t>B - 07</a:t>
            </a:r>
            <a:endParaRPr spc="-25" dirty="0"/>
          </a:p>
        </p:txBody>
      </p:sp>
      <p:sp>
        <p:nvSpPr>
          <p:cNvPr id="5" name="Holder 5"/>
          <p:cNvSpPr>
            <a:spLocks noGrp="1"/>
          </p:cNvSpPr>
          <p:nvPr>
            <p:ph type="dt" sz="half" idx="6"/>
          </p:nvPr>
        </p:nvSpPr>
        <p:spPr>
          <a:xfrm>
            <a:off x="1123125" y="6629792"/>
            <a:ext cx="4962525" cy="250825"/>
          </a:xfrm>
          <a:prstGeom prst="rect">
            <a:avLst/>
          </a:prstGeom>
        </p:spPr>
        <p:txBody>
          <a:bodyPr wrap="square" lIns="0" tIns="0" rIns="0" bIns="0">
            <a:spAutoFit/>
          </a:bodyPr>
          <a:lstStyle>
            <a:lvl1pPr>
              <a:defRPr sz="1600" b="0" i="0">
                <a:solidFill>
                  <a:schemeClr val="bg1"/>
                </a:solidFill>
                <a:latin typeface="Times New Roman"/>
                <a:cs typeface="Times New Roman"/>
              </a:defRPr>
            </a:lvl1pPr>
          </a:lstStyle>
          <a:p>
            <a:pPr marL="12700">
              <a:lnSpc>
                <a:spcPts val="1845"/>
              </a:lnSpc>
            </a:pPr>
            <a:r>
              <a:rPr lang="en-US" cap="small" spc="-75"/>
              <a:t>Dept. of Computer Science and Engineering (Data Science)                   Srinivasa Ramanujan Institute of Technology </a:t>
            </a:r>
            <a:endParaRPr cap="small" spc="-95" dirty="0"/>
          </a:p>
        </p:txBody>
      </p:sp>
      <p:sp>
        <p:nvSpPr>
          <p:cNvPr id="6" name="Holder 6"/>
          <p:cNvSpPr>
            <a:spLocks noGrp="1"/>
          </p:cNvSpPr>
          <p:nvPr>
            <p:ph type="sldNum" sz="quarter" idx="7"/>
          </p:nvPr>
        </p:nvSpPr>
        <p:spPr>
          <a:xfrm>
            <a:off x="11858823" y="6629309"/>
            <a:ext cx="228600" cy="250825"/>
          </a:xfrm>
          <a:prstGeom prst="rect">
            <a:avLst/>
          </a:prstGeom>
        </p:spPr>
        <p:txBody>
          <a:bodyPr wrap="square" lIns="0" tIns="0" rIns="0" bIns="0">
            <a:spAutoFit/>
          </a:bodyPr>
          <a:lstStyle>
            <a:lvl1pPr>
              <a:defRPr sz="1600" b="1" i="0">
                <a:solidFill>
                  <a:srgbClr val="002060"/>
                </a:solidFill>
                <a:latin typeface="Times New Roman"/>
                <a:cs typeface="Times New Roman"/>
              </a:defRPr>
            </a:lvl1pPr>
          </a:lstStyle>
          <a:p>
            <a:pPr marL="12700">
              <a:lnSpc>
                <a:spcPts val="1845"/>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1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2.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777238" y="6634572"/>
            <a:ext cx="11414760" cy="223520"/>
            <a:chOff x="777238" y="6634572"/>
            <a:chExt cx="11414760" cy="223520"/>
          </a:xfrm>
        </p:grpSpPr>
        <p:sp>
          <p:nvSpPr>
            <p:cNvPr id="3" name="object 3"/>
            <p:cNvSpPr/>
            <p:nvPr/>
          </p:nvSpPr>
          <p:spPr>
            <a:xfrm>
              <a:off x="777238" y="6634572"/>
              <a:ext cx="5782310" cy="220979"/>
            </a:xfrm>
            <a:custGeom>
              <a:avLst/>
              <a:gdLst/>
              <a:ahLst/>
              <a:cxnLst/>
              <a:rect l="l" t="t" r="r" b="b"/>
              <a:pathLst>
                <a:path w="5782309" h="220979">
                  <a:moveTo>
                    <a:pt x="5781821" y="220979"/>
                  </a:moveTo>
                  <a:lnTo>
                    <a:pt x="0" y="220979"/>
                  </a:lnTo>
                  <a:lnTo>
                    <a:pt x="0" y="0"/>
                  </a:lnTo>
                  <a:lnTo>
                    <a:pt x="5781821" y="0"/>
                  </a:lnTo>
                  <a:lnTo>
                    <a:pt x="5781821" y="220979"/>
                  </a:lnTo>
                  <a:close/>
                </a:path>
              </a:pathLst>
            </a:custGeom>
            <a:solidFill>
              <a:srgbClr val="002060"/>
            </a:solidFill>
          </p:spPr>
          <p:txBody>
            <a:bodyPr wrap="square" lIns="0" tIns="0" rIns="0" bIns="0" rtlCol="0"/>
            <a:lstStyle/>
            <a:p>
              <a:endParaRPr/>
            </a:p>
          </p:txBody>
        </p:sp>
        <p:sp>
          <p:nvSpPr>
            <p:cNvPr id="4" name="object 4"/>
            <p:cNvSpPr/>
            <p:nvPr/>
          </p:nvSpPr>
          <p:spPr>
            <a:xfrm>
              <a:off x="6559061" y="6634572"/>
              <a:ext cx="5195570" cy="220979"/>
            </a:xfrm>
            <a:custGeom>
              <a:avLst/>
              <a:gdLst/>
              <a:ahLst/>
              <a:cxnLst/>
              <a:rect l="l" t="t" r="r" b="b"/>
              <a:pathLst>
                <a:path w="5195570" h="220979">
                  <a:moveTo>
                    <a:pt x="5195133" y="220979"/>
                  </a:moveTo>
                  <a:lnTo>
                    <a:pt x="0" y="220979"/>
                  </a:lnTo>
                  <a:lnTo>
                    <a:pt x="0" y="0"/>
                  </a:lnTo>
                  <a:lnTo>
                    <a:pt x="5195133" y="0"/>
                  </a:lnTo>
                  <a:lnTo>
                    <a:pt x="5195133" y="220979"/>
                  </a:lnTo>
                  <a:close/>
                </a:path>
              </a:pathLst>
            </a:custGeom>
            <a:solidFill>
              <a:srgbClr val="008080"/>
            </a:solidFill>
          </p:spPr>
          <p:txBody>
            <a:bodyPr wrap="square" lIns="0" tIns="0" rIns="0" bIns="0" rtlCol="0"/>
            <a:lstStyle/>
            <a:p>
              <a:endParaRPr/>
            </a:p>
          </p:txBody>
        </p:sp>
        <p:sp>
          <p:nvSpPr>
            <p:cNvPr id="5" name="object 5"/>
            <p:cNvSpPr/>
            <p:nvPr/>
          </p:nvSpPr>
          <p:spPr>
            <a:xfrm>
              <a:off x="11754196" y="6637020"/>
              <a:ext cx="438150" cy="220979"/>
            </a:xfrm>
            <a:custGeom>
              <a:avLst/>
              <a:gdLst/>
              <a:ahLst/>
              <a:cxnLst/>
              <a:rect l="l" t="t" r="r" b="b"/>
              <a:pathLst>
                <a:path w="438150" h="220979">
                  <a:moveTo>
                    <a:pt x="437803" y="220979"/>
                  </a:moveTo>
                  <a:lnTo>
                    <a:pt x="0" y="220979"/>
                  </a:lnTo>
                  <a:lnTo>
                    <a:pt x="0" y="0"/>
                  </a:lnTo>
                  <a:lnTo>
                    <a:pt x="437803" y="0"/>
                  </a:lnTo>
                  <a:lnTo>
                    <a:pt x="437803" y="220979"/>
                  </a:lnTo>
                  <a:close/>
                </a:path>
              </a:pathLst>
            </a:custGeom>
            <a:solidFill>
              <a:srgbClr val="FFC000"/>
            </a:solidFill>
          </p:spPr>
          <p:txBody>
            <a:bodyPr wrap="square" lIns="0" tIns="0" rIns="0" bIns="0" rtlCol="0"/>
            <a:lstStyle/>
            <a:p>
              <a:endParaRPr/>
            </a:p>
          </p:txBody>
        </p:sp>
      </p:grpSp>
      <p:sp>
        <p:nvSpPr>
          <p:cNvPr id="6" name="object 6"/>
          <p:cNvSpPr/>
          <p:nvPr/>
        </p:nvSpPr>
        <p:spPr>
          <a:xfrm>
            <a:off x="-1" y="-1"/>
            <a:ext cx="12192000" cy="233045"/>
          </a:xfrm>
          <a:custGeom>
            <a:avLst/>
            <a:gdLst/>
            <a:ahLst/>
            <a:cxnLst/>
            <a:rect l="l" t="t" r="r" b="b"/>
            <a:pathLst>
              <a:path w="12192000" h="233045">
                <a:moveTo>
                  <a:pt x="12191998" y="232758"/>
                </a:moveTo>
                <a:lnTo>
                  <a:pt x="0" y="232758"/>
                </a:lnTo>
                <a:lnTo>
                  <a:pt x="0" y="0"/>
                </a:lnTo>
                <a:lnTo>
                  <a:pt x="12191998" y="0"/>
                </a:lnTo>
                <a:lnTo>
                  <a:pt x="12191998" y="232758"/>
                </a:lnTo>
                <a:close/>
              </a:path>
            </a:pathLst>
          </a:custGeom>
          <a:solidFill>
            <a:srgbClr val="006666"/>
          </a:solidFill>
        </p:spPr>
        <p:txBody>
          <a:bodyPr wrap="square" lIns="0" tIns="0" rIns="0" bIns="0" rtlCol="0"/>
          <a:lstStyle/>
          <a:p>
            <a:endParaRPr dirty="0"/>
          </a:p>
        </p:txBody>
      </p:sp>
      <p:sp>
        <p:nvSpPr>
          <p:cNvPr id="7" name="object 7"/>
          <p:cNvSpPr/>
          <p:nvPr/>
        </p:nvSpPr>
        <p:spPr>
          <a:xfrm>
            <a:off x="0" y="6634572"/>
            <a:ext cx="777240" cy="221615"/>
          </a:xfrm>
          <a:custGeom>
            <a:avLst/>
            <a:gdLst/>
            <a:ahLst/>
            <a:cxnLst/>
            <a:rect l="l" t="t" r="r" b="b"/>
            <a:pathLst>
              <a:path w="777240" h="221615">
                <a:moveTo>
                  <a:pt x="777238" y="221522"/>
                </a:moveTo>
                <a:lnTo>
                  <a:pt x="0" y="221522"/>
                </a:lnTo>
                <a:lnTo>
                  <a:pt x="0" y="0"/>
                </a:lnTo>
                <a:lnTo>
                  <a:pt x="777238" y="0"/>
                </a:lnTo>
                <a:lnTo>
                  <a:pt x="777238" y="221522"/>
                </a:lnTo>
                <a:close/>
              </a:path>
            </a:pathLst>
          </a:custGeom>
          <a:solidFill>
            <a:srgbClr val="C55A11"/>
          </a:solidFill>
        </p:spPr>
        <p:txBody>
          <a:bodyPr wrap="square" lIns="0" tIns="0" rIns="0" bIns="0" rtlCol="0"/>
          <a:lstStyle/>
          <a:p>
            <a:endParaRPr/>
          </a:p>
        </p:txBody>
      </p:sp>
      <p:sp>
        <p:nvSpPr>
          <p:cNvPr id="8" name="object 8"/>
          <p:cNvSpPr txBox="1"/>
          <p:nvPr/>
        </p:nvSpPr>
        <p:spPr>
          <a:xfrm>
            <a:off x="4876800" y="1752600"/>
            <a:ext cx="3200399" cy="552074"/>
          </a:xfrm>
          <a:prstGeom prst="rect">
            <a:avLst/>
          </a:prstGeom>
        </p:spPr>
        <p:txBody>
          <a:bodyPr vert="horz" wrap="square" lIns="0" tIns="13335" rIns="0" bIns="0" rtlCol="0">
            <a:spAutoFit/>
          </a:bodyPr>
          <a:lstStyle/>
          <a:p>
            <a:pPr algn="ctr">
              <a:lnSpc>
                <a:spcPct val="100000"/>
              </a:lnSpc>
              <a:spcBef>
                <a:spcPts val="105"/>
              </a:spcBef>
            </a:pPr>
            <a:r>
              <a:rPr sz="2400" dirty="0">
                <a:latin typeface="Times New Roman"/>
                <a:cs typeface="Times New Roman"/>
              </a:rPr>
              <a:t>S</a:t>
            </a:r>
            <a:r>
              <a:rPr lang="en-IN" sz="2400" dirty="0" err="1">
                <a:latin typeface="Times New Roman"/>
                <a:cs typeface="Times New Roman"/>
              </a:rPr>
              <a:t>iraj</a:t>
            </a:r>
            <a:r>
              <a:rPr lang="en-IN" sz="2400" dirty="0">
                <a:latin typeface="Times New Roman"/>
                <a:cs typeface="Times New Roman"/>
              </a:rPr>
              <a:t> Ahammad C</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a:t>
            </a:r>
            <a:r>
              <a:rPr lang="en-US" sz="1100" dirty="0">
                <a:latin typeface="Times New Roman"/>
                <a:cs typeface="Times New Roman"/>
              </a:rPr>
              <a:t>:</a:t>
            </a:r>
            <a:r>
              <a:rPr sz="1100" spc="-10" dirty="0">
                <a:latin typeface="Times New Roman"/>
                <a:cs typeface="Times New Roman"/>
              </a:rPr>
              <a:t>2</a:t>
            </a:r>
            <a:r>
              <a:rPr lang="en-IN" sz="1100" spc="-10" dirty="0">
                <a:latin typeface="Times New Roman"/>
                <a:cs typeface="Times New Roman"/>
              </a:rPr>
              <a:t>2</a:t>
            </a:r>
            <a:r>
              <a:rPr sz="1100" spc="-10" dirty="0">
                <a:latin typeface="Times New Roman"/>
                <a:cs typeface="Times New Roman"/>
              </a:rPr>
              <a:t>4G1A32</a:t>
            </a:r>
            <a:r>
              <a:rPr lang="en-IN" sz="1100" spc="-10" dirty="0">
                <a:latin typeface="Times New Roman"/>
                <a:cs typeface="Times New Roman"/>
              </a:rPr>
              <a:t>90</a:t>
            </a:r>
            <a:endParaRPr sz="1100" dirty="0">
              <a:latin typeface="Times New Roman"/>
              <a:cs typeface="Times New Roman"/>
            </a:endParaRPr>
          </a:p>
        </p:txBody>
      </p:sp>
      <p:sp>
        <p:nvSpPr>
          <p:cNvPr id="9" name="object 9"/>
          <p:cNvSpPr txBox="1"/>
          <p:nvPr/>
        </p:nvSpPr>
        <p:spPr>
          <a:xfrm>
            <a:off x="4267200" y="2417828"/>
            <a:ext cx="4014391" cy="759823"/>
          </a:xfrm>
          <a:prstGeom prst="rect">
            <a:avLst/>
          </a:prstGeom>
        </p:spPr>
        <p:txBody>
          <a:bodyPr vert="horz" wrap="square" lIns="0" tIns="71755" rIns="0" bIns="0" rtlCol="0">
            <a:spAutoFit/>
          </a:bodyPr>
          <a:lstStyle/>
          <a:p>
            <a:pPr algn="ctr">
              <a:lnSpc>
                <a:spcPct val="100000"/>
              </a:lnSpc>
              <a:spcBef>
                <a:spcPts val="565"/>
              </a:spcBef>
            </a:pPr>
            <a:r>
              <a:rPr sz="1400" i="1" dirty="0">
                <a:latin typeface="Times New Roman"/>
                <a:cs typeface="Times New Roman"/>
              </a:rPr>
              <a:t>Under</a:t>
            </a:r>
            <a:r>
              <a:rPr sz="1400" i="1" spc="-35" dirty="0">
                <a:latin typeface="Times New Roman"/>
                <a:cs typeface="Times New Roman"/>
              </a:rPr>
              <a:t> </a:t>
            </a:r>
            <a:r>
              <a:rPr sz="1400" i="1" dirty="0">
                <a:latin typeface="Times New Roman"/>
                <a:cs typeface="Times New Roman"/>
              </a:rPr>
              <a:t>the</a:t>
            </a:r>
            <a:r>
              <a:rPr sz="1400" i="1" spc="-35" dirty="0">
                <a:latin typeface="Times New Roman"/>
                <a:cs typeface="Times New Roman"/>
              </a:rPr>
              <a:t> </a:t>
            </a:r>
            <a:r>
              <a:rPr sz="1400" i="1" spc="-10" dirty="0">
                <a:latin typeface="Times New Roman"/>
                <a:cs typeface="Times New Roman"/>
              </a:rPr>
              <a:t>guidance</a:t>
            </a:r>
            <a:r>
              <a:rPr sz="1400" i="1" spc="-35" dirty="0">
                <a:latin typeface="Times New Roman"/>
                <a:cs typeface="Times New Roman"/>
              </a:rPr>
              <a:t> </a:t>
            </a:r>
            <a:r>
              <a:rPr sz="1400" i="1" spc="-25" dirty="0">
                <a:latin typeface="Times New Roman"/>
                <a:cs typeface="Times New Roman"/>
              </a:rPr>
              <a:t>of</a:t>
            </a:r>
            <a:endParaRPr sz="1400" dirty="0">
              <a:latin typeface="Times New Roman"/>
              <a:cs typeface="Times New Roman"/>
            </a:endParaRPr>
          </a:p>
          <a:p>
            <a:pPr algn="ctr">
              <a:lnSpc>
                <a:spcPct val="100000"/>
              </a:lnSpc>
              <a:spcBef>
                <a:spcPts val="795"/>
              </a:spcBef>
            </a:pPr>
            <a:r>
              <a:rPr lang="en-US" sz="3600" baseline="20833" dirty="0">
                <a:latin typeface="Times New Roman"/>
                <a:cs typeface="Times New Roman"/>
              </a:rPr>
              <a:t>D</a:t>
            </a:r>
            <a:r>
              <a:rPr sz="3600" baseline="20833" dirty="0">
                <a:latin typeface="Times New Roman"/>
                <a:cs typeface="Times New Roman"/>
              </a:rPr>
              <a:t>r.</a:t>
            </a:r>
            <a:r>
              <a:rPr sz="3600" spc="-60" baseline="20833" dirty="0">
                <a:latin typeface="Times New Roman"/>
                <a:cs typeface="Times New Roman"/>
              </a:rPr>
              <a:t> </a:t>
            </a:r>
            <a:r>
              <a:rPr lang="en-US" sz="3600" spc="-60" baseline="20833" dirty="0">
                <a:latin typeface="Times New Roman"/>
                <a:cs typeface="Times New Roman"/>
              </a:rPr>
              <a:t>D. </a:t>
            </a:r>
            <a:r>
              <a:rPr lang="en-IN" sz="3600" spc="-60" baseline="20833" dirty="0">
                <a:latin typeface="Times New Roman"/>
                <a:cs typeface="Times New Roman"/>
              </a:rPr>
              <a:t>Rajesh Babu</a:t>
            </a:r>
            <a:r>
              <a:rPr sz="3600" spc="-60" baseline="20833" dirty="0">
                <a:latin typeface="Times New Roman"/>
                <a:cs typeface="Times New Roman"/>
              </a:rPr>
              <a:t> </a:t>
            </a:r>
            <a:r>
              <a:rPr sz="1600" dirty="0">
                <a:latin typeface="Times New Roman"/>
                <a:cs typeface="Times New Roman"/>
              </a:rPr>
              <a:t>M.</a:t>
            </a:r>
            <a:r>
              <a:rPr sz="1600" spc="-25" dirty="0">
                <a:latin typeface="Times New Roman"/>
                <a:cs typeface="Times New Roman"/>
              </a:rPr>
              <a:t> </a:t>
            </a:r>
            <a:r>
              <a:rPr sz="1600" spc="-10" dirty="0">
                <a:latin typeface="Times New Roman"/>
                <a:cs typeface="Times New Roman"/>
              </a:rPr>
              <a:t>Tech</a:t>
            </a:r>
            <a:r>
              <a:rPr lang="en-IN" sz="1600" spc="-10" dirty="0">
                <a:latin typeface="Times New Roman"/>
                <a:cs typeface="Times New Roman"/>
              </a:rPr>
              <a:t>, Ph.D.</a:t>
            </a:r>
            <a:endParaRPr sz="1600" dirty="0">
              <a:latin typeface="Times New Roman"/>
              <a:cs typeface="Times New Roman"/>
            </a:endParaRPr>
          </a:p>
        </p:txBody>
      </p:sp>
      <p:sp>
        <p:nvSpPr>
          <p:cNvPr id="10" name="object 10"/>
          <p:cNvSpPr txBox="1"/>
          <p:nvPr/>
        </p:nvSpPr>
        <p:spPr>
          <a:xfrm>
            <a:off x="5399646" y="3048807"/>
            <a:ext cx="1534554" cy="228268"/>
          </a:xfrm>
          <a:prstGeom prst="rect">
            <a:avLst/>
          </a:prstGeom>
        </p:spPr>
        <p:txBody>
          <a:bodyPr vert="horz" wrap="square" lIns="0" tIns="12700" rIns="0" bIns="0" rtlCol="0">
            <a:spAutoFit/>
          </a:bodyPr>
          <a:lstStyle/>
          <a:p>
            <a:pPr marL="12700">
              <a:lnSpc>
                <a:spcPct val="100000"/>
              </a:lnSpc>
              <a:spcBef>
                <a:spcPts val="100"/>
              </a:spcBef>
            </a:pPr>
            <a:r>
              <a:rPr sz="1400" spc="-10" dirty="0">
                <a:latin typeface="Times New Roman"/>
                <a:cs typeface="Times New Roman"/>
              </a:rPr>
              <a:t>Ass</a:t>
            </a:r>
            <a:r>
              <a:rPr lang="en-US" sz="1400" spc="-10" dirty="0">
                <a:latin typeface="Times New Roman"/>
                <a:cs typeface="Times New Roman"/>
              </a:rPr>
              <a:t>ociate</a:t>
            </a:r>
            <a:r>
              <a:rPr sz="1400" spc="-10" dirty="0">
                <a:latin typeface="Times New Roman"/>
                <a:cs typeface="Times New Roman"/>
              </a:rPr>
              <a:t> Professor</a:t>
            </a:r>
            <a:endParaRPr sz="1400" dirty="0">
              <a:latin typeface="Times New Roman"/>
              <a:cs typeface="Times New Roman"/>
            </a:endParaRPr>
          </a:p>
        </p:txBody>
      </p:sp>
      <p:sp>
        <p:nvSpPr>
          <p:cNvPr id="11" name="object 11"/>
          <p:cNvSpPr txBox="1"/>
          <p:nvPr/>
        </p:nvSpPr>
        <p:spPr>
          <a:xfrm>
            <a:off x="1854840" y="5057121"/>
            <a:ext cx="8265159" cy="1426845"/>
          </a:xfrm>
          <a:prstGeom prst="rect">
            <a:avLst/>
          </a:prstGeom>
        </p:spPr>
        <p:txBody>
          <a:bodyPr vert="horz" wrap="square" lIns="0" tIns="13970" rIns="0" bIns="0" rtlCol="0">
            <a:spAutoFit/>
          </a:bodyPr>
          <a:lstStyle/>
          <a:p>
            <a:pPr algn="ctr">
              <a:lnSpc>
                <a:spcPts val="2400"/>
              </a:lnSpc>
              <a:spcBef>
                <a:spcPts val="110"/>
              </a:spcBef>
            </a:pPr>
            <a:r>
              <a:rPr sz="2300" dirty="0">
                <a:latin typeface="Times New Roman"/>
                <a:cs typeface="Times New Roman"/>
              </a:rPr>
              <a:t>Department</a:t>
            </a:r>
            <a:r>
              <a:rPr sz="2300" spc="-15" dirty="0">
                <a:latin typeface="Times New Roman"/>
                <a:cs typeface="Times New Roman"/>
              </a:rPr>
              <a:t> </a:t>
            </a:r>
            <a:r>
              <a:rPr sz="2300" dirty="0">
                <a:latin typeface="Times New Roman"/>
                <a:cs typeface="Times New Roman"/>
              </a:rPr>
              <a:t>of</a:t>
            </a:r>
            <a:r>
              <a:rPr sz="2300" spc="-15" dirty="0">
                <a:latin typeface="Times New Roman"/>
                <a:cs typeface="Times New Roman"/>
              </a:rPr>
              <a:t> </a:t>
            </a:r>
            <a:r>
              <a:rPr sz="2300" dirty="0">
                <a:latin typeface="Times New Roman"/>
                <a:cs typeface="Times New Roman"/>
              </a:rPr>
              <a:t>Computer</a:t>
            </a:r>
            <a:r>
              <a:rPr sz="2300" spc="-15" dirty="0">
                <a:latin typeface="Times New Roman"/>
                <a:cs typeface="Times New Roman"/>
              </a:rPr>
              <a:t> </a:t>
            </a:r>
            <a:r>
              <a:rPr sz="2300" dirty="0">
                <a:latin typeface="Times New Roman"/>
                <a:cs typeface="Times New Roman"/>
              </a:rPr>
              <a:t>Science</a:t>
            </a:r>
            <a:r>
              <a:rPr sz="2300" spc="-10" dirty="0">
                <a:latin typeface="Times New Roman"/>
                <a:cs typeface="Times New Roman"/>
              </a:rPr>
              <a:t> </a:t>
            </a:r>
            <a:r>
              <a:rPr sz="2300" dirty="0">
                <a:latin typeface="Times New Roman"/>
                <a:cs typeface="Times New Roman"/>
              </a:rPr>
              <a:t>and</a:t>
            </a:r>
            <a:r>
              <a:rPr sz="2300" spc="-15" dirty="0">
                <a:latin typeface="Times New Roman"/>
                <a:cs typeface="Times New Roman"/>
              </a:rPr>
              <a:t> </a:t>
            </a:r>
            <a:r>
              <a:rPr sz="2300" dirty="0">
                <a:latin typeface="Times New Roman"/>
                <a:cs typeface="Times New Roman"/>
              </a:rPr>
              <a:t>Engineering</a:t>
            </a:r>
            <a:r>
              <a:rPr sz="2300" spc="-15" dirty="0">
                <a:latin typeface="Times New Roman"/>
                <a:cs typeface="Times New Roman"/>
              </a:rPr>
              <a:t> </a:t>
            </a:r>
            <a:r>
              <a:rPr sz="2300" dirty="0">
                <a:latin typeface="Times New Roman"/>
                <a:cs typeface="Times New Roman"/>
              </a:rPr>
              <a:t>(Data</a:t>
            </a:r>
            <a:r>
              <a:rPr sz="2300" spc="-10" dirty="0">
                <a:latin typeface="Times New Roman"/>
                <a:cs typeface="Times New Roman"/>
              </a:rPr>
              <a:t> Science)</a:t>
            </a:r>
            <a:endParaRPr sz="2300" dirty="0">
              <a:latin typeface="Times New Roman"/>
              <a:cs typeface="Times New Roman"/>
            </a:endParaRPr>
          </a:p>
          <a:p>
            <a:pPr algn="ctr">
              <a:lnSpc>
                <a:spcPts val="3810"/>
              </a:lnSpc>
            </a:pPr>
            <a:r>
              <a:rPr sz="3550" dirty="0">
                <a:solidFill>
                  <a:srgbClr val="FF0000"/>
                </a:solidFill>
                <a:latin typeface="Times New Roman"/>
                <a:cs typeface="Times New Roman"/>
              </a:rPr>
              <a:t>Srinivasa</a:t>
            </a:r>
            <a:r>
              <a:rPr sz="3550" spc="-20" dirty="0">
                <a:solidFill>
                  <a:srgbClr val="FF0000"/>
                </a:solidFill>
                <a:latin typeface="Times New Roman"/>
                <a:cs typeface="Times New Roman"/>
              </a:rPr>
              <a:t> </a:t>
            </a:r>
            <a:r>
              <a:rPr sz="3550" dirty="0">
                <a:solidFill>
                  <a:srgbClr val="FF0000"/>
                </a:solidFill>
                <a:latin typeface="Times New Roman"/>
                <a:cs typeface="Times New Roman"/>
              </a:rPr>
              <a:t>Ramanujan</a:t>
            </a:r>
            <a:r>
              <a:rPr sz="3550" spc="-15" dirty="0">
                <a:solidFill>
                  <a:srgbClr val="FF0000"/>
                </a:solidFill>
                <a:latin typeface="Times New Roman"/>
                <a:cs typeface="Times New Roman"/>
              </a:rPr>
              <a:t> </a:t>
            </a:r>
            <a:r>
              <a:rPr sz="3550" dirty="0">
                <a:solidFill>
                  <a:srgbClr val="FF0000"/>
                </a:solidFill>
                <a:latin typeface="Times New Roman"/>
                <a:cs typeface="Times New Roman"/>
              </a:rPr>
              <a:t>Institute</a:t>
            </a:r>
            <a:r>
              <a:rPr sz="3550" spc="-20" dirty="0">
                <a:solidFill>
                  <a:srgbClr val="FF0000"/>
                </a:solidFill>
                <a:latin typeface="Times New Roman"/>
                <a:cs typeface="Times New Roman"/>
              </a:rPr>
              <a:t> </a:t>
            </a:r>
            <a:r>
              <a:rPr sz="3550" dirty="0">
                <a:solidFill>
                  <a:srgbClr val="FF0000"/>
                </a:solidFill>
                <a:latin typeface="Times New Roman"/>
                <a:cs typeface="Times New Roman"/>
              </a:rPr>
              <a:t>of</a:t>
            </a:r>
            <a:r>
              <a:rPr sz="3550" spc="-15" dirty="0">
                <a:solidFill>
                  <a:srgbClr val="FF0000"/>
                </a:solidFill>
                <a:latin typeface="Times New Roman"/>
                <a:cs typeface="Times New Roman"/>
              </a:rPr>
              <a:t> </a:t>
            </a:r>
            <a:r>
              <a:rPr sz="3550" spc="-10" dirty="0">
                <a:solidFill>
                  <a:srgbClr val="FF0000"/>
                </a:solidFill>
                <a:latin typeface="Times New Roman"/>
                <a:cs typeface="Times New Roman"/>
              </a:rPr>
              <a:t>Technology</a:t>
            </a:r>
            <a:endParaRPr sz="3550" dirty="0">
              <a:latin typeface="Times New Roman"/>
              <a:cs typeface="Times New Roman"/>
            </a:endParaRPr>
          </a:p>
          <a:p>
            <a:pPr marL="7620" algn="ctr">
              <a:lnSpc>
                <a:spcPts val="1220"/>
              </a:lnSpc>
            </a:pPr>
            <a:r>
              <a:rPr sz="1150" b="1" spc="-10" dirty="0">
                <a:latin typeface="Times New Roman"/>
                <a:cs typeface="Times New Roman"/>
              </a:rPr>
              <a:t>(Affiliated </a:t>
            </a:r>
            <a:r>
              <a:rPr sz="1150" b="1" dirty="0">
                <a:latin typeface="Times New Roman"/>
                <a:cs typeface="Times New Roman"/>
              </a:rPr>
              <a:t>to</a:t>
            </a:r>
            <a:r>
              <a:rPr sz="1150" b="1" spc="-10" dirty="0">
                <a:latin typeface="Times New Roman"/>
                <a:cs typeface="Times New Roman"/>
              </a:rPr>
              <a:t> </a:t>
            </a:r>
            <a:r>
              <a:rPr sz="1150" b="1" dirty="0">
                <a:latin typeface="Times New Roman"/>
                <a:cs typeface="Times New Roman"/>
              </a:rPr>
              <a:t>JNTUA</a:t>
            </a:r>
            <a:r>
              <a:rPr sz="1150" b="1" spc="-10" dirty="0">
                <a:latin typeface="Times New Roman"/>
                <a:cs typeface="Times New Roman"/>
              </a:rPr>
              <a:t> </a:t>
            </a:r>
            <a:r>
              <a:rPr sz="1150" b="1" dirty="0">
                <a:latin typeface="Times New Roman"/>
                <a:cs typeface="Times New Roman"/>
              </a:rPr>
              <a:t>&amp;</a:t>
            </a:r>
            <a:r>
              <a:rPr sz="1150" b="1" spc="-5" dirty="0">
                <a:latin typeface="Times New Roman"/>
                <a:cs typeface="Times New Roman"/>
              </a:rPr>
              <a:t> </a:t>
            </a:r>
            <a:r>
              <a:rPr sz="1150" b="1" dirty="0">
                <a:latin typeface="Times New Roman"/>
                <a:cs typeface="Times New Roman"/>
              </a:rPr>
              <a:t>Approved</a:t>
            </a:r>
            <a:r>
              <a:rPr sz="1150" b="1" spc="-10" dirty="0">
                <a:latin typeface="Times New Roman"/>
                <a:cs typeface="Times New Roman"/>
              </a:rPr>
              <a:t> </a:t>
            </a:r>
            <a:r>
              <a:rPr sz="1150" b="1" dirty="0">
                <a:latin typeface="Times New Roman"/>
                <a:cs typeface="Times New Roman"/>
              </a:rPr>
              <a:t>by</a:t>
            </a:r>
            <a:r>
              <a:rPr sz="1150" b="1" spc="-10" dirty="0">
                <a:latin typeface="Times New Roman"/>
                <a:cs typeface="Times New Roman"/>
              </a:rPr>
              <a:t> </a:t>
            </a:r>
            <a:r>
              <a:rPr sz="1150" b="1" dirty="0">
                <a:latin typeface="Times New Roman"/>
                <a:cs typeface="Times New Roman"/>
              </a:rPr>
              <a:t>AICTE)</a:t>
            </a:r>
            <a:r>
              <a:rPr sz="1150" b="1" spc="-5" dirty="0">
                <a:latin typeface="Times New Roman"/>
                <a:cs typeface="Times New Roman"/>
              </a:rPr>
              <a:t> </a:t>
            </a:r>
            <a:r>
              <a:rPr sz="1150" b="1" dirty="0">
                <a:latin typeface="Times New Roman"/>
                <a:cs typeface="Times New Roman"/>
              </a:rPr>
              <a:t>(Accredited</a:t>
            </a:r>
            <a:r>
              <a:rPr sz="1150" b="1" spc="-10" dirty="0">
                <a:latin typeface="Times New Roman"/>
                <a:cs typeface="Times New Roman"/>
              </a:rPr>
              <a:t> </a:t>
            </a:r>
            <a:r>
              <a:rPr sz="1150" b="1" dirty="0">
                <a:latin typeface="Times New Roman"/>
                <a:cs typeface="Times New Roman"/>
              </a:rPr>
              <a:t>by</a:t>
            </a:r>
            <a:r>
              <a:rPr sz="1150" b="1" spc="-10" dirty="0">
                <a:latin typeface="Times New Roman"/>
                <a:cs typeface="Times New Roman"/>
              </a:rPr>
              <a:t> </a:t>
            </a:r>
            <a:r>
              <a:rPr sz="1150" b="1" dirty="0">
                <a:latin typeface="Times New Roman"/>
                <a:cs typeface="Times New Roman"/>
              </a:rPr>
              <a:t>NAAC</a:t>
            </a:r>
            <a:r>
              <a:rPr sz="1150" b="1" spc="-5" dirty="0">
                <a:latin typeface="Times New Roman"/>
                <a:cs typeface="Times New Roman"/>
              </a:rPr>
              <a:t> </a:t>
            </a:r>
            <a:r>
              <a:rPr sz="1150" b="1" dirty="0">
                <a:latin typeface="Times New Roman"/>
                <a:cs typeface="Times New Roman"/>
              </a:rPr>
              <a:t>with</a:t>
            </a:r>
            <a:r>
              <a:rPr sz="1150" b="1" spc="-10" dirty="0">
                <a:latin typeface="Times New Roman"/>
                <a:cs typeface="Times New Roman"/>
              </a:rPr>
              <a:t> </a:t>
            </a:r>
            <a:r>
              <a:rPr sz="1150" b="1" dirty="0">
                <a:latin typeface="Times New Roman"/>
                <a:cs typeface="Times New Roman"/>
              </a:rPr>
              <a:t>‘A’</a:t>
            </a:r>
            <a:r>
              <a:rPr sz="1150" b="1" spc="-10" dirty="0">
                <a:latin typeface="Times New Roman"/>
                <a:cs typeface="Times New Roman"/>
              </a:rPr>
              <a:t> </a:t>
            </a:r>
            <a:r>
              <a:rPr sz="1150" b="1" dirty="0">
                <a:latin typeface="Times New Roman"/>
                <a:cs typeface="Times New Roman"/>
              </a:rPr>
              <a:t>Grade</a:t>
            </a:r>
            <a:r>
              <a:rPr sz="1150" b="1" spc="-5" dirty="0">
                <a:latin typeface="Times New Roman"/>
                <a:cs typeface="Times New Roman"/>
              </a:rPr>
              <a:t> </a:t>
            </a:r>
            <a:r>
              <a:rPr sz="1150" b="1" dirty="0">
                <a:latin typeface="Times New Roman"/>
                <a:cs typeface="Times New Roman"/>
              </a:rPr>
              <a:t>&amp;</a:t>
            </a:r>
            <a:r>
              <a:rPr sz="1150" b="1" spc="-10" dirty="0">
                <a:latin typeface="Times New Roman"/>
                <a:cs typeface="Times New Roman"/>
              </a:rPr>
              <a:t> </a:t>
            </a:r>
            <a:r>
              <a:rPr sz="1150" b="1" dirty="0">
                <a:latin typeface="Times New Roman"/>
                <a:cs typeface="Times New Roman"/>
              </a:rPr>
              <a:t>Accredited</a:t>
            </a:r>
            <a:r>
              <a:rPr sz="1150" b="1" spc="-10" dirty="0">
                <a:latin typeface="Times New Roman"/>
                <a:cs typeface="Times New Roman"/>
              </a:rPr>
              <a:t> </a:t>
            </a:r>
            <a:r>
              <a:rPr sz="1150" b="1" dirty="0">
                <a:latin typeface="Times New Roman"/>
                <a:cs typeface="Times New Roman"/>
              </a:rPr>
              <a:t>by</a:t>
            </a:r>
            <a:r>
              <a:rPr sz="1150" b="1" spc="-5" dirty="0">
                <a:latin typeface="Times New Roman"/>
                <a:cs typeface="Times New Roman"/>
              </a:rPr>
              <a:t> </a:t>
            </a:r>
            <a:r>
              <a:rPr sz="1150" b="1" dirty="0">
                <a:latin typeface="Times New Roman"/>
                <a:cs typeface="Times New Roman"/>
              </a:rPr>
              <a:t>NBA</a:t>
            </a:r>
            <a:r>
              <a:rPr sz="1150" b="1" spc="-10" dirty="0">
                <a:latin typeface="Times New Roman"/>
                <a:cs typeface="Times New Roman"/>
              </a:rPr>
              <a:t> </a:t>
            </a:r>
            <a:r>
              <a:rPr sz="1150" b="1" dirty="0">
                <a:latin typeface="Times New Roman"/>
                <a:cs typeface="Times New Roman"/>
              </a:rPr>
              <a:t>(EEE,</a:t>
            </a:r>
            <a:r>
              <a:rPr sz="1150" b="1" spc="-10" dirty="0">
                <a:latin typeface="Times New Roman"/>
                <a:cs typeface="Times New Roman"/>
              </a:rPr>
              <a:t> </a:t>
            </a:r>
            <a:r>
              <a:rPr sz="1150" b="1" dirty="0">
                <a:latin typeface="Times New Roman"/>
                <a:cs typeface="Times New Roman"/>
              </a:rPr>
              <a:t>ECE</a:t>
            </a:r>
            <a:r>
              <a:rPr sz="1150" b="1" spc="-10" dirty="0">
                <a:latin typeface="Times New Roman"/>
                <a:cs typeface="Times New Roman"/>
              </a:rPr>
              <a:t> </a:t>
            </a:r>
            <a:r>
              <a:rPr sz="1150" b="1" dirty="0">
                <a:latin typeface="Times New Roman"/>
                <a:cs typeface="Times New Roman"/>
              </a:rPr>
              <a:t>&amp;</a:t>
            </a:r>
            <a:r>
              <a:rPr sz="1150" b="1" spc="-5" dirty="0">
                <a:latin typeface="Times New Roman"/>
                <a:cs typeface="Times New Roman"/>
              </a:rPr>
              <a:t> </a:t>
            </a:r>
            <a:r>
              <a:rPr sz="1150" b="1" spc="-20" dirty="0">
                <a:latin typeface="Times New Roman"/>
                <a:cs typeface="Times New Roman"/>
              </a:rPr>
              <a:t>CSE)</a:t>
            </a:r>
            <a:endParaRPr sz="1150" dirty="0">
              <a:latin typeface="Times New Roman"/>
              <a:cs typeface="Times New Roman"/>
            </a:endParaRPr>
          </a:p>
          <a:p>
            <a:pPr marL="6350" algn="ctr">
              <a:lnSpc>
                <a:spcPts val="1430"/>
              </a:lnSpc>
            </a:pPr>
            <a:r>
              <a:rPr sz="1250" b="1" dirty="0">
                <a:latin typeface="Times New Roman"/>
                <a:cs typeface="Times New Roman"/>
              </a:rPr>
              <a:t>Rotarypuram</a:t>
            </a:r>
            <a:r>
              <a:rPr sz="1250" b="1" spc="30" dirty="0">
                <a:latin typeface="Times New Roman"/>
                <a:cs typeface="Times New Roman"/>
              </a:rPr>
              <a:t> </a:t>
            </a:r>
            <a:r>
              <a:rPr sz="1250" b="1" dirty="0">
                <a:latin typeface="Times New Roman"/>
                <a:cs typeface="Times New Roman"/>
              </a:rPr>
              <a:t>Village,</a:t>
            </a:r>
            <a:r>
              <a:rPr sz="1250" b="1" spc="30" dirty="0">
                <a:latin typeface="Times New Roman"/>
                <a:cs typeface="Times New Roman"/>
              </a:rPr>
              <a:t> </a:t>
            </a:r>
            <a:r>
              <a:rPr sz="1250" b="1" dirty="0">
                <a:latin typeface="Times New Roman"/>
                <a:cs typeface="Times New Roman"/>
              </a:rPr>
              <a:t>B</a:t>
            </a:r>
            <a:r>
              <a:rPr sz="1250" b="1" spc="35" dirty="0">
                <a:latin typeface="Times New Roman"/>
                <a:cs typeface="Times New Roman"/>
              </a:rPr>
              <a:t> </a:t>
            </a:r>
            <a:r>
              <a:rPr sz="1250" b="1" dirty="0">
                <a:latin typeface="Times New Roman"/>
                <a:cs typeface="Times New Roman"/>
              </a:rPr>
              <a:t>K</a:t>
            </a:r>
            <a:r>
              <a:rPr sz="1250" b="1" spc="30" dirty="0">
                <a:latin typeface="Times New Roman"/>
                <a:cs typeface="Times New Roman"/>
              </a:rPr>
              <a:t> </a:t>
            </a:r>
            <a:r>
              <a:rPr sz="1250" b="1" dirty="0">
                <a:latin typeface="Times New Roman"/>
                <a:cs typeface="Times New Roman"/>
              </a:rPr>
              <a:t>Samudram</a:t>
            </a:r>
            <a:r>
              <a:rPr sz="1250" b="1" spc="30" dirty="0">
                <a:latin typeface="Times New Roman"/>
                <a:cs typeface="Times New Roman"/>
              </a:rPr>
              <a:t> </a:t>
            </a:r>
            <a:r>
              <a:rPr sz="1250" b="1" dirty="0">
                <a:latin typeface="Times New Roman"/>
                <a:cs typeface="Times New Roman"/>
              </a:rPr>
              <a:t>Mandal,</a:t>
            </a:r>
            <a:r>
              <a:rPr sz="1250" b="1" spc="35" dirty="0">
                <a:latin typeface="Times New Roman"/>
                <a:cs typeface="Times New Roman"/>
              </a:rPr>
              <a:t> </a:t>
            </a:r>
            <a:r>
              <a:rPr sz="1250" b="1" dirty="0">
                <a:latin typeface="Times New Roman"/>
                <a:cs typeface="Times New Roman"/>
              </a:rPr>
              <a:t>Ananthapuramu</a:t>
            </a:r>
            <a:r>
              <a:rPr sz="1250" b="1" spc="30" dirty="0">
                <a:latin typeface="Times New Roman"/>
                <a:cs typeface="Times New Roman"/>
              </a:rPr>
              <a:t> </a:t>
            </a:r>
            <a:r>
              <a:rPr sz="1250" b="1" dirty="0">
                <a:latin typeface="Times New Roman"/>
                <a:cs typeface="Times New Roman"/>
              </a:rPr>
              <a:t>–</a:t>
            </a:r>
            <a:r>
              <a:rPr sz="1250" b="1" spc="30" dirty="0">
                <a:latin typeface="Times New Roman"/>
                <a:cs typeface="Times New Roman"/>
              </a:rPr>
              <a:t> </a:t>
            </a:r>
            <a:r>
              <a:rPr sz="1250" b="1" spc="-10" dirty="0">
                <a:latin typeface="Times New Roman"/>
                <a:cs typeface="Times New Roman"/>
              </a:rPr>
              <a:t>515701.</a:t>
            </a:r>
            <a:endParaRPr sz="1250" dirty="0">
              <a:latin typeface="Times New Roman"/>
              <a:cs typeface="Times New Roman"/>
            </a:endParaRPr>
          </a:p>
          <a:p>
            <a:pPr marL="5080" algn="ctr">
              <a:lnSpc>
                <a:spcPct val="100000"/>
              </a:lnSpc>
              <a:spcBef>
                <a:spcPts val="535"/>
              </a:spcBef>
            </a:pPr>
            <a:r>
              <a:rPr sz="1350" b="1" dirty="0">
                <a:solidFill>
                  <a:srgbClr val="1E4E78"/>
                </a:solidFill>
                <a:latin typeface="Times New Roman"/>
                <a:cs typeface="Times New Roman"/>
              </a:rPr>
              <a:t>202</a:t>
            </a:r>
            <a:r>
              <a:rPr lang="en-IN" sz="1350" b="1" dirty="0">
                <a:solidFill>
                  <a:srgbClr val="1E4E78"/>
                </a:solidFill>
                <a:latin typeface="Times New Roman"/>
                <a:cs typeface="Times New Roman"/>
              </a:rPr>
              <a:t>5</a:t>
            </a:r>
            <a:r>
              <a:rPr sz="1350" b="1" spc="20" dirty="0">
                <a:solidFill>
                  <a:srgbClr val="1E4E78"/>
                </a:solidFill>
                <a:latin typeface="Times New Roman"/>
                <a:cs typeface="Times New Roman"/>
              </a:rPr>
              <a:t> </a:t>
            </a:r>
            <a:r>
              <a:rPr sz="1350" b="1" dirty="0">
                <a:solidFill>
                  <a:srgbClr val="1E4E78"/>
                </a:solidFill>
                <a:latin typeface="Times New Roman"/>
                <a:cs typeface="Times New Roman"/>
              </a:rPr>
              <a:t>-</a:t>
            </a:r>
            <a:r>
              <a:rPr sz="1350" b="1" spc="20" dirty="0">
                <a:solidFill>
                  <a:srgbClr val="1E4E78"/>
                </a:solidFill>
                <a:latin typeface="Times New Roman"/>
                <a:cs typeface="Times New Roman"/>
              </a:rPr>
              <a:t> </a:t>
            </a:r>
            <a:r>
              <a:rPr sz="1350" b="1" spc="-20" dirty="0">
                <a:solidFill>
                  <a:srgbClr val="1E4E78"/>
                </a:solidFill>
                <a:latin typeface="Times New Roman"/>
                <a:cs typeface="Times New Roman"/>
              </a:rPr>
              <a:t>202</a:t>
            </a:r>
            <a:r>
              <a:rPr lang="en-IN" sz="1350" b="1" spc="-20" dirty="0">
                <a:solidFill>
                  <a:srgbClr val="1E4E78"/>
                </a:solidFill>
                <a:latin typeface="Times New Roman"/>
                <a:cs typeface="Times New Roman"/>
              </a:rPr>
              <a:t>6</a:t>
            </a:r>
            <a:endParaRPr sz="1350" dirty="0">
              <a:latin typeface="Times New Roman"/>
              <a:cs typeface="Times New Roman"/>
            </a:endParaRPr>
          </a:p>
        </p:txBody>
      </p:sp>
      <p:sp>
        <p:nvSpPr>
          <p:cNvPr id="12" name="object 12"/>
          <p:cNvSpPr txBox="1"/>
          <p:nvPr/>
        </p:nvSpPr>
        <p:spPr>
          <a:xfrm>
            <a:off x="3014266" y="1737539"/>
            <a:ext cx="2243533" cy="564515"/>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Vyshnavi G</a:t>
            </a:r>
          </a:p>
          <a:p>
            <a:pPr marL="1905" algn="ctr">
              <a:lnSpc>
                <a:spcPct val="100000"/>
              </a:lnSpc>
              <a:spcBef>
                <a:spcPts val="35"/>
              </a:spcBef>
            </a:pPr>
            <a:r>
              <a:rPr sz="1100" dirty="0">
                <a:latin typeface="Times New Roman"/>
                <a:cs typeface="Times New Roman"/>
              </a:rPr>
              <a:t>Roll No</a:t>
            </a:r>
            <a:r>
              <a:rPr lang="en-US" sz="1100" dirty="0">
                <a:latin typeface="Times New Roman"/>
                <a:cs typeface="Times New Roman"/>
              </a:rPr>
              <a:t>:</a:t>
            </a:r>
            <a:r>
              <a:rPr sz="1100" spc="-10" dirty="0">
                <a:latin typeface="Times New Roman"/>
                <a:cs typeface="Times New Roman"/>
              </a:rPr>
              <a:t>2</a:t>
            </a:r>
            <a:r>
              <a:rPr lang="en-IN" sz="1100" spc="-10" dirty="0">
                <a:latin typeface="Times New Roman"/>
                <a:cs typeface="Times New Roman"/>
              </a:rPr>
              <a:t>2</a:t>
            </a:r>
            <a:r>
              <a:rPr sz="1100" spc="-10" dirty="0">
                <a:latin typeface="Times New Roman"/>
                <a:cs typeface="Times New Roman"/>
              </a:rPr>
              <a:t>4G1A32</a:t>
            </a:r>
            <a:r>
              <a:rPr lang="en-IN" sz="1100" spc="-10" dirty="0">
                <a:latin typeface="Times New Roman"/>
                <a:cs typeface="Times New Roman"/>
              </a:rPr>
              <a:t>B9</a:t>
            </a:r>
            <a:endParaRPr sz="1100" dirty="0">
              <a:latin typeface="Times New Roman"/>
              <a:cs typeface="Times New Roman"/>
            </a:endParaRPr>
          </a:p>
        </p:txBody>
      </p:sp>
      <p:sp>
        <p:nvSpPr>
          <p:cNvPr id="13" name="object 13"/>
          <p:cNvSpPr txBox="1"/>
          <p:nvPr/>
        </p:nvSpPr>
        <p:spPr>
          <a:xfrm>
            <a:off x="7757163" y="1737539"/>
            <a:ext cx="3583177" cy="552074"/>
          </a:xfrm>
          <a:prstGeom prst="rect">
            <a:avLst/>
          </a:prstGeom>
        </p:spPr>
        <p:txBody>
          <a:bodyPr vert="horz" wrap="square" lIns="0" tIns="13335" rIns="0" bIns="0" rtlCol="0">
            <a:spAutoFit/>
          </a:bodyPr>
          <a:lstStyle/>
          <a:p>
            <a:pPr algn="ctr">
              <a:lnSpc>
                <a:spcPct val="100000"/>
              </a:lnSpc>
              <a:spcBef>
                <a:spcPts val="105"/>
              </a:spcBef>
            </a:pPr>
            <a:r>
              <a:rPr lang="en-IN" sz="2400" dirty="0">
                <a:latin typeface="Times New Roman"/>
                <a:cs typeface="Times New Roman"/>
              </a:rPr>
              <a:t>Sohith Kumar Reddy B</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a:t>
            </a:r>
            <a:r>
              <a:rPr lang="en-US" sz="1100" dirty="0">
                <a:latin typeface="Times New Roman"/>
                <a:cs typeface="Times New Roman"/>
              </a:rPr>
              <a:t>:</a:t>
            </a:r>
            <a:r>
              <a:rPr sz="1100" spc="-10" dirty="0">
                <a:latin typeface="Times New Roman"/>
                <a:cs typeface="Times New Roman"/>
              </a:rPr>
              <a:t>2</a:t>
            </a:r>
            <a:r>
              <a:rPr lang="en-IN" sz="1100" spc="-10" dirty="0">
                <a:latin typeface="Times New Roman"/>
                <a:cs typeface="Times New Roman"/>
              </a:rPr>
              <a:t>2</a:t>
            </a:r>
            <a:r>
              <a:rPr sz="1100" spc="-10" dirty="0">
                <a:latin typeface="Times New Roman"/>
                <a:cs typeface="Times New Roman"/>
              </a:rPr>
              <a:t>4G1A32</a:t>
            </a:r>
            <a:r>
              <a:rPr lang="en-IN" sz="1100" spc="-10" dirty="0">
                <a:latin typeface="Times New Roman"/>
                <a:cs typeface="Times New Roman"/>
              </a:rPr>
              <a:t>92</a:t>
            </a:r>
            <a:endParaRPr sz="1100" dirty="0">
              <a:latin typeface="Times New Roman"/>
              <a:cs typeface="Times New Roman"/>
            </a:endParaRPr>
          </a:p>
        </p:txBody>
      </p:sp>
      <p:sp>
        <p:nvSpPr>
          <p:cNvPr id="14" name="object 14"/>
          <p:cNvSpPr txBox="1"/>
          <p:nvPr/>
        </p:nvSpPr>
        <p:spPr>
          <a:xfrm>
            <a:off x="777238" y="1737539"/>
            <a:ext cx="2880362" cy="552074"/>
          </a:xfrm>
          <a:prstGeom prst="rect">
            <a:avLst/>
          </a:prstGeom>
        </p:spPr>
        <p:txBody>
          <a:bodyPr vert="horz" wrap="square" lIns="0" tIns="13335" rIns="0" bIns="0" rtlCol="0">
            <a:spAutoFit/>
          </a:bodyPr>
          <a:lstStyle/>
          <a:p>
            <a:pPr algn="ctr">
              <a:lnSpc>
                <a:spcPct val="100000"/>
              </a:lnSpc>
              <a:spcBef>
                <a:spcPts val="105"/>
              </a:spcBef>
            </a:pPr>
            <a:r>
              <a:rPr lang="en-US" sz="2400" dirty="0">
                <a:latin typeface="Times New Roman"/>
                <a:cs typeface="Times New Roman"/>
              </a:rPr>
              <a:t>Sravani P </a:t>
            </a:r>
            <a:endParaRPr sz="2400" dirty="0">
              <a:latin typeface="Times New Roman"/>
              <a:cs typeface="Times New Roman"/>
            </a:endParaRPr>
          </a:p>
          <a:p>
            <a:pPr marL="1905" algn="ctr">
              <a:lnSpc>
                <a:spcPct val="100000"/>
              </a:lnSpc>
              <a:spcBef>
                <a:spcPts val="35"/>
              </a:spcBef>
            </a:pPr>
            <a:r>
              <a:rPr sz="1100" dirty="0">
                <a:latin typeface="Times New Roman"/>
                <a:cs typeface="Times New Roman"/>
              </a:rPr>
              <a:t>Roll No</a:t>
            </a:r>
            <a:r>
              <a:rPr lang="en-US" sz="1100" dirty="0">
                <a:latin typeface="Times New Roman"/>
                <a:cs typeface="Times New Roman"/>
              </a:rPr>
              <a:t>:</a:t>
            </a:r>
            <a:r>
              <a:rPr sz="1100" spc="-10" dirty="0">
                <a:latin typeface="Times New Roman"/>
                <a:cs typeface="Times New Roman"/>
              </a:rPr>
              <a:t>2</a:t>
            </a:r>
            <a:r>
              <a:rPr lang="en-IN" sz="1100" spc="-10" dirty="0">
                <a:latin typeface="Times New Roman"/>
                <a:cs typeface="Times New Roman"/>
              </a:rPr>
              <a:t>3</a:t>
            </a:r>
            <a:r>
              <a:rPr sz="1100" spc="-10" dirty="0">
                <a:latin typeface="Times New Roman"/>
                <a:cs typeface="Times New Roman"/>
              </a:rPr>
              <a:t>4G</a:t>
            </a:r>
            <a:r>
              <a:rPr lang="en-US" sz="1100" spc="-10" dirty="0">
                <a:latin typeface="Times New Roman"/>
                <a:cs typeface="Times New Roman"/>
              </a:rPr>
              <a:t>5</a:t>
            </a:r>
            <a:r>
              <a:rPr sz="1100" spc="-10" dirty="0">
                <a:latin typeface="Times New Roman"/>
                <a:cs typeface="Times New Roman"/>
              </a:rPr>
              <a:t>A32</a:t>
            </a:r>
            <a:r>
              <a:rPr lang="en-IN" sz="1100" spc="-10" dirty="0">
                <a:latin typeface="Times New Roman"/>
                <a:cs typeface="Times New Roman"/>
              </a:rPr>
              <a:t>10</a:t>
            </a:r>
            <a:endParaRPr sz="1100" dirty="0">
              <a:latin typeface="Times New Roman"/>
              <a:cs typeface="Times New Roman"/>
            </a:endParaRPr>
          </a:p>
        </p:txBody>
      </p:sp>
      <p:grpSp>
        <p:nvGrpSpPr>
          <p:cNvPr id="15" name="object 15"/>
          <p:cNvGrpSpPr/>
          <p:nvPr/>
        </p:nvGrpSpPr>
        <p:grpSpPr>
          <a:xfrm>
            <a:off x="697859" y="297171"/>
            <a:ext cx="10642600" cy="972185"/>
            <a:chOff x="697859" y="297171"/>
            <a:chExt cx="10642600" cy="972185"/>
          </a:xfrm>
        </p:grpSpPr>
        <p:pic>
          <p:nvPicPr>
            <p:cNvPr id="16" name="object 16"/>
            <p:cNvPicPr/>
            <p:nvPr/>
          </p:nvPicPr>
          <p:blipFill>
            <a:blip r:embed="rId3" cstate="print"/>
            <a:stretch>
              <a:fillRect/>
            </a:stretch>
          </p:blipFill>
          <p:spPr>
            <a:xfrm>
              <a:off x="697859" y="297171"/>
              <a:ext cx="10642482" cy="972164"/>
            </a:xfrm>
            <a:prstGeom prst="rect">
              <a:avLst/>
            </a:prstGeom>
          </p:spPr>
        </p:pic>
        <p:sp>
          <p:nvSpPr>
            <p:cNvPr id="17" name="object 17"/>
            <p:cNvSpPr/>
            <p:nvPr/>
          </p:nvSpPr>
          <p:spPr>
            <a:xfrm>
              <a:off x="755008" y="335270"/>
              <a:ext cx="10528300" cy="857885"/>
            </a:xfrm>
            <a:custGeom>
              <a:avLst/>
              <a:gdLst/>
              <a:ahLst/>
              <a:cxnLst/>
              <a:rect l="l" t="t" r="r" b="b"/>
              <a:pathLst>
                <a:path w="10528300" h="857885">
                  <a:moveTo>
                    <a:pt x="10385202" y="857863"/>
                  </a:moveTo>
                  <a:lnTo>
                    <a:pt x="142980" y="857863"/>
                  </a:lnTo>
                  <a:lnTo>
                    <a:pt x="97787" y="850574"/>
                  </a:lnTo>
                  <a:lnTo>
                    <a:pt x="58537" y="830277"/>
                  </a:lnTo>
                  <a:lnTo>
                    <a:pt x="27586" y="799326"/>
                  </a:lnTo>
                  <a:lnTo>
                    <a:pt x="7289" y="760076"/>
                  </a:lnTo>
                  <a:lnTo>
                    <a:pt x="0" y="714883"/>
                  </a:lnTo>
                  <a:lnTo>
                    <a:pt x="0" y="142980"/>
                  </a:lnTo>
                  <a:lnTo>
                    <a:pt x="7289" y="97787"/>
                  </a:lnTo>
                  <a:lnTo>
                    <a:pt x="27586" y="58537"/>
                  </a:lnTo>
                  <a:lnTo>
                    <a:pt x="58537" y="27586"/>
                  </a:lnTo>
                  <a:lnTo>
                    <a:pt x="97787" y="7289"/>
                  </a:lnTo>
                  <a:lnTo>
                    <a:pt x="142980" y="0"/>
                  </a:lnTo>
                  <a:lnTo>
                    <a:pt x="10385202" y="0"/>
                  </a:lnTo>
                  <a:lnTo>
                    <a:pt x="10439918" y="10883"/>
                  </a:lnTo>
                  <a:lnTo>
                    <a:pt x="10486304" y="41877"/>
                  </a:lnTo>
                  <a:lnTo>
                    <a:pt x="10517299" y="88264"/>
                  </a:lnTo>
                  <a:lnTo>
                    <a:pt x="10528183" y="142980"/>
                  </a:lnTo>
                  <a:lnTo>
                    <a:pt x="10528183" y="714883"/>
                  </a:lnTo>
                  <a:lnTo>
                    <a:pt x="10520894" y="760076"/>
                  </a:lnTo>
                  <a:lnTo>
                    <a:pt x="10500596" y="799326"/>
                  </a:lnTo>
                  <a:lnTo>
                    <a:pt x="10469645" y="830277"/>
                  </a:lnTo>
                  <a:lnTo>
                    <a:pt x="10430395" y="850574"/>
                  </a:lnTo>
                  <a:lnTo>
                    <a:pt x="10385202" y="857863"/>
                  </a:lnTo>
                  <a:close/>
                </a:path>
              </a:pathLst>
            </a:custGeom>
            <a:solidFill>
              <a:srgbClr val="FF6600"/>
            </a:solidFill>
          </p:spPr>
          <p:txBody>
            <a:bodyPr wrap="square" lIns="0" tIns="0" rIns="0" bIns="0" rtlCol="0"/>
            <a:lstStyle/>
            <a:p>
              <a:endParaRPr/>
            </a:p>
          </p:txBody>
        </p:sp>
      </p:grpSp>
      <p:sp>
        <p:nvSpPr>
          <p:cNvPr id="18" name="object 18"/>
          <p:cNvSpPr txBox="1">
            <a:spLocks noGrp="1"/>
          </p:cNvSpPr>
          <p:nvPr>
            <p:ph type="title"/>
          </p:nvPr>
        </p:nvSpPr>
        <p:spPr>
          <a:xfrm>
            <a:off x="1514793" y="551153"/>
            <a:ext cx="9379593" cy="505267"/>
          </a:xfrm>
          <a:prstGeom prst="rect">
            <a:avLst/>
          </a:prstGeom>
        </p:spPr>
        <p:txBody>
          <a:bodyPr vert="horz" wrap="square" lIns="0" tIns="12700" rIns="0" bIns="0" rtlCol="0">
            <a:spAutoFit/>
          </a:bodyPr>
          <a:lstStyle/>
          <a:p>
            <a:pPr marL="12700">
              <a:lnSpc>
                <a:spcPct val="100000"/>
              </a:lnSpc>
              <a:spcBef>
                <a:spcPts val="100"/>
              </a:spcBef>
            </a:pPr>
            <a:r>
              <a:rPr lang="en-US" sz="3200" dirty="0"/>
              <a:t>     SMART INTRUDER DETECTION SYSTEM</a:t>
            </a:r>
            <a:endParaRPr sz="3200" dirty="0"/>
          </a:p>
        </p:txBody>
      </p:sp>
      <p:sp>
        <p:nvSpPr>
          <p:cNvPr id="19" name="object 19"/>
          <p:cNvSpPr txBox="1"/>
          <p:nvPr/>
        </p:nvSpPr>
        <p:spPr>
          <a:xfrm>
            <a:off x="5987420" y="1330960"/>
            <a:ext cx="217170" cy="269240"/>
          </a:xfrm>
          <a:prstGeom prst="rect">
            <a:avLst/>
          </a:prstGeom>
        </p:spPr>
        <p:txBody>
          <a:bodyPr vert="horz" wrap="square" lIns="0" tIns="12700" rIns="0" bIns="0" rtlCol="0">
            <a:spAutoFit/>
          </a:bodyPr>
          <a:lstStyle/>
          <a:p>
            <a:pPr marL="12700">
              <a:lnSpc>
                <a:spcPct val="100000"/>
              </a:lnSpc>
              <a:spcBef>
                <a:spcPts val="100"/>
              </a:spcBef>
            </a:pPr>
            <a:r>
              <a:rPr sz="1600" i="1" spc="-25" dirty="0">
                <a:latin typeface="Times New Roman"/>
                <a:cs typeface="Times New Roman"/>
              </a:rPr>
              <a:t>by</a:t>
            </a:r>
            <a:endParaRPr sz="1600">
              <a:latin typeface="Times New Roman"/>
              <a:cs typeface="Times New Roman"/>
            </a:endParaRPr>
          </a:p>
        </p:txBody>
      </p:sp>
      <p:pic>
        <p:nvPicPr>
          <p:cNvPr id="20" name="object 20"/>
          <p:cNvPicPr/>
          <p:nvPr/>
        </p:nvPicPr>
        <p:blipFill>
          <a:blip r:embed="rId4" cstate="print"/>
          <a:stretch>
            <a:fillRect/>
          </a:stretch>
        </p:blipFill>
        <p:spPr>
          <a:xfrm>
            <a:off x="5342105" y="3403587"/>
            <a:ext cx="1843672" cy="1675679"/>
          </a:xfrm>
          <a:prstGeom prst="rect">
            <a:avLst/>
          </a:prstGeom>
        </p:spPr>
      </p:pic>
      <p:sp>
        <p:nvSpPr>
          <p:cNvPr id="21" name="Date Placeholder 20">
            <a:extLst>
              <a:ext uri="{FF2B5EF4-FFF2-40B4-BE49-F238E27FC236}">
                <a16:creationId xmlns:a16="http://schemas.microsoft.com/office/drawing/2014/main" id="{F22EFF55-18C6-547E-9270-CF09E67ED8D9}"/>
              </a:ext>
            </a:extLst>
          </p:cNvPr>
          <p:cNvSpPr>
            <a:spLocks noGrp="1"/>
          </p:cNvSpPr>
          <p:nvPr>
            <p:ph type="dt" sz="half" idx="6"/>
          </p:nvPr>
        </p:nvSpPr>
        <p:spPr>
          <a:xfrm>
            <a:off x="1123125" y="6629792"/>
            <a:ext cx="10383075" cy="692497"/>
          </a:xfrm>
        </p:spPr>
        <p:txBody>
          <a:bodyPr/>
          <a:lstStyle/>
          <a:p>
            <a:pPr marL="12700">
              <a:lnSpc>
                <a:spcPts val="1845"/>
              </a:lnSpc>
            </a:pPr>
            <a:r>
              <a:rPr lang="en-US" cap="small" spc="-75" dirty="0"/>
              <a:t>Dept. of Computer Science and Engineering (Data  Science)                   Srinivasa Ramanujan Institute of Technology </a:t>
            </a:r>
            <a:endParaRPr lang="en-US" cap="small" spc="-95" dirty="0"/>
          </a:p>
        </p:txBody>
      </p:sp>
      <p:sp>
        <p:nvSpPr>
          <p:cNvPr id="22" name="Footer Placeholder 21">
            <a:extLst>
              <a:ext uri="{FF2B5EF4-FFF2-40B4-BE49-F238E27FC236}">
                <a16:creationId xmlns:a16="http://schemas.microsoft.com/office/drawing/2014/main" id="{6199295F-EA5A-2233-C4F9-27CF7222C820}"/>
              </a:ext>
            </a:extLst>
          </p:cNvPr>
          <p:cNvSpPr>
            <a:spLocks noGrp="1"/>
          </p:cNvSpPr>
          <p:nvPr>
            <p:ph type="ftr" sz="quarter" idx="5"/>
          </p:nvPr>
        </p:nvSpPr>
        <p:spPr/>
        <p:txBody>
          <a:bodyPr/>
          <a:lstStyle/>
          <a:p>
            <a:pPr marL="12700">
              <a:lnSpc>
                <a:spcPts val="1845"/>
              </a:lnSpc>
            </a:pPr>
            <a:r>
              <a:rPr lang="en-IN" dirty="0"/>
              <a:t>B - 07</a:t>
            </a:r>
            <a:endParaRPr lang="en-IN" spc="-25" dirty="0"/>
          </a:p>
        </p:txBody>
      </p:sp>
      <p:sp>
        <p:nvSpPr>
          <p:cNvPr id="23" name="Slide Number Placeholder 22">
            <a:extLst>
              <a:ext uri="{FF2B5EF4-FFF2-40B4-BE49-F238E27FC236}">
                <a16:creationId xmlns:a16="http://schemas.microsoft.com/office/drawing/2014/main" id="{3E62D8DC-02C9-82F0-511E-14986D4A5872}"/>
              </a:ext>
            </a:extLst>
          </p:cNvPr>
          <p:cNvSpPr>
            <a:spLocks noGrp="1"/>
          </p:cNvSpPr>
          <p:nvPr>
            <p:ph type="sldNum" sz="quarter" idx="7"/>
          </p:nvPr>
        </p:nvSpPr>
        <p:spPr/>
        <p:txBody>
          <a:bodyPr/>
          <a:lstStyle/>
          <a:p>
            <a:pPr marL="12700">
              <a:lnSpc>
                <a:spcPts val="1845"/>
              </a:lnSpc>
            </a:pPr>
            <a:fld id="{81D60167-4931-47E6-BA6A-407CBD079E47}" type="slidenum">
              <a:rPr lang="en-IN" spc="-25" smtClean="0"/>
              <a:t>1</a:t>
            </a:fld>
            <a:endParaRPr lang="en-IN"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15687" y="-18240"/>
            <a:ext cx="4199713"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3"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216249"/>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t>Abstract</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spc="-25"/>
              <a:t>B - 07</a:t>
            </a:r>
            <a:endParaRPr spc="-25" dirty="0"/>
          </a:p>
        </p:txBody>
      </p:sp>
      <p:sp>
        <p:nvSpPr>
          <p:cNvPr id="9" name="object 9"/>
          <p:cNvSpPr txBox="1">
            <a:spLocks noGrp="1"/>
          </p:cNvSpPr>
          <p:nvPr>
            <p:ph type="dt" sz="half" idx="6"/>
          </p:nvPr>
        </p:nvSpPr>
        <p:spPr>
          <a:xfrm>
            <a:off x="838200" y="6657769"/>
            <a:ext cx="5204485"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0" name="object 10"/>
          <p:cNvSpPr txBox="1"/>
          <p:nvPr/>
        </p:nvSpPr>
        <p:spPr>
          <a:xfrm>
            <a:off x="6516212" y="6639305"/>
            <a:ext cx="401284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a:t>
            </a:fld>
            <a:endParaRPr spc="-25" dirty="0"/>
          </a:p>
        </p:txBody>
      </p:sp>
      <p:sp>
        <p:nvSpPr>
          <p:cNvPr id="7" name="object 7"/>
          <p:cNvSpPr txBox="1"/>
          <p:nvPr/>
        </p:nvSpPr>
        <p:spPr>
          <a:xfrm>
            <a:off x="-2" y="1146698"/>
            <a:ext cx="13182600" cy="5060681"/>
          </a:xfrm>
          <a:prstGeom prst="rect">
            <a:avLst/>
          </a:prstGeom>
        </p:spPr>
        <p:txBody>
          <a:bodyPr vert="horz" wrap="square" lIns="0" tIns="12700" rIns="0" bIns="0" rtlCol="0">
            <a:spAutoFit/>
          </a:bodyPr>
          <a:lstStyle/>
          <a:p>
            <a:pPr marL="469900" marR="2094230" algn="just">
              <a:lnSpc>
                <a:spcPct val="124700"/>
              </a:lnSpc>
              <a:spcBef>
                <a:spcPts val="100"/>
              </a:spcBef>
            </a:pPr>
            <a:r>
              <a:rPr lang="en-US" sz="2400" dirty="0"/>
              <a:t>	</a:t>
            </a:r>
            <a:r>
              <a:rPr lang="en-US" sz="2400" dirty="0">
                <a:latin typeface="Times New Roman" panose="02020603050405020304" pitchFamily="18" charset="0"/>
                <a:cs typeface="Times New Roman" panose="02020603050405020304" pitchFamily="18" charset="0"/>
              </a:rPr>
              <a:t>The Smart Intruder Detection System enhances security in restricted areas to  detect and identify intruders, even in dark or low-light </a:t>
            </a:r>
            <a:r>
              <a:rPr lang="en-US" sz="2400" dirty="0" err="1">
                <a:latin typeface="Times New Roman" panose="02020603050405020304" pitchFamily="18" charset="0"/>
                <a:cs typeface="Times New Roman" panose="02020603050405020304" pitchFamily="18" charset="0"/>
              </a:rPr>
              <a:t>condibtions</a:t>
            </a:r>
            <a:r>
              <a:rPr lang="en-US" sz="2400"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rPr>
              <a:t>The system continuously monitors the surroundings using a PIR sensor to detect human motion, an ultrasonic sensor to identify vehicle movement, and a sound sensor to capture unusual acoustic activities. A USB camera is used for real-time face detection when motion or abnormal activity is detected. Upon identifying a potential intruder, the system triggers visual and audio alerts through LEDs and a buzzer, ensuring immediate indication of security threats. By combining sensor data processing with image-based monitoring, the proposed system enhances accuracy, reduces false alarms, and offers a cost-effective, scalable approach for modern security applications in restricted areas.</a:t>
            </a:r>
          </a:p>
          <a:p>
            <a:pPr marL="469900" marR="2094230" algn="just">
              <a:lnSpc>
                <a:spcPct val="124700"/>
              </a:lnSpc>
              <a:spcBef>
                <a:spcPts val="100"/>
              </a:spcBef>
            </a:pP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00600" y="-18240"/>
            <a:ext cx="3888104"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sz="1500" dirty="0">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33316" y="224292"/>
            <a:ext cx="6800884" cy="689932"/>
          </a:xfrm>
          <a:prstGeom prst="rect">
            <a:avLst/>
          </a:prstGeom>
        </p:spPr>
        <p:txBody>
          <a:bodyPr vert="horz" wrap="square" lIns="0" tIns="12700" rIns="0" bIns="0" rtlCol="0">
            <a:spAutoFit/>
          </a:bodyPr>
          <a:lstStyle/>
          <a:p>
            <a:pPr marL="12700">
              <a:lnSpc>
                <a:spcPct val="100000"/>
              </a:lnSpc>
              <a:spcBef>
                <a:spcPts val="100"/>
              </a:spcBef>
            </a:pPr>
            <a:r>
              <a:rPr lang="en-IN" spc="-10" dirty="0"/>
              <a:t>Contents</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a:t>B - 07</a:t>
            </a:r>
            <a:endParaRPr lang="en-IN" spc="-25" dirty="0"/>
          </a:p>
        </p:txBody>
      </p:sp>
      <p:sp>
        <p:nvSpPr>
          <p:cNvPr id="9" name="object 9"/>
          <p:cNvSpPr txBox="1">
            <a:spLocks noGrp="1"/>
          </p:cNvSpPr>
          <p:nvPr>
            <p:ph type="dt" sz="half" idx="6"/>
          </p:nvPr>
        </p:nvSpPr>
        <p:spPr>
          <a:xfrm>
            <a:off x="762000" y="6641751"/>
            <a:ext cx="5181600"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lang="en-US" cap="small" spc="-95" dirty="0"/>
          </a:p>
        </p:txBody>
      </p:sp>
      <p:sp>
        <p:nvSpPr>
          <p:cNvPr id="10" name="object 10"/>
          <p:cNvSpPr txBox="1"/>
          <p:nvPr/>
        </p:nvSpPr>
        <p:spPr>
          <a:xfrm>
            <a:off x="6477000" y="6629309"/>
            <a:ext cx="4191000" cy="228691"/>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lang="en-US" spc="-25" smtClean="0"/>
              <a:t>3</a:t>
            </a:fld>
            <a:endParaRPr lang="en-US" spc="-25" dirty="0"/>
          </a:p>
        </p:txBody>
      </p:sp>
      <p:sp>
        <p:nvSpPr>
          <p:cNvPr id="7" name="object 7"/>
          <p:cNvSpPr txBox="1"/>
          <p:nvPr/>
        </p:nvSpPr>
        <p:spPr>
          <a:xfrm>
            <a:off x="325852" y="1108455"/>
            <a:ext cx="10037348" cy="5324535"/>
          </a:xfrm>
          <a:prstGeom prst="rect">
            <a:avLst/>
          </a:prstGeom>
        </p:spPr>
        <p:txBody>
          <a:bodyPr vert="horz" wrap="square" lIns="0" tIns="12700" rIns="0" bIns="0" rtlCol="0">
            <a:spAutoFit/>
          </a:bodyPr>
          <a:lstStyle/>
          <a:p>
            <a:pPr marL="469900" indent="-457200">
              <a:lnSpc>
                <a:spcPct val="100000"/>
              </a:lnSpc>
              <a:spcBef>
                <a:spcPts val="100"/>
              </a:spcBef>
              <a:buFont typeface="Arial" panose="020B0604020202020204" pitchFamily="34" charset="0"/>
              <a:buChar char="•"/>
              <a:tabLst>
                <a:tab pos="421005" algn="l"/>
              </a:tabLst>
            </a:pPr>
            <a:r>
              <a:rPr lang="en-US" sz="2800" dirty="0">
                <a:latin typeface="Times New Roman"/>
                <a:cs typeface="Times New Roman"/>
              </a:rPr>
              <a:t>Introduction</a:t>
            </a:r>
          </a:p>
          <a:p>
            <a:pPr marL="469900" indent="-457200">
              <a:spcBef>
                <a:spcPts val="100"/>
              </a:spcBef>
              <a:buFont typeface="Arial" panose="020B0604020202020204" pitchFamily="34" charset="0"/>
              <a:buChar char="•"/>
              <a:tabLst>
                <a:tab pos="421005" algn="l"/>
              </a:tabLst>
            </a:pPr>
            <a:r>
              <a:rPr lang="en-US" sz="2800" dirty="0" err="1">
                <a:latin typeface="Times New Roman"/>
                <a:cs typeface="Times New Roman"/>
              </a:rPr>
              <a:t>Literarture</a:t>
            </a:r>
            <a:r>
              <a:rPr lang="en-US" sz="2800" dirty="0">
                <a:latin typeface="Times New Roman"/>
                <a:cs typeface="Times New Roman"/>
              </a:rPr>
              <a:t> Survey</a:t>
            </a:r>
          </a:p>
          <a:p>
            <a:pPr marL="469900" indent="-457200">
              <a:spcBef>
                <a:spcPts val="100"/>
              </a:spcBef>
              <a:buFont typeface="Arial" panose="020B0604020202020204" pitchFamily="34" charset="0"/>
              <a:buChar char="•"/>
              <a:tabLst>
                <a:tab pos="421005" algn="l"/>
              </a:tabLst>
            </a:pPr>
            <a:r>
              <a:rPr lang="en-US" sz="2800" dirty="0">
                <a:latin typeface="Times New Roman"/>
                <a:cs typeface="Times New Roman"/>
              </a:rPr>
              <a:t>Existing System</a:t>
            </a:r>
          </a:p>
          <a:p>
            <a:pPr marL="469900" indent="-457200">
              <a:spcBef>
                <a:spcPts val="100"/>
              </a:spcBef>
              <a:buFont typeface="Arial" panose="020B0604020202020204" pitchFamily="34" charset="0"/>
              <a:buChar char="•"/>
              <a:tabLst>
                <a:tab pos="421005" algn="l"/>
              </a:tabLst>
            </a:pPr>
            <a:r>
              <a:rPr lang="en-US" sz="2800" dirty="0">
                <a:latin typeface="Times New Roman"/>
                <a:cs typeface="Times New Roman"/>
              </a:rPr>
              <a:t>Proposed System</a:t>
            </a:r>
          </a:p>
          <a:p>
            <a:pPr marL="469900" indent="-457200">
              <a:spcBef>
                <a:spcPts val="100"/>
              </a:spcBef>
              <a:buFont typeface="Arial" panose="020B0604020202020204" pitchFamily="34" charset="0"/>
              <a:buChar char="•"/>
              <a:tabLst>
                <a:tab pos="421005" algn="l"/>
              </a:tabLst>
            </a:pPr>
            <a:r>
              <a:rPr lang="en-US" sz="2800" dirty="0" err="1">
                <a:latin typeface="Times New Roman"/>
                <a:cs typeface="Times New Roman"/>
              </a:rPr>
              <a:t>Ojectives</a:t>
            </a:r>
            <a:endParaRPr lang="en-US" sz="2800" dirty="0">
              <a:latin typeface="Times New Roman"/>
              <a:cs typeface="Times New Roman"/>
            </a:endParaRPr>
          </a:p>
          <a:p>
            <a:pPr marL="469900" indent="-457200">
              <a:lnSpc>
                <a:spcPct val="100000"/>
              </a:lnSpc>
              <a:spcBef>
                <a:spcPts val="100"/>
              </a:spcBef>
              <a:buFont typeface="Arial" panose="020B0604020202020204" pitchFamily="34" charset="0"/>
              <a:buChar char="•"/>
              <a:tabLst>
                <a:tab pos="421005" algn="l"/>
              </a:tabLst>
            </a:pPr>
            <a:r>
              <a:rPr lang="en-US" sz="2800" dirty="0">
                <a:latin typeface="Times New Roman"/>
                <a:cs typeface="Times New Roman"/>
              </a:rPr>
              <a:t>Planning &amp; Design</a:t>
            </a:r>
          </a:p>
          <a:p>
            <a:pPr marL="469900" indent="-457200">
              <a:spcBef>
                <a:spcPts val="100"/>
              </a:spcBef>
              <a:buFont typeface="Arial" panose="020B0604020202020204" pitchFamily="34" charset="0"/>
              <a:buChar char="•"/>
              <a:tabLst>
                <a:tab pos="421005" algn="l"/>
              </a:tabLst>
            </a:pPr>
            <a:r>
              <a:rPr lang="en-US" sz="2800" dirty="0">
                <a:latin typeface="Times New Roman"/>
                <a:cs typeface="Times New Roman"/>
              </a:rPr>
              <a:t>Implementation</a:t>
            </a:r>
          </a:p>
          <a:p>
            <a:pPr marL="469900" indent="-457200">
              <a:lnSpc>
                <a:spcPct val="100000"/>
              </a:lnSpc>
              <a:spcBef>
                <a:spcPts val="100"/>
              </a:spcBef>
              <a:buFont typeface="Arial" panose="020B0604020202020204" pitchFamily="34" charset="0"/>
              <a:buChar char="•"/>
              <a:tabLst>
                <a:tab pos="421005" algn="l"/>
              </a:tabLst>
            </a:pPr>
            <a:r>
              <a:rPr lang="en-US" sz="2800" dirty="0">
                <a:latin typeface="Times New Roman"/>
                <a:cs typeface="Times New Roman"/>
              </a:rPr>
              <a:t>Results(screenshots)</a:t>
            </a:r>
          </a:p>
          <a:p>
            <a:pPr marL="469900" indent="-457200">
              <a:lnSpc>
                <a:spcPct val="100000"/>
              </a:lnSpc>
              <a:spcBef>
                <a:spcPts val="100"/>
              </a:spcBef>
              <a:buFont typeface="Arial" panose="020B0604020202020204" pitchFamily="34" charset="0"/>
              <a:buChar char="•"/>
              <a:tabLst>
                <a:tab pos="421005" algn="l"/>
              </a:tabLst>
            </a:pPr>
            <a:r>
              <a:rPr lang="en-US" sz="2800" dirty="0">
                <a:latin typeface="Times New Roman"/>
                <a:cs typeface="Times New Roman"/>
              </a:rPr>
              <a:t>Conclusion</a:t>
            </a:r>
          </a:p>
          <a:p>
            <a:pPr marL="469900" indent="-457200">
              <a:lnSpc>
                <a:spcPct val="100000"/>
              </a:lnSpc>
              <a:spcBef>
                <a:spcPts val="100"/>
              </a:spcBef>
              <a:buFont typeface="Arial" panose="020B0604020202020204" pitchFamily="34" charset="0"/>
              <a:buChar char="•"/>
              <a:tabLst>
                <a:tab pos="421005" algn="l"/>
              </a:tabLst>
            </a:pPr>
            <a:r>
              <a:rPr lang="en-US" sz="2800" dirty="0">
                <a:latin typeface="Times New Roman"/>
                <a:cs typeface="Times New Roman"/>
              </a:rPr>
              <a:t>References</a:t>
            </a:r>
          </a:p>
          <a:p>
            <a:pPr marL="469900" indent="-457200">
              <a:lnSpc>
                <a:spcPct val="100000"/>
              </a:lnSpc>
              <a:spcBef>
                <a:spcPts val="100"/>
              </a:spcBef>
              <a:buFont typeface="Arial" panose="020B0604020202020204" pitchFamily="34" charset="0"/>
              <a:buChar char="•"/>
              <a:tabLst>
                <a:tab pos="421005" algn="l"/>
              </a:tabLst>
            </a:pPr>
            <a:r>
              <a:rPr lang="en-US" sz="2800" dirty="0">
                <a:latin typeface="Times New Roman"/>
                <a:cs typeface="Times New Roman"/>
              </a:rPr>
              <a:t>Paper Submission proof</a:t>
            </a:r>
          </a:p>
          <a:p>
            <a:pPr marL="469900" indent="-457200">
              <a:lnSpc>
                <a:spcPct val="100000"/>
              </a:lnSpc>
              <a:spcBef>
                <a:spcPts val="100"/>
              </a:spcBef>
              <a:buFont typeface="Times New Roman" panose="02020603050405020304" pitchFamily="18" charset="0"/>
              <a:buChar char="♦"/>
              <a:tabLst>
                <a:tab pos="421005" algn="l"/>
              </a:tabLst>
            </a:pPr>
            <a:endParaRPr sz="28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545129" y="0"/>
            <a:ext cx="4027371"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3" y="186950"/>
            <a:ext cx="3888104" cy="695960"/>
          </a:xfrm>
          <a:prstGeom prst="rect">
            <a:avLst/>
          </a:prstGeom>
        </p:spPr>
        <p:txBody>
          <a:bodyPr vert="horz" wrap="square" lIns="0" tIns="12700" rIns="0" bIns="0" rtlCol="0">
            <a:spAutoFit/>
          </a:bodyPr>
          <a:lstStyle/>
          <a:p>
            <a:pPr marL="12700">
              <a:lnSpc>
                <a:spcPct val="100000"/>
              </a:lnSpc>
              <a:spcBef>
                <a:spcPts val="100"/>
              </a:spcBef>
            </a:pPr>
            <a:r>
              <a:rPr spc="-10" dirty="0"/>
              <a:t>Introduction</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9" name="object 9"/>
          <p:cNvSpPr txBox="1">
            <a:spLocks noGrp="1"/>
          </p:cNvSpPr>
          <p:nvPr>
            <p:ph type="dt" sz="half" idx="6"/>
          </p:nvPr>
        </p:nvSpPr>
        <p:spPr>
          <a:xfrm>
            <a:off x="838200" y="6629309"/>
            <a:ext cx="5105400" cy="228691"/>
          </a:xfrm>
          <a:prstGeom prst="rect">
            <a:avLst/>
          </a:prstGeom>
        </p:spPr>
        <p:txBody>
          <a:bodyPr vert="horz" wrap="square" lIns="0" tIns="0" rIns="0" bIns="0" rtlCol="0">
            <a:spAutoFit/>
          </a:bodyPr>
          <a:lstStyle/>
          <a:p>
            <a:pPr marL="12700">
              <a:lnSpc>
                <a:spcPts val="1845"/>
              </a:lnSpc>
            </a:pPr>
            <a:r>
              <a:rPr lang="en-US" cap="small" spc="-75" dirty="0"/>
              <a:t>Dept. of Computer Science and Engineering (Data Science)                   Srinivasa Ramanujan Institute of Technology </a:t>
            </a:r>
            <a:endParaRPr cap="small" spc="-95" dirty="0"/>
          </a:p>
        </p:txBody>
      </p:sp>
      <p:sp>
        <p:nvSpPr>
          <p:cNvPr id="10" name="object 10"/>
          <p:cNvSpPr txBox="1"/>
          <p:nvPr/>
        </p:nvSpPr>
        <p:spPr>
          <a:xfrm>
            <a:off x="6477000" y="6629309"/>
            <a:ext cx="419100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4</a:t>
            </a:fld>
            <a:endParaRPr spc="-25" dirty="0"/>
          </a:p>
        </p:txBody>
      </p:sp>
      <p:sp>
        <p:nvSpPr>
          <p:cNvPr id="12" name="Rectangle 1">
            <a:extLst>
              <a:ext uri="{FF2B5EF4-FFF2-40B4-BE49-F238E27FC236}">
                <a16:creationId xmlns:a16="http://schemas.microsoft.com/office/drawing/2014/main" id="{614D61BF-6932-E085-E3A6-B7B3F4BFB97F}"/>
              </a:ext>
            </a:extLst>
          </p:cNvPr>
          <p:cNvSpPr>
            <a:spLocks noChangeArrowheads="1"/>
          </p:cNvSpPr>
          <p:nvPr/>
        </p:nvSpPr>
        <p:spPr bwMode="auto">
          <a:xfrm>
            <a:off x="257810" y="1351508"/>
            <a:ext cx="1137158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Smart Intruder Detection System</a:t>
            </a:r>
            <a:r>
              <a:rPr lang="en-US" sz="2400" dirty="0">
                <a:latin typeface="Times New Roman" panose="02020603050405020304" pitchFamily="18" charset="0"/>
                <a:cs typeface="Times New Roman" panose="02020603050405020304" pitchFamily="18" charset="0"/>
              </a:rPr>
              <a:t> is an intelligent security solution designed to enhance safety in homes, offices, and restricted environments by integrating multiple sensors with a Raspberry Pi controller. The system continuously monitors its surroundings using a PIR sensor to detect human motion, an ultrasonic sensor to sense vehicle movement, and a sound sensor to capture unusual acoustic activities. When any abnormal condition is detected, a USB camera activates to perform real-time face detection, while LEDs and a buzzer provide immediate visual and audio alerts. By combining sensor fusion with image-based monitoring, the system reduces false alarms and improves detection accuracy compared to traditional single-sensor systems. This cost-effective and scalable approach offers a reliable, automated, and smart security mechanism suitable for modern surveillance needs.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E0F07-EE07-A838-7E5E-352F62870D1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69209C5-5850-B2B0-AD16-4C1CAECFBFA6}"/>
              </a:ext>
            </a:extLst>
          </p:cNvPr>
          <p:cNvSpPr txBox="1"/>
          <p:nvPr/>
        </p:nvSpPr>
        <p:spPr>
          <a:xfrm>
            <a:off x="4545129" y="0"/>
            <a:ext cx="4027371"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10E17BCC-221C-D889-058E-CDF8D652F9FF}"/>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AAF06B50-0078-2501-CA78-A0D37C415933}"/>
                </a:ext>
              </a:extLst>
            </p:cNvPr>
            <p:cNvPicPr/>
            <p:nvPr/>
          </p:nvPicPr>
          <p:blipFill>
            <a:blip r:embed="rId2"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2D431482-3D7D-4D05-C829-0D9FE80B2872}"/>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0DC0A0E5-9CE6-17CE-B25C-6604D468A74A}"/>
              </a:ext>
            </a:extLst>
          </p:cNvPr>
          <p:cNvSpPr txBox="1">
            <a:spLocks noGrp="1"/>
          </p:cNvSpPr>
          <p:nvPr>
            <p:ph type="title"/>
          </p:nvPr>
        </p:nvSpPr>
        <p:spPr>
          <a:xfrm>
            <a:off x="141783" y="186950"/>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a:t>Literature survey</a:t>
            </a:r>
            <a:endParaRPr spc="-10" dirty="0"/>
          </a:p>
        </p:txBody>
      </p:sp>
      <p:sp>
        <p:nvSpPr>
          <p:cNvPr id="8" name="object 8">
            <a:extLst>
              <a:ext uri="{FF2B5EF4-FFF2-40B4-BE49-F238E27FC236}">
                <a16:creationId xmlns:a16="http://schemas.microsoft.com/office/drawing/2014/main" id="{35AD0B71-F09D-8041-2444-04B24BE592D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9" name="object 9">
            <a:extLst>
              <a:ext uri="{FF2B5EF4-FFF2-40B4-BE49-F238E27FC236}">
                <a16:creationId xmlns:a16="http://schemas.microsoft.com/office/drawing/2014/main" id="{5744BE3F-8281-EB36-6131-17965B733741}"/>
              </a:ext>
            </a:extLst>
          </p:cNvPr>
          <p:cNvSpPr txBox="1">
            <a:spLocks noGrp="1"/>
          </p:cNvSpPr>
          <p:nvPr>
            <p:ph type="dt" sz="half" idx="6"/>
          </p:nvPr>
        </p:nvSpPr>
        <p:spPr>
          <a:xfrm>
            <a:off x="838200" y="6629309"/>
            <a:ext cx="5105400" cy="228691"/>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0" name="object 10">
            <a:extLst>
              <a:ext uri="{FF2B5EF4-FFF2-40B4-BE49-F238E27FC236}">
                <a16:creationId xmlns:a16="http://schemas.microsoft.com/office/drawing/2014/main" id="{FFF797E2-C3E1-AA2E-A3F4-564C315F4292}"/>
              </a:ext>
            </a:extLst>
          </p:cNvPr>
          <p:cNvSpPr txBox="1"/>
          <p:nvPr/>
        </p:nvSpPr>
        <p:spPr>
          <a:xfrm>
            <a:off x="6477000" y="6629309"/>
            <a:ext cx="419100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F00A8A9A-3D65-59D4-5F42-F83065973703}"/>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5</a:t>
            </a:fld>
            <a:endParaRPr spc="-25" dirty="0"/>
          </a:p>
        </p:txBody>
      </p:sp>
      <p:sp>
        <p:nvSpPr>
          <p:cNvPr id="12" name="Rectangle 1">
            <a:extLst>
              <a:ext uri="{FF2B5EF4-FFF2-40B4-BE49-F238E27FC236}">
                <a16:creationId xmlns:a16="http://schemas.microsoft.com/office/drawing/2014/main" id="{ECA4DE60-90D0-E58E-96F2-231B208DDC83}"/>
              </a:ext>
            </a:extLst>
          </p:cNvPr>
          <p:cNvSpPr>
            <a:spLocks noChangeArrowheads="1"/>
          </p:cNvSpPr>
          <p:nvPr/>
        </p:nvSpPr>
        <p:spPr bwMode="auto">
          <a:xfrm>
            <a:off x="141783" y="1099159"/>
            <a:ext cx="1137158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TITLE:Intrusion</a:t>
            </a:r>
            <a:r>
              <a:rPr lang="en-US" sz="2400" b="1" dirty="0">
                <a:latin typeface="Times New Roman" panose="02020603050405020304" pitchFamily="18" charset="0"/>
                <a:cs typeface="Times New Roman" panose="02020603050405020304" pitchFamily="18" charset="0"/>
              </a:rPr>
              <a:t> Detection for Smart Home </a:t>
            </a:r>
            <a:r>
              <a:rPr lang="en-US" sz="2400" b="1" dirty="0" err="1">
                <a:latin typeface="Times New Roman" panose="02020603050405020304" pitchFamily="18" charset="0"/>
                <a:cs typeface="Times New Roman" panose="02020603050405020304" pitchFamily="18" charset="0"/>
              </a:rPr>
              <a:t>AlarmSecurity</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System:</a:t>
            </a:r>
            <a:r>
              <a:rPr lang="en-US" sz="2400" dirty="0" err="1">
                <a:latin typeface="Times New Roman" panose="02020603050405020304" pitchFamily="18" charset="0"/>
                <a:cs typeface="Times New Roman" panose="02020603050405020304" pitchFamily="18" charset="0"/>
              </a:rPr>
              <a:t>Smart</a:t>
            </a:r>
            <a:r>
              <a:rPr lang="en-US" sz="2400" dirty="0">
                <a:latin typeface="Times New Roman" panose="02020603050405020304" pitchFamily="18" charset="0"/>
                <a:cs typeface="Times New Roman" panose="02020603050405020304" pitchFamily="18" charset="0"/>
              </a:rPr>
              <a:t> home security is increasingly essential in today’s world due to rising </a:t>
            </a:r>
            <a:r>
              <a:rPr lang="en-US" sz="2400" dirty="0" err="1">
                <a:latin typeface="Times New Roman" panose="02020603050405020304" pitchFamily="18" charset="0"/>
                <a:cs typeface="Times New Roman" panose="02020603050405020304" pitchFamily="18" charset="0"/>
              </a:rPr>
              <a:t>concernsover</a:t>
            </a:r>
            <a:r>
              <a:rPr lang="en-US" sz="2400" dirty="0">
                <a:latin typeface="Times New Roman" panose="02020603050405020304" pitchFamily="18" charset="0"/>
                <a:cs typeface="Times New Roman" panose="02020603050405020304" pitchFamily="18" charset="0"/>
              </a:rPr>
              <a:t> unauthorized access and property intrusion. Leveraging the capabilities of Raspberry Pi, a </a:t>
            </a:r>
            <a:r>
              <a:rPr lang="en-US" sz="2400" dirty="0" err="1">
                <a:latin typeface="Times New Roman" panose="02020603050405020304" pitchFamily="18" charset="0"/>
                <a:cs typeface="Times New Roman" panose="02020603050405020304" pitchFamily="18" charset="0"/>
              </a:rPr>
              <a:t>lowcost</a:t>
            </a:r>
            <a:r>
              <a:rPr lang="en-US" sz="2400" dirty="0">
                <a:latin typeface="Times New Roman" panose="02020603050405020304" pitchFamily="18" charset="0"/>
                <a:cs typeface="Times New Roman" panose="02020603050405020304" pitchFamily="18" charset="0"/>
              </a:rPr>
              <a:t> and efficient home security system is developed that combines motion detection, real-</a:t>
            </a:r>
            <a:r>
              <a:rPr lang="en-US" sz="2400" dirty="0" err="1">
                <a:latin typeface="Times New Roman" panose="02020603050405020304" pitchFamily="18" charset="0"/>
                <a:cs typeface="Times New Roman" panose="02020603050405020304" pitchFamily="18" charset="0"/>
              </a:rPr>
              <a:t>timeimage</a:t>
            </a:r>
            <a:r>
              <a:rPr lang="en-US" sz="2400" dirty="0">
                <a:latin typeface="Times New Roman" panose="02020603050405020304" pitchFamily="18" charset="0"/>
                <a:cs typeface="Times New Roman" panose="02020603050405020304" pitchFamily="18" charset="0"/>
              </a:rPr>
              <a:t> capture, SMS and email alerts, and automated door locking. The system uses OpenCV </a:t>
            </a:r>
            <a:r>
              <a:rPr lang="en-US" sz="2400" dirty="0" err="1">
                <a:latin typeface="Times New Roman" panose="02020603050405020304" pitchFamily="18" charset="0"/>
                <a:cs typeface="Times New Roman" panose="02020603050405020304" pitchFamily="18" charset="0"/>
              </a:rPr>
              <a:t>formotion</a:t>
            </a:r>
            <a:r>
              <a:rPr lang="en-US" sz="2400" dirty="0">
                <a:latin typeface="Times New Roman" panose="02020603050405020304" pitchFamily="18" charset="0"/>
                <a:cs typeface="Times New Roman" panose="02020603050405020304" pitchFamily="18" charset="0"/>
              </a:rPr>
              <a:t> tracking, a GSM module for text notifications, and a buzzer for local alarms, all </a:t>
            </a:r>
            <a:r>
              <a:rPr lang="en-US" sz="2400" dirty="0" err="1">
                <a:latin typeface="Times New Roman" panose="02020603050405020304" pitchFamily="18" charset="0"/>
                <a:cs typeface="Times New Roman" panose="02020603050405020304" pitchFamily="18" charset="0"/>
              </a:rPr>
              <a:t>integratedthrough</a:t>
            </a:r>
            <a:r>
              <a:rPr lang="en-US" sz="2400" dirty="0">
                <a:latin typeface="Times New Roman" panose="02020603050405020304" pitchFamily="18" charset="0"/>
                <a:cs typeface="Times New Roman" panose="02020603050405020304" pitchFamily="18" charset="0"/>
              </a:rPr>
              <a:t> Python scripts. A voltage regulator and backup battery ensure uninterrupted </a:t>
            </a:r>
            <a:r>
              <a:rPr lang="en-US" sz="2400" dirty="0" err="1">
                <a:latin typeface="Times New Roman" panose="02020603050405020304" pitchFamily="18" charset="0"/>
                <a:cs typeface="Times New Roman" panose="02020603050405020304" pitchFamily="18" charset="0"/>
              </a:rPr>
              <a:t>functionalityduring</a:t>
            </a:r>
            <a:r>
              <a:rPr lang="en-US" sz="2400" dirty="0">
                <a:latin typeface="Times New Roman" panose="02020603050405020304" pitchFamily="18" charset="0"/>
                <a:cs typeface="Times New Roman" panose="02020603050405020304" pitchFamily="18" charset="0"/>
              </a:rPr>
              <a:t> power outages. Testing showed over 90% accuracy in intrusion detection and prompt </a:t>
            </a:r>
            <a:r>
              <a:rPr lang="en-US" sz="2400" dirty="0" err="1">
                <a:latin typeface="Times New Roman" panose="02020603050405020304" pitchFamily="18" charset="0"/>
                <a:cs typeface="Times New Roman" panose="02020603050405020304" pitchFamily="18" charset="0"/>
              </a:rPr>
              <a:t>alertdelivery</a:t>
            </a:r>
            <a:r>
              <a:rPr lang="en-US" sz="2400" dirty="0">
                <a:latin typeface="Times New Roman" panose="02020603050405020304" pitchFamily="18" charset="0"/>
                <a:cs typeface="Times New Roman" panose="02020603050405020304" pitchFamily="18" charset="0"/>
              </a:rPr>
              <a:t> within seconds. The solution is both scalable and affordable, bridging the gap </a:t>
            </a:r>
            <a:r>
              <a:rPr lang="en-US" sz="2400" dirty="0" err="1">
                <a:latin typeface="Times New Roman" panose="02020603050405020304" pitchFamily="18" charset="0"/>
                <a:cs typeface="Times New Roman" panose="02020603050405020304" pitchFamily="18" charset="0"/>
              </a:rPr>
              <a:t>betweenhigh</a:t>
            </a:r>
            <a:r>
              <a:rPr lang="en-US" sz="2400" dirty="0">
                <a:latin typeface="Times New Roman" panose="02020603050405020304" pitchFamily="18" charset="0"/>
                <a:cs typeface="Times New Roman" panose="02020603050405020304" pitchFamily="18" charset="0"/>
              </a:rPr>
              <a:t>-cost commercial systems and the growing need for smart, </a:t>
            </a:r>
            <a:r>
              <a:rPr lang="en-US" sz="2400" dirty="0" err="1">
                <a:latin typeface="Times New Roman" panose="02020603050405020304" pitchFamily="18" charset="0"/>
                <a:cs typeface="Times New Roman" panose="02020603050405020304" pitchFamily="18" charset="0"/>
              </a:rPr>
              <a:t>userfriendly</a:t>
            </a:r>
            <a:r>
              <a:rPr lang="en-US" sz="2400" dirty="0">
                <a:latin typeface="Times New Roman" panose="02020603050405020304" pitchFamily="18" charset="0"/>
                <a:cs typeface="Times New Roman" panose="02020603050405020304" pitchFamily="18" charset="0"/>
              </a:rPr>
              <a:t> home protection. </a:t>
            </a:r>
            <a:r>
              <a:rPr lang="en-US" sz="2400" dirty="0" err="1">
                <a:latin typeface="Times New Roman" panose="02020603050405020304" pitchFamily="18" charset="0"/>
                <a:cs typeface="Times New Roman" panose="02020603050405020304" pitchFamily="18" charset="0"/>
              </a:rPr>
              <a:t>Futureimprovements</a:t>
            </a:r>
            <a:r>
              <a:rPr lang="en-US" sz="2400" dirty="0">
                <a:latin typeface="Times New Roman" panose="02020603050405020304" pitchFamily="18" charset="0"/>
                <a:cs typeface="Times New Roman" panose="02020603050405020304" pitchFamily="18" charset="0"/>
              </a:rPr>
              <a:t> include </a:t>
            </a:r>
            <a:r>
              <a:rPr lang="en-US" sz="2400" dirty="0" err="1">
                <a:latin typeface="Times New Roman" panose="02020603050405020304" pitchFamily="18" charset="0"/>
                <a:cs typeface="Times New Roman" panose="02020603050405020304" pitchFamily="18" charset="0"/>
              </a:rPr>
              <a:t>AIbased</a:t>
            </a:r>
            <a:r>
              <a:rPr lang="en-US" sz="2400" dirty="0">
                <a:latin typeface="Times New Roman" panose="02020603050405020304" pitchFamily="18" charset="0"/>
                <a:cs typeface="Times New Roman" panose="02020603050405020304" pitchFamily="18" charset="0"/>
              </a:rPr>
              <a:t> facial recognition, cloud storage, mobile app integration, </a:t>
            </a:r>
            <a:r>
              <a:rPr lang="en-US" sz="2400" dirty="0" err="1">
                <a:latin typeface="Times New Roman" panose="02020603050405020304" pitchFamily="18" charset="0"/>
                <a:cs typeface="Times New Roman" panose="02020603050405020304" pitchFamily="18" charset="0"/>
              </a:rPr>
              <a:t>andsupport</a:t>
            </a:r>
            <a:r>
              <a:rPr lang="en-US" sz="2400" dirty="0">
                <a:latin typeface="Times New Roman" panose="02020603050405020304" pitchFamily="18" charset="0"/>
                <a:cs typeface="Times New Roman" panose="02020603050405020304" pitchFamily="18" charset="0"/>
              </a:rPr>
              <a:t> for multiple surveillance nodes.</a:t>
            </a:r>
            <a:endParaRPr lang="en-IN" sz="1600" dirty="0">
              <a:latin typeface="Times New Roman" panose="02020603050405020304" pitchFamily="18" charset="0"/>
              <a:cs typeface="Times New Roman" panose="02020603050405020304" pitchFamily="18" charset="0"/>
            </a:endParaRPr>
          </a:p>
          <a:p>
            <a:pPr algn="just"/>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1027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4A728-9B3D-57E1-908D-B6D3173E98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8072155-1FB2-5EDD-F1AD-6511326FBA6C}"/>
              </a:ext>
            </a:extLst>
          </p:cNvPr>
          <p:cNvSpPr txBox="1"/>
          <p:nvPr/>
        </p:nvSpPr>
        <p:spPr>
          <a:xfrm>
            <a:off x="4545129" y="0"/>
            <a:ext cx="4027371"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D9E7953B-A0F4-FFE8-8D4F-C601E7B05DEB}"/>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A3CC0DA2-496A-155D-3139-92A168DD4618}"/>
                </a:ext>
              </a:extLst>
            </p:cNvPr>
            <p:cNvPicPr/>
            <p:nvPr/>
          </p:nvPicPr>
          <p:blipFill>
            <a:blip r:embed="rId2"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3E2D9253-EF56-3778-65DB-B3513B668C7D}"/>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916C0AC8-43CB-8E65-B6C3-A76AA2E60414}"/>
              </a:ext>
            </a:extLst>
          </p:cNvPr>
          <p:cNvSpPr txBox="1">
            <a:spLocks noGrp="1"/>
          </p:cNvSpPr>
          <p:nvPr>
            <p:ph type="title"/>
          </p:nvPr>
        </p:nvSpPr>
        <p:spPr>
          <a:xfrm>
            <a:off x="141783" y="186950"/>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a:t>Literature survey</a:t>
            </a:r>
            <a:endParaRPr spc="-10" dirty="0"/>
          </a:p>
        </p:txBody>
      </p:sp>
      <p:sp>
        <p:nvSpPr>
          <p:cNvPr id="8" name="object 8">
            <a:extLst>
              <a:ext uri="{FF2B5EF4-FFF2-40B4-BE49-F238E27FC236}">
                <a16:creationId xmlns:a16="http://schemas.microsoft.com/office/drawing/2014/main" id="{6F6039B1-C58F-2A58-0936-2A209B0D0882}"/>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9" name="object 9">
            <a:extLst>
              <a:ext uri="{FF2B5EF4-FFF2-40B4-BE49-F238E27FC236}">
                <a16:creationId xmlns:a16="http://schemas.microsoft.com/office/drawing/2014/main" id="{550C2BCA-7D8E-B97C-135F-9126BB40FA37}"/>
              </a:ext>
            </a:extLst>
          </p:cNvPr>
          <p:cNvSpPr txBox="1">
            <a:spLocks noGrp="1"/>
          </p:cNvSpPr>
          <p:nvPr>
            <p:ph type="dt" sz="half" idx="6"/>
          </p:nvPr>
        </p:nvSpPr>
        <p:spPr>
          <a:xfrm>
            <a:off x="838200" y="6629309"/>
            <a:ext cx="5105400" cy="228691"/>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0" name="object 10">
            <a:extLst>
              <a:ext uri="{FF2B5EF4-FFF2-40B4-BE49-F238E27FC236}">
                <a16:creationId xmlns:a16="http://schemas.microsoft.com/office/drawing/2014/main" id="{0C8F662B-1EB6-1A9B-2459-6CC1B4900015}"/>
              </a:ext>
            </a:extLst>
          </p:cNvPr>
          <p:cNvSpPr txBox="1"/>
          <p:nvPr/>
        </p:nvSpPr>
        <p:spPr>
          <a:xfrm>
            <a:off x="6477000" y="6629309"/>
            <a:ext cx="419100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7CFB96E2-F637-5A9A-6D8B-B6233493DB51}"/>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6</a:t>
            </a:fld>
            <a:endParaRPr spc="-25" dirty="0"/>
          </a:p>
        </p:txBody>
      </p:sp>
      <p:sp>
        <p:nvSpPr>
          <p:cNvPr id="12" name="Rectangle 1">
            <a:extLst>
              <a:ext uri="{FF2B5EF4-FFF2-40B4-BE49-F238E27FC236}">
                <a16:creationId xmlns:a16="http://schemas.microsoft.com/office/drawing/2014/main" id="{95D96B3D-6A90-EA39-CD49-5FD028C1953F}"/>
              </a:ext>
            </a:extLst>
          </p:cNvPr>
          <p:cNvSpPr>
            <a:spLocks noChangeArrowheads="1"/>
          </p:cNvSpPr>
          <p:nvPr/>
        </p:nvSpPr>
        <p:spPr bwMode="auto">
          <a:xfrm>
            <a:off x="72939" y="1050254"/>
            <a:ext cx="11371580" cy="6140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3" indent="-342900" algn="just">
              <a:buFont typeface="Arial" panose="020B0604020202020204" pitchFamily="34" charset="0"/>
              <a:buChar char="•"/>
            </a:pPr>
            <a:r>
              <a:rPr lang="en-US" sz="2300" b="1" dirty="0" err="1">
                <a:latin typeface="Times New Roman" panose="02020603050405020304" pitchFamily="18" charset="0"/>
                <a:cs typeface="Times New Roman" panose="02020603050405020304" pitchFamily="18" charset="0"/>
              </a:rPr>
              <a:t>TITLE</a:t>
            </a:r>
            <a:r>
              <a:rPr lang="en-US" sz="2300" b="1" dirty="0" err="1">
                <a:cs typeface="Times New Roman" panose="02020603050405020304" pitchFamily="18" charset="0"/>
              </a:rPr>
              <a:t>:</a:t>
            </a:r>
            <a:r>
              <a:rPr lang="en-US" sz="2300" b="1" dirty="0" err="1"/>
              <a:t>Intruder</a:t>
            </a:r>
            <a:r>
              <a:rPr lang="en-US" sz="2300" b="1" dirty="0"/>
              <a:t> Detection System Using Machine Learning-2025</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This paper proposes an intelligent surveillance system that integrates motion detection, face recognition, and face mask detection using machine learning and computer vision techniques. The system enables real-time monitoring, identification, and alert generation, improving overall security and safety. It provides a scalable solution suitable for various environments such as public spaces and organizations. The study supports the use of advanced algorithms and real-time processing in enhancing intruder detection systems.</a:t>
            </a:r>
          </a:p>
          <a:p>
            <a:pPr marL="342900" lvl="3" indent="-342900" algn="just">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TITLE: Enhancing intrusion Detection: a hybrid machine and deep learning </a:t>
            </a:r>
            <a:r>
              <a:rPr lang="en-US" sz="2300" b="1" dirty="0" err="1">
                <a:latin typeface="Times New Roman" panose="02020603050405020304" pitchFamily="18" charset="0"/>
                <a:cs typeface="Times New Roman" panose="02020603050405020304" pitchFamily="18" charset="0"/>
              </a:rPr>
              <a:t>approach:</a:t>
            </a:r>
            <a:r>
              <a:rPr lang="en-US" sz="2300" dirty="0" err="1">
                <a:latin typeface="Times New Roman" panose="02020603050405020304" pitchFamily="18" charset="0"/>
                <a:cs typeface="Times New Roman" panose="02020603050405020304" pitchFamily="18" charset="0"/>
              </a:rPr>
              <a:t>This</a:t>
            </a:r>
            <a:r>
              <a:rPr lang="en-US" sz="2300" dirty="0">
                <a:latin typeface="Times New Roman" panose="02020603050405020304" pitchFamily="18" charset="0"/>
                <a:cs typeface="Times New Roman" panose="02020603050405020304" pitchFamily="18" charset="0"/>
              </a:rPr>
              <a:t> research focuses on improving intrusion detection in network systems using a hybrid model that combines machine learning and deep learning techniques. The model utilizes algorithms such as </a:t>
            </a:r>
            <a:r>
              <a:rPr lang="en-US" sz="2300" dirty="0" err="1">
                <a:latin typeface="Times New Roman" panose="02020603050405020304" pitchFamily="18" charset="0"/>
                <a:cs typeface="Times New Roman" panose="02020603050405020304" pitchFamily="18" charset="0"/>
              </a:rPr>
              <a:t>XGBoost</a:t>
            </a:r>
            <a:r>
              <a:rPr lang="en-US" sz="2300" dirty="0">
                <a:latin typeface="Times New Roman" panose="02020603050405020304" pitchFamily="18" charset="0"/>
                <a:cs typeface="Times New Roman" panose="02020603050405020304" pitchFamily="18" charset="0"/>
              </a:rPr>
              <a:t>, CNN, and LSTM for feature extraction and classification, achieving high accuracy and low false acceptance rates. The study highlights the importance of advanced detection techniques in handling large-scale data and evolving threats. This work emphasizes the role of intelligent algorithms in improving detection accuracy, which is relevant to modern security systems.</a:t>
            </a:r>
            <a:br>
              <a:rPr lang="en-US" sz="2400" dirty="0"/>
            </a:br>
            <a:endParaRPr lang="en-US" sz="2400" dirty="0"/>
          </a:p>
          <a:p>
            <a:pPr algn="just"/>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2306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E7B28-493C-5C25-13E1-7794F97324D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B408550-3BF8-B29D-7205-7AA40D5891C8}"/>
              </a:ext>
            </a:extLst>
          </p:cNvPr>
          <p:cNvSpPr txBox="1"/>
          <p:nvPr/>
        </p:nvSpPr>
        <p:spPr>
          <a:xfrm>
            <a:off x="4545129" y="0"/>
            <a:ext cx="4027371"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E3D2C14F-E90E-9CDC-36BF-576633A55BD8}"/>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684FFC41-7869-0EF2-F468-2C3A10BA4CFE}"/>
                </a:ext>
              </a:extLst>
            </p:cNvPr>
            <p:cNvPicPr/>
            <p:nvPr/>
          </p:nvPicPr>
          <p:blipFill>
            <a:blip r:embed="rId2"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3CE31E59-9938-9AB3-7A9D-08892BE7B5DD}"/>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D4769C22-68AE-A5B7-7BFE-E68AD9370510}"/>
              </a:ext>
            </a:extLst>
          </p:cNvPr>
          <p:cNvSpPr txBox="1">
            <a:spLocks noGrp="1"/>
          </p:cNvSpPr>
          <p:nvPr>
            <p:ph type="title"/>
          </p:nvPr>
        </p:nvSpPr>
        <p:spPr>
          <a:xfrm>
            <a:off x="141783" y="186950"/>
            <a:ext cx="3888104" cy="695960"/>
          </a:xfrm>
          <a:prstGeom prst="rect">
            <a:avLst/>
          </a:prstGeom>
        </p:spPr>
        <p:txBody>
          <a:bodyPr vert="horz" wrap="square" lIns="0" tIns="12700" rIns="0" bIns="0" rtlCol="0">
            <a:spAutoFit/>
          </a:bodyPr>
          <a:lstStyle/>
          <a:p>
            <a:pPr marL="12700">
              <a:lnSpc>
                <a:spcPct val="100000"/>
              </a:lnSpc>
              <a:spcBef>
                <a:spcPts val="100"/>
              </a:spcBef>
            </a:pPr>
            <a:r>
              <a:rPr lang="en-US" spc="-10" dirty="0"/>
              <a:t>Literature survey</a:t>
            </a:r>
            <a:endParaRPr spc="-10" dirty="0"/>
          </a:p>
        </p:txBody>
      </p:sp>
      <p:sp>
        <p:nvSpPr>
          <p:cNvPr id="8" name="object 8">
            <a:extLst>
              <a:ext uri="{FF2B5EF4-FFF2-40B4-BE49-F238E27FC236}">
                <a16:creationId xmlns:a16="http://schemas.microsoft.com/office/drawing/2014/main" id="{BB4A230A-1A8F-B158-33B8-A8AD8D6A515A}"/>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9" name="object 9">
            <a:extLst>
              <a:ext uri="{FF2B5EF4-FFF2-40B4-BE49-F238E27FC236}">
                <a16:creationId xmlns:a16="http://schemas.microsoft.com/office/drawing/2014/main" id="{B740A056-8D99-C0E0-0A25-CFD88CA6169A}"/>
              </a:ext>
            </a:extLst>
          </p:cNvPr>
          <p:cNvSpPr txBox="1">
            <a:spLocks noGrp="1"/>
          </p:cNvSpPr>
          <p:nvPr>
            <p:ph type="dt" sz="half" idx="6"/>
          </p:nvPr>
        </p:nvSpPr>
        <p:spPr>
          <a:xfrm>
            <a:off x="838200" y="6629309"/>
            <a:ext cx="5105400" cy="228691"/>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0" name="object 10">
            <a:extLst>
              <a:ext uri="{FF2B5EF4-FFF2-40B4-BE49-F238E27FC236}">
                <a16:creationId xmlns:a16="http://schemas.microsoft.com/office/drawing/2014/main" id="{EF230DFA-783C-FEBE-7CCF-527F411DE914}"/>
              </a:ext>
            </a:extLst>
          </p:cNvPr>
          <p:cNvSpPr txBox="1"/>
          <p:nvPr/>
        </p:nvSpPr>
        <p:spPr>
          <a:xfrm>
            <a:off x="6477000" y="6629309"/>
            <a:ext cx="419100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65777B1D-3749-0564-C0F9-67EE90E418E8}"/>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7</a:t>
            </a:fld>
            <a:endParaRPr spc="-25" dirty="0"/>
          </a:p>
        </p:txBody>
      </p:sp>
      <p:sp>
        <p:nvSpPr>
          <p:cNvPr id="12" name="Rectangle 1">
            <a:extLst>
              <a:ext uri="{FF2B5EF4-FFF2-40B4-BE49-F238E27FC236}">
                <a16:creationId xmlns:a16="http://schemas.microsoft.com/office/drawing/2014/main" id="{3A4ECF1A-B2B6-8EE8-4E18-80466D9DB185}"/>
              </a:ext>
            </a:extLst>
          </p:cNvPr>
          <p:cNvSpPr>
            <a:spLocks noChangeArrowheads="1"/>
          </p:cNvSpPr>
          <p:nvPr/>
        </p:nvSpPr>
        <p:spPr bwMode="auto">
          <a:xfrm>
            <a:off x="104577" y="1112297"/>
            <a:ext cx="11371580" cy="6509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3" indent="-342900" algn="just">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TITLE:</a:t>
            </a:r>
            <a:r>
              <a:rPr lang="en-US" sz="2300" b="1" dirty="0"/>
              <a:t>A Smart Intruder Detection System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This paper presents an intruder detection system using PIR sensors and a Raspberry Pi camera to detect and capture images of intruders. The system uses OpenCV-based face recognition to compare captured images with stored authorized user data. If an unauthorized person is detected, the system sends an alert along with the image to the user via email. The study demonstrates an effective approach for real-time intruder detection and notification, forming a foundation for automated security systems.</a:t>
            </a:r>
          </a:p>
          <a:p>
            <a:pPr marL="342900" lvl="3" indent="-342900" algn="just">
              <a:buFont typeface="Arial" panose="020B0604020202020204" pitchFamily="34" charset="0"/>
              <a:buChar char="•"/>
            </a:pPr>
            <a:r>
              <a:rPr lang="en-US" sz="2300" b="1" dirty="0">
                <a:latin typeface="Times New Roman" panose="02020603050405020304" pitchFamily="18" charset="0"/>
                <a:cs typeface="Times New Roman" panose="02020603050405020304" pitchFamily="18" charset="0"/>
              </a:rPr>
              <a:t>TITLE: </a:t>
            </a:r>
            <a:r>
              <a:rPr lang="en-US" sz="2300" b="1" dirty="0"/>
              <a:t>A New Smart Home Intruder Detection System Based on Deep </a:t>
            </a:r>
            <a:r>
              <a:rPr lang="en-US" sz="2300" b="1" dirty="0" err="1"/>
              <a:t>Learning:</a:t>
            </a:r>
            <a:r>
              <a:rPr lang="en-US" sz="2300" dirty="0" err="1">
                <a:latin typeface="Times New Roman" panose="02020603050405020304" pitchFamily="18" charset="0"/>
                <a:cs typeface="Times New Roman" panose="02020603050405020304" pitchFamily="18" charset="0"/>
              </a:rPr>
              <a:t>This</a:t>
            </a:r>
            <a:r>
              <a:rPr lang="en-US" sz="2300" dirty="0">
                <a:latin typeface="Times New Roman" panose="02020603050405020304" pitchFamily="18" charset="0"/>
                <a:cs typeface="Times New Roman" panose="02020603050405020304" pitchFamily="18" charset="0"/>
              </a:rPr>
              <a:t> study introduces a smart home security system based on deep learning for face recognition using the EfficientNet-B4 model. The system is optimized for implementation on Raspberry Pi using transfer learning and lightweight model conversion. It achieves high accuracy even under varying lighting conditions and facial expressions. The research highlights the effectiveness of deep learning in enhancing face recognition performance, supporting the integration of intelligent image processing in intruder detection systems.</a:t>
            </a:r>
          </a:p>
          <a:p>
            <a:pPr lvl="3"/>
            <a:br>
              <a:rPr lang="en-US" sz="2400" dirty="0"/>
            </a:br>
            <a:endParaRPr lang="en-US" sz="2400" dirty="0"/>
          </a:p>
          <a:p>
            <a:pPr algn="just"/>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6068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84904-E44D-12FF-28F0-2B8BF895D70F}"/>
              </a:ext>
            </a:extLst>
          </p:cNvPr>
          <p:cNvSpPr>
            <a:spLocks noGrp="1"/>
          </p:cNvSpPr>
          <p:nvPr>
            <p:ph type="title"/>
          </p:nvPr>
        </p:nvSpPr>
        <p:spPr>
          <a:xfrm>
            <a:off x="4648200" y="0"/>
            <a:ext cx="3888104" cy="446276"/>
          </a:xfrm>
        </p:spPr>
        <p:txBody>
          <a:bodyPr/>
          <a:lstStyle/>
          <a:p>
            <a:r>
              <a:rPr lang="en-US" sz="1400" b="1" i="1" dirty="0">
                <a:solidFill>
                  <a:srgbClr val="FFFFFF"/>
                </a:solidFill>
              </a:rPr>
              <a:t>Smart Intruder Detection System</a:t>
            </a:r>
            <a:br>
              <a:rPr lang="en-US" sz="1400" dirty="0"/>
            </a:br>
            <a:endParaRPr lang="en-IN" sz="1400" dirty="0"/>
          </a:p>
        </p:txBody>
      </p:sp>
      <p:sp>
        <p:nvSpPr>
          <p:cNvPr id="4" name="Footer Placeholder 3">
            <a:extLst>
              <a:ext uri="{FF2B5EF4-FFF2-40B4-BE49-F238E27FC236}">
                <a16:creationId xmlns:a16="http://schemas.microsoft.com/office/drawing/2014/main" id="{9094BD31-D977-99FD-538D-2CCF1E119C28}"/>
              </a:ext>
            </a:extLst>
          </p:cNvPr>
          <p:cNvSpPr>
            <a:spLocks noGrp="1"/>
          </p:cNvSpPr>
          <p:nvPr>
            <p:ph type="ftr" sz="quarter" idx="5"/>
          </p:nvPr>
        </p:nvSpPr>
        <p:spPr/>
        <p:txBody>
          <a:bodyPr/>
          <a:lstStyle/>
          <a:p>
            <a:pPr marL="12700">
              <a:lnSpc>
                <a:spcPts val="1845"/>
              </a:lnSpc>
            </a:pPr>
            <a:r>
              <a:rPr lang="en-IN"/>
              <a:t>B - 07</a:t>
            </a:r>
            <a:endParaRPr lang="en-IN" spc="-25" dirty="0"/>
          </a:p>
        </p:txBody>
      </p:sp>
      <p:sp>
        <p:nvSpPr>
          <p:cNvPr id="5" name="Date Placeholder 4">
            <a:extLst>
              <a:ext uri="{FF2B5EF4-FFF2-40B4-BE49-F238E27FC236}">
                <a16:creationId xmlns:a16="http://schemas.microsoft.com/office/drawing/2014/main" id="{4971E0C8-F63D-2739-AAB6-84F923048292}"/>
              </a:ext>
            </a:extLst>
          </p:cNvPr>
          <p:cNvSpPr>
            <a:spLocks noGrp="1"/>
          </p:cNvSpPr>
          <p:nvPr>
            <p:ph type="dt" sz="half" idx="6"/>
          </p:nvPr>
        </p:nvSpPr>
        <p:spPr>
          <a:xfrm>
            <a:off x="990600" y="6627169"/>
            <a:ext cx="9829800" cy="461665"/>
          </a:xfrm>
        </p:spPr>
        <p:txBody>
          <a:bodyPr/>
          <a:lstStyle/>
          <a:p>
            <a:pPr marL="12700">
              <a:lnSpc>
                <a:spcPts val="1845"/>
              </a:lnSpc>
            </a:pPr>
            <a:r>
              <a:rPr lang="en-US" cap="small" spc="-75"/>
              <a:t>Dept. of Computer Science and Engineering (Data Science)                   Srinivasa Ramanujan Institute of Technology </a:t>
            </a:r>
            <a:endParaRPr lang="en-US" cap="small" spc="-95" dirty="0"/>
          </a:p>
        </p:txBody>
      </p:sp>
      <p:sp>
        <p:nvSpPr>
          <p:cNvPr id="6" name="Slide Number Placeholder 5">
            <a:extLst>
              <a:ext uri="{FF2B5EF4-FFF2-40B4-BE49-F238E27FC236}">
                <a16:creationId xmlns:a16="http://schemas.microsoft.com/office/drawing/2014/main" id="{340F61DD-3C2A-5FAC-3ECD-421B5B4F8F13}"/>
              </a:ext>
            </a:extLst>
          </p:cNvPr>
          <p:cNvSpPr>
            <a:spLocks noGrp="1"/>
          </p:cNvSpPr>
          <p:nvPr>
            <p:ph type="sldNum" sz="quarter" idx="7"/>
          </p:nvPr>
        </p:nvSpPr>
        <p:spPr/>
        <p:txBody>
          <a:bodyPr/>
          <a:lstStyle/>
          <a:p>
            <a:pPr marL="12700">
              <a:lnSpc>
                <a:spcPts val="1845"/>
              </a:lnSpc>
            </a:pPr>
            <a:fld id="{81D60167-4931-47E6-BA6A-407CBD079E47}" type="slidenum">
              <a:rPr lang="en-IN" spc="-25" smtClean="0"/>
              <a:t>8</a:t>
            </a:fld>
            <a:endParaRPr lang="en-IN" spc="-25" dirty="0"/>
          </a:p>
        </p:txBody>
      </p:sp>
      <p:sp>
        <p:nvSpPr>
          <p:cNvPr id="9" name="object 5">
            <a:extLst>
              <a:ext uri="{FF2B5EF4-FFF2-40B4-BE49-F238E27FC236}">
                <a16:creationId xmlns:a16="http://schemas.microsoft.com/office/drawing/2014/main" id="{B240D70D-1DAD-7CD7-5B1C-459DD2559A40}"/>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r>
              <a:rPr lang="en-IN" sz="4400" dirty="0">
                <a:solidFill>
                  <a:schemeClr val="bg2"/>
                </a:solidFill>
                <a:latin typeface="Times New Roman" panose="02020603050405020304" pitchFamily="18" charset="0"/>
                <a:cs typeface="Times New Roman" panose="02020603050405020304" pitchFamily="18" charset="0"/>
              </a:rPr>
              <a:t>Existing System</a:t>
            </a:r>
            <a:endParaRPr sz="4400" dirty="0">
              <a:solidFill>
                <a:schemeClr val="bg2"/>
              </a:solidFill>
              <a:latin typeface="Times New Roman" panose="02020603050405020304" pitchFamily="18" charset="0"/>
              <a:cs typeface="Times New Roman" panose="02020603050405020304" pitchFamily="18" charset="0"/>
            </a:endParaRPr>
          </a:p>
        </p:txBody>
      </p:sp>
      <p:sp>
        <p:nvSpPr>
          <p:cNvPr id="10" name="object 11">
            <a:extLst>
              <a:ext uri="{FF2B5EF4-FFF2-40B4-BE49-F238E27FC236}">
                <a16:creationId xmlns:a16="http://schemas.microsoft.com/office/drawing/2014/main" id="{ECFE9C4C-E469-D31B-7010-5B7A3C6B17DC}"/>
              </a:ext>
            </a:extLst>
          </p:cNvPr>
          <p:cNvSpPr txBox="1">
            <a:spLocks noGrp="1"/>
          </p:cNvSpPr>
          <p:nvPr>
            <p:ph type="body" idx="1"/>
          </p:nvPr>
        </p:nvSpPr>
        <p:spPr>
          <a:xfrm>
            <a:off x="141288" y="1181100"/>
            <a:ext cx="11441112" cy="3213700"/>
          </a:xfrm>
          <a:prstGeom prst="rect">
            <a:avLst/>
          </a:prstGeom>
        </p:spPr>
        <p:txBody>
          <a:bodyPr vert="horz" wrap="square" lIns="0" tIns="12700" rIns="0" bIns="0" rtlCol="0">
            <a:spAutoFit/>
          </a:bodyPr>
          <a:lstStyle/>
          <a:p>
            <a:pPr marL="9525" marR="8890" algn="just">
              <a:spcBef>
                <a:spcPts val="100"/>
              </a:spcBef>
              <a:buSzPct val="95833"/>
              <a:tabLst>
                <a:tab pos="192405" algn="l"/>
                <a:tab pos="282575" algn="l"/>
              </a:tabLst>
            </a:pPr>
            <a:r>
              <a:rPr lang="en-US" sz="2400" dirty="0">
                <a:latin typeface="Times New Roman"/>
                <a:cs typeface="Times New Roman"/>
              </a:rPr>
              <a:t>			</a:t>
            </a:r>
            <a:r>
              <a:rPr lang="en-IN" sz="2600" dirty="0">
                <a:latin typeface="Times New Roman" panose="02020603050405020304" pitchFamily="18" charset="0"/>
                <a:cs typeface="Times New Roman" panose="02020603050405020304" pitchFamily="18" charset="0"/>
              </a:rPr>
              <a:t>Traditional intruder detection systems mainly rely on single-sensor mechanisms such as basic motion detectors or alarm-based systems.</a:t>
            </a:r>
            <a:r>
              <a:rPr lang="en-US" sz="2600" dirty="0">
                <a:latin typeface="Times New Roman" panose="02020603050405020304" pitchFamily="18" charset="0"/>
                <a:cs typeface="Times New Roman" panose="02020603050405020304" pitchFamily="18" charset="0"/>
              </a:rPr>
              <a:t> These cameras perform poorly in low-light or night-time conditions.</a:t>
            </a:r>
            <a:r>
              <a:rPr lang="en-IN" sz="2600" dirty="0">
                <a:latin typeface="Times New Roman" panose="02020603050405020304" pitchFamily="18" charset="0"/>
                <a:cs typeface="Times New Roman" panose="02020603050405020304" pitchFamily="18" charset="0"/>
              </a:rPr>
              <a:t>These systems typically use only PIR sensors and simple CCTV cameras that require continuous human monitoring. Due to limited sensing capability, they often generate false alarms caused by pets, environmental changes, or background noise. Moreover, conventional models lack intelligent decision-making, real-time analysis, and integrated alert mechanisms, making them less reliable and inefficient for modern security requirements. </a:t>
            </a:r>
          </a:p>
        </p:txBody>
      </p:sp>
    </p:spTree>
    <p:extLst>
      <p:ext uri="{BB962C8B-B14F-4D97-AF65-F5344CB8AC3E}">
        <p14:creationId xmlns:p14="http://schemas.microsoft.com/office/powerpoint/2010/main" val="534173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24400" y="-31035"/>
            <a:ext cx="42672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22699" y="232759"/>
            <a:ext cx="3888104" cy="695960"/>
          </a:xfrm>
          <a:prstGeom prst="rect">
            <a:avLst/>
          </a:prstGeom>
        </p:spPr>
        <p:txBody>
          <a:bodyPr vert="horz" wrap="square" lIns="0" tIns="12700" rIns="0" bIns="0" rtlCol="0">
            <a:spAutoFit/>
          </a:bodyPr>
          <a:lstStyle/>
          <a:p>
            <a:pPr marL="12700">
              <a:lnSpc>
                <a:spcPct val="100000"/>
              </a:lnSpc>
              <a:spcBef>
                <a:spcPts val="100"/>
              </a:spcBef>
              <a:tabLst>
                <a:tab pos="2232025" algn="l"/>
              </a:tabLst>
            </a:pPr>
            <a:r>
              <a:rPr spc="-10" dirty="0"/>
              <a:t>Proposed</a:t>
            </a:r>
            <a:r>
              <a:rPr dirty="0"/>
              <a:t>	</a:t>
            </a:r>
            <a:r>
              <a:rPr spc="-10" dirty="0"/>
              <a:t>System</a:t>
            </a:r>
          </a:p>
        </p:txBody>
      </p:sp>
      <p:sp>
        <p:nvSpPr>
          <p:cNvPr id="8" name="object 8"/>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9" name="object 9"/>
          <p:cNvSpPr txBox="1">
            <a:spLocks noGrp="1"/>
          </p:cNvSpPr>
          <p:nvPr>
            <p:ph type="dt" sz="half" idx="6"/>
          </p:nvPr>
        </p:nvSpPr>
        <p:spPr>
          <a:xfrm>
            <a:off x="838200" y="6629309"/>
            <a:ext cx="5105400" cy="228691"/>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0" name="object 10"/>
          <p:cNvSpPr txBox="1"/>
          <p:nvPr/>
        </p:nvSpPr>
        <p:spPr>
          <a:xfrm>
            <a:off x="6477000" y="6641751"/>
            <a:ext cx="4114800"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9</a:t>
            </a:fld>
            <a:endParaRPr spc="-25" dirty="0"/>
          </a:p>
        </p:txBody>
      </p:sp>
      <p:sp>
        <p:nvSpPr>
          <p:cNvPr id="12" name="TextBox 11">
            <a:extLst>
              <a:ext uri="{FF2B5EF4-FFF2-40B4-BE49-F238E27FC236}">
                <a16:creationId xmlns:a16="http://schemas.microsoft.com/office/drawing/2014/main" id="{6DA35B3A-AD42-1F28-B059-A4E53A6761DF}"/>
              </a:ext>
            </a:extLst>
          </p:cNvPr>
          <p:cNvSpPr txBox="1"/>
          <p:nvPr/>
        </p:nvSpPr>
        <p:spPr>
          <a:xfrm>
            <a:off x="141783" y="1296412"/>
            <a:ext cx="11717040" cy="4524315"/>
          </a:xfrm>
          <a:prstGeom prst="rect">
            <a:avLst/>
          </a:prstGeom>
          <a:noFill/>
        </p:spPr>
        <p:txBody>
          <a:bodyPr wrap="square">
            <a:spAutoFit/>
          </a:bodyPr>
          <a:lstStyle/>
          <a:p>
            <a:pPr algn="just"/>
            <a:r>
              <a:rPr lang="en-IN" sz="2400" dirty="0"/>
              <a:t>	The proposed Smart Intruder Detection System integrates multiple sensors with a Raspberry Pi to enhance detection accuracy and reliability and </a:t>
            </a:r>
            <a:r>
              <a:rPr lang="en-US" sz="2400" dirty="0"/>
              <a:t>This System enhances security in restricted areas to accurately detect and identify intruders, even in dark or low-light </a:t>
            </a:r>
            <a:r>
              <a:rPr lang="en-US" sz="2400" dirty="0" err="1"/>
              <a:t>conditionsby</a:t>
            </a:r>
            <a:r>
              <a:rPr lang="en-US" sz="2400" dirty="0"/>
              <a:t> using </a:t>
            </a:r>
            <a:r>
              <a:rPr lang="en-IN" sz="2400" dirty="0"/>
              <a:t>PIR, ultrasonic, and sound sensors and these all work together to identify human motion, vehicle movement, and abnormal sound events, while a USB camera enables real-time face detection upon intrusion. The system intelligently processes sensor data to trigger alarms only during abnormal conditions, activating a buzzer and visual indicators through LEDs. This multi-sensor, vision-assisted approach reduces false alarms, improves response time, and provides a smart, automated, and cost-effective security solution suitable for residential, commercial, and restricted environments.</a:t>
            </a:r>
          </a:p>
          <a:p>
            <a:pPr algn="just"/>
            <a:endParaRPr lang="en-IN"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46DF-9040-BC6D-7AC6-8CAF8626C6F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CEEADFF-D81A-5717-81A4-8540B9DBEA53}"/>
              </a:ext>
            </a:extLst>
          </p:cNvPr>
          <p:cNvSpPr txBox="1"/>
          <p:nvPr/>
        </p:nvSpPr>
        <p:spPr>
          <a:xfrm>
            <a:off x="4715687" y="-18240"/>
            <a:ext cx="4199713"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9E49782B-3C9A-1626-CC7C-A910D652852B}"/>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06AFC87B-813B-E756-E532-5F3F5B1CF19B}"/>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826A6A07-658D-775F-0E31-DB515A23DC49}"/>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688203AB-2BCA-9655-96EE-AF22B4D125D1}"/>
              </a:ext>
            </a:extLst>
          </p:cNvPr>
          <p:cNvSpPr txBox="1">
            <a:spLocks noGrp="1"/>
          </p:cNvSpPr>
          <p:nvPr>
            <p:ph type="title"/>
          </p:nvPr>
        </p:nvSpPr>
        <p:spPr>
          <a:xfrm>
            <a:off x="141782" y="216249"/>
            <a:ext cx="4811217" cy="689932"/>
          </a:xfrm>
          <a:prstGeom prst="rect">
            <a:avLst/>
          </a:prstGeom>
        </p:spPr>
        <p:txBody>
          <a:bodyPr vert="horz" wrap="square" lIns="0" tIns="12700" rIns="0" bIns="0" rtlCol="0">
            <a:spAutoFit/>
          </a:bodyPr>
          <a:lstStyle/>
          <a:p>
            <a:pPr marL="12700">
              <a:lnSpc>
                <a:spcPct val="100000"/>
              </a:lnSpc>
              <a:spcBef>
                <a:spcPts val="100"/>
              </a:spcBef>
            </a:pPr>
            <a:r>
              <a:rPr lang="en-US" spc="-10" dirty="0"/>
              <a:t>Objectives</a:t>
            </a:r>
            <a:endParaRPr spc="-10" dirty="0"/>
          </a:p>
        </p:txBody>
      </p:sp>
      <p:sp>
        <p:nvSpPr>
          <p:cNvPr id="8" name="object 8">
            <a:extLst>
              <a:ext uri="{FF2B5EF4-FFF2-40B4-BE49-F238E27FC236}">
                <a16:creationId xmlns:a16="http://schemas.microsoft.com/office/drawing/2014/main" id="{B2D1655D-414A-6951-3A95-679391252258}"/>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spc="-25"/>
              <a:t>B - 07</a:t>
            </a:r>
            <a:endParaRPr spc="-25" dirty="0"/>
          </a:p>
        </p:txBody>
      </p:sp>
      <p:sp>
        <p:nvSpPr>
          <p:cNvPr id="9" name="object 9">
            <a:extLst>
              <a:ext uri="{FF2B5EF4-FFF2-40B4-BE49-F238E27FC236}">
                <a16:creationId xmlns:a16="http://schemas.microsoft.com/office/drawing/2014/main" id="{61325EB8-9CF1-00B1-F740-6D6E2540617B}"/>
              </a:ext>
            </a:extLst>
          </p:cNvPr>
          <p:cNvSpPr txBox="1">
            <a:spLocks noGrp="1"/>
          </p:cNvSpPr>
          <p:nvPr>
            <p:ph type="dt" sz="half" idx="6"/>
          </p:nvPr>
        </p:nvSpPr>
        <p:spPr>
          <a:xfrm>
            <a:off x="838200" y="6657769"/>
            <a:ext cx="5204485"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0" name="object 10">
            <a:extLst>
              <a:ext uri="{FF2B5EF4-FFF2-40B4-BE49-F238E27FC236}">
                <a16:creationId xmlns:a16="http://schemas.microsoft.com/office/drawing/2014/main" id="{53A4CE7D-8357-B2B1-8151-5CEED982D13E}"/>
              </a:ext>
            </a:extLst>
          </p:cNvPr>
          <p:cNvSpPr txBox="1"/>
          <p:nvPr/>
        </p:nvSpPr>
        <p:spPr>
          <a:xfrm>
            <a:off x="6516212" y="6639305"/>
            <a:ext cx="401284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212733BD-5CA0-E365-F2BE-6269A2EDD91F}"/>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10</a:t>
            </a:fld>
            <a:endParaRPr spc="-25" dirty="0"/>
          </a:p>
        </p:txBody>
      </p:sp>
      <p:sp>
        <p:nvSpPr>
          <p:cNvPr id="7" name="object 7">
            <a:extLst>
              <a:ext uri="{FF2B5EF4-FFF2-40B4-BE49-F238E27FC236}">
                <a16:creationId xmlns:a16="http://schemas.microsoft.com/office/drawing/2014/main" id="{B6FCCA25-41A1-5B7E-D644-1FBCCDBF0038}"/>
              </a:ext>
            </a:extLst>
          </p:cNvPr>
          <p:cNvSpPr txBox="1"/>
          <p:nvPr/>
        </p:nvSpPr>
        <p:spPr>
          <a:xfrm>
            <a:off x="-2" y="1146698"/>
            <a:ext cx="13182600" cy="430824"/>
          </a:xfrm>
          <a:prstGeom prst="rect">
            <a:avLst/>
          </a:prstGeom>
        </p:spPr>
        <p:txBody>
          <a:bodyPr vert="horz" wrap="square" lIns="0" tIns="12700" rIns="0" bIns="0" rtlCol="0">
            <a:spAutoFit/>
          </a:bodyPr>
          <a:lstStyle/>
          <a:p>
            <a:pPr marL="469900" marR="2094230" algn="just">
              <a:lnSpc>
                <a:spcPct val="124700"/>
              </a:lnSpc>
              <a:spcBef>
                <a:spcPts val="100"/>
              </a:spcBef>
            </a:pPr>
            <a:r>
              <a:rPr lang="en-US" sz="2400" dirty="0"/>
              <a:t>	</a:t>
            </a:r>
            <a:endParaRPr lang="en-US" sz="2400" b="1" dirty="0">
              <a:latin typeface="Times New Roman" panose="02020603050405020304" pitchFamily="18" charset="0"/>
              <a:cs typeface="Times New Roman" panose="02020603050405020304" pitchFamily="18" charset="0"/>
            </a:endParaRPr>
          </a:p>
        </p:txBody>
      </p:sp>
      <p:sp>
        <p:nvSpPr>
          <p:cNvPr id="15" name="Rectangle 4">
            <a:extLst>
              <a:ext uri="{FF2B5EF4-FFF2-40B4-BE49-F238E27FC236}">
                <a16:creationId xmlns:a16="http://schemas.microsoft.com/office/drawing/2014/main" id="{E0E2DC9C-94D4-DBF4-B6CA-38810D97C414}"/>
              </a:ext>
            </a:extLst>
          </p:cNvPr>
          <p:cNvSpPr>
            <a:spLocks noChangeArrowheads="1"/>
          </p:cNvSpPr>
          <p:nvPr/>
        </p:nvSpPr>
        <p:spPr bwMode="auto">
          <a:xfrm>
            <a:off x="387143" y="1150502"/>
            <a:ext cx="1141771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0" fontAlgn="base" latinLnBrk="0" hangingPunct="0">
              <a:lnSpc>
                <a:spcPct val="100000"/>
              </a:lnSpc>
              <a:spcBef>
                <a:spcPct val="0"/>
              </a:spcBef>
              <a:spcAft>
                <a:spcPct val="0"/>
              </a:spcAft>
              <a:buClrTx/>
              <a:buSzTx/>
              <a:buFontTx/>
              <a:buAutoNum type="arabicPeriod"/>
              <a:tabLst/>
            </a:pPr>
            <a:r>
              <a:rPr lang="en-US" sz="2400" b="1" dirty="0">
                <a:latin typeface="Times New Roman" panose="02020603050405020304" pitchFamily="18" charset="0"/>
                <a:cs typeface="Times New Roman" panose="02020603050405020304" pitchFamily="18" charset="0"/>
              </a:rPr>
              <a:t>Intruder Detection in Low-Light and Abnormal Conditions:</a:t>
            </a:r>
          </a:p>
          <a:p>
            <a:pPr marR="0" lvl="0" algn="just" defTabSz="914400" rtl="0" eaLnBrk="0" fontAlgn="base" latinLnBrk="0" hangingPunct="0">
              <a:lnSpc>
                <a:spcPct val="100000"/>
              </a:lnSpc>
              <a:spcBef>
                <a:spcPct val="0"/>
              </a:spcBef>
              <a:spcAft>
                <a:spcPct val="0"/>
              </a:spcAft>
              <a:buClrTx/>
              <a:buSzTx/>
              <a:tabLst/>
            </a:pPr>
            <a:r>
              <a:rPr lang="en-US" sz="2400" dirty="0">
                <a:latin typeface="Times New Roman" panose="02020603050405020304" pitchFamily="18" charset="0"/>
                <a:cs typeface="Times New Roman" panose="02020603050405020304" pitchFamily="18" charset="0"/>
              </a:rPr>
              <a:t>	The Smart Intruder Detection System is designed to accurately detect unauthorized individuals even in dark or low-light environments and during abnormal conditions. It continuously monitors restricted areas using a PIR sensor for human motion detection, an ultrasonic sensor for movement sensing, and a USB camera for real-time monitoring, all processed through a Raspberry Pi to ensure reliable and continuous surveillance.</a:t>
            </a:r>
          </a:p>
          <a:p>
            <a:pPr marR="0" lvl="0" algn="just" defTabSz="914400" rtl="0" eaLnBrk="0" fontAlgn="base" latinLnBrk="0" hangingPunct="0">
              <a:lnSpc>
                <a:spcPct val="100000"/>
              </a:lnSpc>
              <a:spcBef>
                <a:spcPct val="0"/>
              </a:spcBef>
              <a:spcAft>
                <a:spcPct val="0"/>
              </a:spcAft>
              <a:buClrTx/>
              <a:buSzTx/>
              <a:tabLst/>
            </a:pPr>
            <a:r>
              <a:rPr lang="en-US" sz="2400" b="1" dirty="0">
                <a:latin typeface="Times New Roman" panose="02020603050405020304" pitchFamily="18" charset="0"/>
                <a:cs typeface="Times New Roman" panose="02020603050405020304" pitchFamily="18" charset="0"/>
              </a:rPr>
              <a:t>2.   Anomaly Detection and Intelligent Differentiation:</a:t>
            </a:r>
          </a:p>
          <a:p>
            <a:pPr marR="0" lvl="0" algn="just" defTabSz="914400" rtl="0" eaLnBrk="0" fontAlgn="base" latinLnBrk="0" hangingPunct="0">
              <a:lnSpc>
                <a:spcPct val="100000"/>
              </a:lnSpc>
              <a:spcBef>
                <a:spcPct val="0"/>
              </a:spcBef>
              <a:spcAft>
                <a:spcPct val="0"/>
              </a:spcAft>
              <a:buClrTx/>
              <a:buSzTx/>
              <a:tabLst/>
            </a:pPr>
            <a:r>
              <a:rPr lang="en-US" sz="2400" dirty="0">
                <a:latin typeface="Times New Roman" panose="02020603050405020304" pitchFamily="18" charset="0"/>
                <a:cs typeface="Times New Roman" panose="02020603050405020304" pitchFamily="18" charset="0"/>
              </a:rPr>
              <a:t>	The system aims to intelligently differentiate between humans, animals, shadows, and other non-threatening movements by combining multi-sensor data with image-based analysis. Using sensor fusion techniques and OpenCV-based processing, the system minimizes unnecessary triggers and improves detection accuracy compared to traditional single-sensor security systems.</a:t>
            </a:r>
          </a:p>
          <a:p>
            <a:pPr marR="0" lvl="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57200" marR="0" lvl="0" indent="-457200" algn="just" defTabSz="914400" rtl="0" eaLnBrk="0" fontAlgn="base" latinLnBrk="0" hangingPunct="0">
              <a:lnSpc>
                <a:spcPct val="100000"/>
              </a:lnSpc>
              <a:spcBef>
                <a:spcPct val="0"/>
              </a:spcBef>
              <a:spcAft>
                <a:spcPct val="0"/>
              </a:spcAft>
              <a:buClrTx/>
              <a:buSzTx/>
              <a:buFontTx/>
              <a:buAutoNum type="arabicPeriod"/>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9676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BF435-DBE1-8695-C3E6-4CBB86416F2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C185EBF-B06B-61AF-FFF0-53F1C9937F3F}"/>
              </a:ext>
            </a:extLst>
          </p:cNvPr>
          <p:cNvSpPr txBox="1"/>
          <p:nvPr/>
        </p:nvSpPr>
        <p:spPr>
          <a:xfrm>
            <a:off x="4715687" y="-18240"/>
            <a:ext cx="4199713"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6C4F554E-A867-EDFD-1159-573949AB6949}"/>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4D5AE97E-6FDB-1019-B901-CB4FA9A30D74}"/>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9D9E06FA-4487-85EB-FC5F-D51F6325DBF3}"/>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8E343A26-E508-60BD-86F5-62CCF121A908}"/>
              </a:ext>
            </a:extLst>
          </p:cNvPr>
          <p:cNvSpPr txBox="1">
            <a:spLocks noGrp="1"/>
          </p:cNvSpPr>
          <p:nvPr>
            <p:ph type="title"/>
          </p:nvPr>
        </p:nvSpPr>
        <p:spPr>
          <a:xfrm>
            <a:off x="141782" y="216249"/>
            <a:ext cx="4811217" cy="689932"/>
          </a:xfrm>
          <a:prstGeom prst="rect">
            <a:avLst/>
          </a:prstGeom>
        </p:spPr>
        <p:txBody>
          <a:bodyPr vert="horz" wrap="square" lIns="0" tIns="12700" rIns="0" bIns="0" rtlCol="0">
            <a:spAutoFit/>
          </a:bodyPr>
          <a:lstStyle/>
          <a:p>
            <a:pPr marL="12700">
              <a:lnSpc>
                <a:spcPct val="100000"/>
              </a:lnSpc>
              <a:spcBef>
                <a:spcPts val="100"/>
              </a:spcBef>
            </a:pPr>
            <a:r>
              <a:rPr lang="en-US" spc="-10" dirty="0" err="1"/>
              <a:t>Contd</a:t>
            </a:r>
            <a:r>
              <a:rPr lang="en-US" spc="-10" dirty="0"/>
              <a:t>…</a:t>
            </a:r>
            <a:endParaRPr spc="-10" dirty="0"/>
          </a:p>
        </p:txBody>
      </p:sp>
      <p:sp>
        <p:nvSpPr>
          <p:cNvPr id="8" name="object 8">
            <a:extLst>
              <a:ext uri="{FF2B5EF4-FFF2-40B4-BE49-F238E27FC236}">
                <a16:creationId xmlns:a16="http://schemas.microsoft.com/office/drawing/2014/main" id="{F18F1782-3F2E-3B5B-F438-1BDEB41CB826}"/>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spc="-25"/>
              <a:t>B - 07</a:t>
            </a:r>
            <a:endParaRPr spc="-25" dirty="0"/>
          </a:p>
        </p:txBody>
      </p:sp>
      <p:sp>
        <p:nvSpPr>
          <p:cNvPr id="9" name="object 9">
            <a:extLst>
              <a:ext uri="{FF2B5EF4-FFF2-40B4-BE49-F238E27FC236}">
                <a16:creationId xmlns:a16="http://schemas.microsoft.com/office/drawing/2014/main" id="{E7826535-16E6-D82C-B64C-7F000268FD1A}"/>
              </a:ext>
            </a:extLst>
          </p:cNvPr>
          <p:cNvSpPr txBox="1">
            <a:spLocks noGrp="1"/>
          </p:cNvSpPr>
          <p:nvPr>
            <p:ph type="dt" sz="half" idx="6"/>
          </p:nvPr>
        </p:nvSpPr>
        <p:spPr>
          <a:xfrm>
            <a:off x="838200" y="6657769"/>
            <a:ext cx="5204485" cy="230832"/>
          </a:xfrm>
          <a:prstGeom prst="rect">
            <a:avLst/>
          </a:prstGeom>
        </p:spPr>
        <p:txBody>
          <a:bodyPr vert="horz" wrap="square" lIns="0" tIns="0" rIns="0" bIns="0" rtlCol="0">
            <a:spAutoFit/>
          </a:bodyPr>
          <a:lstStyle/>
          <a:p>
            <a:pPr marL="12700">
              <a:lnSpc>
                <a:spcPts val="1845"/>
              </a:lnSpc>
            </a:pPr>
            <a:r>
              <a:rPr lang="en-US" cap="small" spc="-75" dirty="0"/>
              <a:t>Dept. of Computer Science and Engineering (Data Science)                   Srinivasa Ramanujan Institute of Technology </a:t>
            </a:r>
            <a:endParaRPr cap="small" spc="-95" dirty="0"/>
          </a:p>
        </p:txBody>
      </p:sp>
      <p:sp>
        <p:nvSpPr>
          <p:cNvPr id="10" name="object 10">
            <a:extLst>
              <a:ext uri="{FF2B5EF4-FFF2-40B4-BE49-F238E27FC236}">
                <a16:creationId xmlns:a16="http://schemas.microsoft.com/office/drawing/2014/main" id="{C04E3F4E-8CB1-0C46-5910-17AFF832A5FA}"/>
              </a:ext>
            </a:extLst>
          </p:cNvPr>
          <p:cNvSpPr txBox="1"/>
          <p:nvPr/>
        </p:nvSpPr>
        <p:spPr>
          <a:xfrm>
            <a:off x="6516212" y="6639305"/>
            <a:ext cx="401284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6A7AE3C3-E8D1-B59E-9A28-5AE1AEA28A46}"/>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11</a:t>
            </a:fld>
            <a:endParaRPr spc="-25" dirty="0"/>
          </a:p>
        </p:txBody>
      </p:sp>
      <p:sp>
        <p:nvSpPr>
          <p:cNvPr id="7" name="object 7">
            <a:extLst>
              <a:ext uri="{FF2B5EF4-FFF2-40B4-BE49-F238E27FC236}">
                <a16:creationId xmlns:a16="http://schemas.microsoft.com/office/drawing/2014/main" id="{2F8A795A-5DB1-210F-4008-7739B09CD26C}"/>
              </a:ext>
            </a:extLst>
          </p:cNvPr>
          <p:cNvSpPr txBox="1"/>
          <p:nvPr/>
        </p:nvSpPr>
        <p:spPr>
          <a:xfrm>
            <a:off x="-2" y="1146698"/>
            <a:ext cx="13182600" cy="430824"/>
          </a:xfrm>
          <a:prstGeom prst="rect">
            <a:avLst/>
          </a:prstGeom>
        </p:spPr>
        <p:txBody>
          <a:bodyPr vert="horz" wrap="square" lIns="0" tIns="12700" rIns="0" bIns="0" rtlCol="0">
            <a:spAutoFit/>
          </a:bodyPr>
          <a:lstStyle/>
          <a:p>
            <a:pPr marL="469900" marR="2094230" algn="just">
              <a:lnSpc>
                <a:spcPct val="124700"/>
              </a:lnSpc>
              <a:spcBef>
                <a:spcPts val="100"/>
              </a:spcBef>
            </a:pPr>
            <a:r>
              <a:rPr lang="en-US" sz="2400" dirty="0"/>
              <a:t>	</a:t>
            </a:r>
            <a:endParaRPr lang="en-US" sz="2400" b="1" dirty="0">
              <a:latin typeface="Times New Roman" panose="02020603050405020304" pitchFamily="18" charset="0"/>
              <a:cs typeface="Times New Roman" panose="02020603050405020304" pitchFamily="18" charset="0"/>
            </a:endParaRPr>
          </a:p>
        </p:txBody>
      </p:sp>
      <p:sp>
        <p:nvSpPr>
          <p:cNvPr id="15" name="Rectangle 4">
            <a:extLst>
              <a:ext uri="{FF2B5EF4-FFF2-40B4-BE49-F238E27FC236}">
                <a16:creationId xmlns:a16="http://schemas.microsoft.com/office/drawing/2014/main" id="{3836D99B-CCA2-1D57-B2B3-F6F241FE119F}"/>
              </a:ext>
            </a:extLst>
          </p:cNvPr>
          <p:cNvSpPr>
            <a:spLocks noChangeArrowheads="1"/>
          </p:cNvSpPr>
          <p:nvPr/>
        </p:nvSpPr>
        <p:spPr bwMode="auto">
          <a:xfrm>
            <a:off x="141782" y="835376"/>
            <a:ext cx="1141771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gn="just">
              <a:buAutoNum type="arabicPeriod" startAt="3"/>
            </a:pPr>
            <a:endParaRPr lang="en-US" sz="2400" b="1" dirty="0">
              <a:latin typeface="Times New Roman" panose="02020603050405020304" pitchFamily="18" charset="0"/>
              <a:cs typeface="Times New Roman" panose="02020603050405020304" pitchFamily="18" charset="0"/>
            </a:endParaRPr>
          </a:p>
          <a:p>
            <a:pPr marL="457200" indent="-457200" algn="just">
              <a:buAutoNum type="arabicPeriod" startAt="3"/>
            </a:pPr>
            <a:r>
              <a:rPr lang="en-US" sz="2400" b="1" dirty="0">
                <a:latin typeface="Times New Roman" panose="02020603050405020304" pitchFamily="18" charset="0"/>
                <a:cs typeface="Times New Roman" panose="02020603050405020304" pitchFamily="18" charset="0"/>
              </a:rPr>
              <a:t>Face Recognition and Voice/Sound Detection:</a:t>
            </a:r>
          </a:p>
          <a:p>
            <a:pPr algn="just"/>
            <a:r>
              <a:rPr lang="en-US" sz="2400" dirty="0">
                <a:latin typeface="Times New Roman" panose="02020603050405020304" pitchFamily="18" charset="0"/>
                <a:cs typeface="Times New Roman" panose="02020603050405020304" pitchFamily="18" charset="0"/>
              </a:rPr>
              <a:t> 	Another key objective is to implement real-time face recognition and sound               detection to enhance security verification. The USB camera performs face detection and compares it with an authorized database, while the sound sensor detects unusual acoustic activities or suspicious voices, enabling the system to identify potential threats more effectively.</a:t>
            </a:r>
          </a:p>
          <a:p>
            <a:pPr marL="457200" indent="-457200" algn="l">
              <a:buFont typeface="+mj-lt"/>
              <a:buAutoNum type="arabicPeriod" startAt="4"/>
            </a:pPr>
            <a:r>
              <a:rPr lang="en-US" sz="2400" b="1" dirty="0">
                <a:latin typeface="Times New Roman" panose="02020603050405020304" pitchFamily="18" charset="0"/>
                <a:cs typeface="Times New Roman" panose="02020603050405020304" pitchFamily="18" charset="0"/>
              </a:rPr>
              <a:t>Instant Alert and Notification System:</a:t>
            </a:r>
          </a:p>
          <a:p>
            <a:pPr algn="just"/>
            <a:r>
              <a:rPr lang="en-US" sz="2400" dirty="0">
                <a:latin typeface="Times New Roman" panose="02020603050405020304" pitchFamily="18" charset="0"/>
                <a:cs typeface="Times New Roman" panose="02020603050405020304" pitchFamily="18" charset="0"/>
              </a:rPr>
              <a:t>	The system is designed to provide immediate alerts when an intruder or abnormal                                     activity is detected. It automatically captures images using the USB camera and sends them to authorized users through email notifications for quick response. Additionally, it activates LEDs and a buzzer to generate visual and audio alerts, ensuring real-time indication of potential security threats.</a:t>
            </a:r>
          </a:p>
          <a:p>
            <a:pPr algn="l"/>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6638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35CE9-C308-455B-AF1A-8E490BAE5F2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B262699-9C49-4A8A-9613-366FD7145976}"/>
              </a:ext>
            </a:extLst>
          </p:cNvPr>
          <p:cNvSpPr txBox="1"/>
          <p:nvPr/>
        </p:nvSpPr>
        <p:spPr>
          <a:xfrm>
            <a:off x="4715687" y="-18240"/>
            <a:ext cx="4199713"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8CCB8E67-BAB9-BDF0-35B4-5D279EF660B5}"/>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774D13FB-63A1-09F8-57C3-835F26E713BC}"/>
                </a:ext>
              </a:extLst>
            </p:cNvPr>
            <p:cNvPicPr/>
            <p:nvPr/>
          </p:nvPicPr>
          <p:blipFill>
            <a:blip r:embed="rId3"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82C14C8B-6F46-69C6-94FD-D5607FFDD425}"/>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D88BE766-481A-744B-BF25-6188A698309C}"/>
              </a:ext>
            </a:extLst>
          </p:cNvPr>
          <p:cNvSpPr txBox="1">
            <a:spLocks noGrp="1"/>
          </p:cNvSpPr>
          <p:nvPr>
            <p:ph type="title"/>
          </p:nvPr>
        </p:nvSpPr>
        <p:spPr>
          <a:xfrm>
            <a:off x="141782" y="216249"/>
            <a:ext cx="4811217" cy="689932"/>
          </a:xfrm>
          <a:prstGeom prst="rect">
            <a:avLst/>
          </a:prstGeom>
        </p:spPr>
        <p:txBody>
          <a:bodyPr vert="horz" wrap="square" lIns="0" tIns="12700" rIns="0" bIns="0" rtlCol="0">
            <a:spAutoFit/>
          </a:bodyPr>
          <a:lstStyle/>
          <a:p>
            <a:pPr marL="12700">
              <a:lnSpc>
                <a:spcPct val="100000"/>
              </a:lnSpc>
              <a:spcBef>
                <a:spcPts val="100"/>
              </a:spcBef>
            </a:pPr>
            <a:r>
              <a:rPr lang="en-US" spc="-10" dirty="0" err="1"/>
              <a:t>Contd</a:t>
            </a:r>
            <a:r>
              <a:rPr lang="en-US" spc="-10" dirty="0"/>
              <a:t>…</a:t>
            </a:r>
            <a:endParaRPr spc="-10" dirty="0"/>
          </a:p>
        </p:txBody>
      </p:sp>
      <p:sp>
        <p:nvSpPr>
          <p:cNvPr id="8" name="object 8">
            <a:extLst>
              <a:ext uri="{FF2B5EF4-FFF2-40B4-BE49-F238E27FC236}">
                <a16:creationId xmlns:a16="http://schemas.microsoft.com/office/drawing/2014/main" id="{A90D7C83-27B4-3920-270C-48C89A9EF680}"/>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spc="-25"/>
              <a:t>B - 07</a:t>
            </a:r>
            <a:endParaRPr spc="-25" dirty="0"/>
          </a:p>
        </p:txBody>
      </p:sp>
      <p:sp>
        <p:nvSpPr>
          <p:cNvPr id="9" name="object 9">
            <a:extLst>
              <a:ext uri="{FF2B5EF4-FFF2-40B4-BE49-F238E27FC236}">
                <a16:creationId xmlns:a16="http://schemas.microsoft.com/office/drawing/2014/main" id="{DC7752C1-21BC-27AB-7789-004389307776}"/>
              </a:ext>
            </a:extLst>
          </p:cNvPr>
          <p:cNvSpPr txBox="1">
            <a:spLocks noGrp="1"/>
          </p:cNvSpPr>
          <p:nvPr>
            <p:ph type="dt" sz="half" idx="6"/>
          </p:nvPr>
        </p:nvSpPr>
        <p:spPr>
          <a:xfrm>
            <a:off x="838200" y="6657769"/>
            <a:ext cx="5204485"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0" name="object 10">
            <a:extLst>
              <a:ext uri="{FF2B5EF4-FFF2-40B4-BE49-F238E27FC236}">
                <a16:creationId xmlns:a16="http://schemas.microsoft.com/office/drawing/2014/main" id="{23832C8A-2B64-50E0-3380-C359BD2E3DAA}"/>
              </a:ext>
            </a:extLst>
          </p:cNvPr>
          <p:cNvSpPr txBox="1"/>
          <p:nvPr/>
        </p:nvSpPr>
        <p:spPr>
          <a:xfrm>
            <a:off x="6516212" y="6639305"/>
            <a:ext cx="4012849"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1" name="object 11">
            <a:extLst>
              <a:ext uri="{FF2B5EF4-FFF2-40B4-BE49-F238E27FC236}">
                <a16:creationId xmlns:a16="http://schemas.microsoft.com/office/drawing/2014/main" id="{9524C816-6C4D-03FD-F3D3-AF1F3E1842D0}"/>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12</a:t>
            </a:fld>
            <a:endParaRPr spc="-25" dirty="0"/>
          </a:p>
        </p:txBody>
      </p:sp>
      <p:sp>
        <p:nvSpPr>
          <p:cNvPr id="7" name="object 7">
            <a:extLst>
              <a:ext uri="{FF2B5EF4-FFF2-40B4-BE49-F238E27FC236}">
                <a16:creationId xmlns:a16="http://schemas.microsoft.com/office/drawing/2014/main" id="{79FFF9A9-432D-04B7-FC10-27400BB7E8C4}"/>
              </a:ext>
            </a:extLst>
          </p:cNvPr>
          <p:cNvSpPr txBox="1"/>
          <p:nvPr/>
        </p:nvSpPr>
        <p:spPr>
          <a:xfrm>
            <a:off x="-2" y="1146698"/>
            <a:ext cx="13182600" cy="430824"/>
          </a:xfrm>
          <a:prstGeom prst="rect">
            <a:avLst/>
          </a:prstGeom>
        </p:spPr>
        <p:txBody>
          <a:bodyPr vert="horz" wrap="square" lIns="0" tIns="12700" rIns="0" bIns="0" rtlCol="0">
            <a:spAutoFit/>
          </a:bodyPr>
          <a:lstStyle/>
          <a:p>
            <a:pPr marL="469900" marR="2094230" algn="just">
              <a:lnSpc>
                <a:spcPct val="124700"/>
              </a:lnSpc>
              <a:spcBef>
                <a:spcPts val="100"/>
              </a:spcBef>
            </a:pPr>
            <a:r>
              <a:rPr lang="en-US" sz="2400" dirty="0"/>
              <a:t>	</a:t>
            </a:r>
            <a:endParaRPr lang="en-US" sz="2400" b="1" dirty="0">
              <a:latin typeface="Times New Roman" panose="02020603050405020304" pitchFamily="18" charset="0"/>
              <a:cs typeface="Times New Roman" panose="02020603050405020304" pitchFamily="18" charset="0"/>
            </a:endParaRPr>
          </a:p>
        </p:txBody>
      </p:sp>
      <p:sp>
        <p:nvSpPr>
          <p:cNvPr id="15" name="Rectangle 4">
            <a:extLst>
              <a:ext uri="{FF2B5EF4-FFF2-40B4-BE49-F238E27FC236}">
                <a16:creationId xmlns:a16="http://schemas.microsoft.com/office/drawing/2014/main" id="{5D25E8F2-0523-A59B-F726-03F0E37E0536}"/>
              </a:ext>
            </a:extLst>
          </p:cNvPr>
          <p:cNvSpPr>
            <a:spLocks noChangeArrowheads="1"/>
          </p:cNvSpPr>
          <p:nvPr/>
        </p:nvSpPr>
        <p:spPr bwMode="auto">
          <a:xfrm>
            <a:off x="31953" y="1362110"/>
            <a:ext cx="1141771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lgn="l">
              <a:buFont typeface="+mj-lt"/>
              <a:buAutoNum type="arabicPeriod" startAt="5"/>
            </a:pPr>
            <a:r>
              <a:rPr lang="en-US" sz="2400" b="1" dirty="0">
                <a:latin typeface="Times New Roman" panose="02020603050405020304" pitchFamily="18" charset="0"/>
                <a:cs typeface="Times New Roman" panose="02020603050405020304" pitchFamily="18" charset="0"/>
              </a:rPr>
              <a:t>Reduction of False Alarms:</a:t>
            </a:r>
          </a:p>
          <a:p>
            <a:pPr algn="l"/>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system aims to minimize false alarms by integrating multi-sensor data fusion, face recognition, and anomaly detection techniques. By intelligently distinguishing between humans, animals, shadows, and other non-threatening movements, the system improves detection accuracy and enhances the reliability of security monitoring compared to other systems.</a:t>
            </a:r>
          </a:p>
          <a:p>
            <a:endParaRPr lang="en-US" sz="2400" dirty="0"/>
          </a:p>
        </p:txBody>
      </p:sp>
    </p:spTree>
    <p:extLst>
      <p:ext uri="{BB962C8B-B14F-4D97-AF65-F5344CB8AC3E}">
        <p14:creationId xmlns:p14="http://schemas.microsoft.com/office/powerpoint/2010/main" val="167468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76800" y="-27407"/>
            <a:ext cx="47244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p:cNvGrpSpPr/>
          <p:nvPr/>
        </p:nvGrpSpPr>
        <p:grpSpPr>
          <a:xfrm>
            <a:off x="-2" y="216249"/>
            <a:ext cx="12192000" cy="803910"/>
            <a:chOff x="-2" y="216249"/>
            <a:chExt cx="12192000" cy="803910"/>
          </a:xfrm>
        </p:grpSpPr>
        <p:pic>
          <p:nvPicPr>
            <p:cNvPr id="4" name="object 4"/>
            <p:cNvPicPr/>
            <p:nvPr/>
          </p:nvPicPr>
          <p:blipFill>
            <a:blip r:embed="rId2" cstate="print"/>
            <a:stretch>
              <a:fillRect/>
            </a:stretch>
          </p:blipFill>
          <p:spPr>
            <a:xfrm>
              <a:off x="0" y="216249"/>
              <a:ext cx="12192000" cy="803792"/>
            </a:xfrm>
            <a:prstGeom prst="rect">
              <a:avLst/>
            </a:prstGeom>
          </p:spPr>
        </p:pic>
        <p:sp>
          <p:nvSpPr>
            <p:cNvPr id="5" name="object 5"/>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p:cNvSpPr txBox="1">
            <a:spLocks noGrp="1"/>
          </p:cNvSpPr>
          <p:nvPr>
            <p:ph type="title"/>
          </p:nvPr>
        </p:nvSpPr>
        <p:spPr>
          <a:xfrm>
            <a:off x="141782" y="198892"/>
            <a:ext cx="7706817" cy="689932"/>
          </a:xfrm>
          <a:prstGeom prst="rect">
            <a:avLst/>
          </a:prstGeom>
        </p:spPr>
        <p:txBody>
          <a:bodyPr vert="horz" wrap="square" lIns="0" tIns="12700" rIns="0" bIns="0" rtlCol="0">
            <a:spAutoFit/>
          </a:bodyPr>
          <a:lstStyle/>
          <a:p>
            <a:pPr marL="12700">
              <a:lnSpc>
                <a:spcPct val="100000"/>
              </a:lnSpc>
              <a:spcBef>
                <a:spcPts val="100"/>
              </a:spcBef>
            </a:pPr>
            <a:r>
              <a:rPr lang="en-IN" spc="-10" dirty="0">
                <a:latin typeface="Times New Roman" panose="02020603050405020304" pitchFamily="18" charset="0"/>
                <a:cs typeface="Times New Roman" panose="02020603050405020304" pitchFamily="18" charset="0"/>
              </a:rPr>
              <a:t>Planning and Design</a:t>
            </a:r>
            <a:endParaRPr spc="-10" dirty="0">
              <a:latin typeface="Times New Roman" panose="02020603050405020304" pitchFamily="18" charset="0"/>
              <a:cs typeface="Times New Roman" panose="02020603050405020304" pitchFamily="18" charset="0"/>
            </a:endParaRPr>
          </a:p>
        </p:txBody>
      </p:sp>
      <p:sp>
        <p:nvSpPr>
          <p:cNvPr id="9" name="object 9"/>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10" name="object 10"/>
          <p:cNvSpPr txBox="1">
            <a:spLocks noGrp="1"/>
          </p:cNvSpPr>
          <p:nvPr>
            <p:ph type="dt" sz="half" idx="6"/>
          </p:nvPr>
        </p:nvSpPr>
        <p:spPr>
          <a:xfrm>
            <a:off x="838200" y="6641751"/>
            <a:ext cx="5181600"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1" name="object 11"/>
          <p:cNvSpPr txBox="1"/>
          <p:nvPr/>
        </p:nvSpPr>
        <p:spPr>
          <a:xfrm>
            <a:off x="6525636" y="6641751"/>
            <a:ext cx="3913764"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13</a:t>
            </a:fld>
            <a:endParaRPr spc="-25" dirty="0"/>
          </a:p>
        </p:txBody>
      </p:sp>
      <p:sp>
        <p:nvSpPr>
          <p:cNvPr id="15" name="TextBox 14">
            <a:extLst>
              <a:ext uri="{FF2B5EF4-FFF2-40B4-BE49-F238E27FC236}">
                <a16:creationId xmlns:a16="http://schemas.microsoft.com/office/drawing/2014/main" id="{DFBEC0A3-4E6A-DB58-E6AB-8073B45A6077}"/>
              </a:ext>
            </a:extLst>
          </p:cNvPr>
          <p:cNvSpPr txBox="1"/>
          <p:nvPr/>
        </p:nvSpPr>
        <p:spPr>
          <a:xfrm>
            <a:off x="161833" y="4876800"/>
            <a:ext cx="5181600" cy="1569660"/>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Software Requirements     </a:t>
            </a:r>
          </a:p>
          <a:p>
            <a:r>
              <a:rPr lang="en-IN" sz="2000" dirty="0">
                <a:latin typeface="Times New Roman" panose="02020603050405020304" pitchFamily="18" charset="0"/>
                <a:cs typeface="Times New Roman" panose="02020603050405020304" pitchFamily="18" charset="0"/>
              </a:rPr>
              <a:t>Python </a:t>
            </a:r>
          </a:p>
          <a:p>
            <a:r>
              <a:rPr lang="en-IN" sz="2000" dirty="0">
                <a:latin typeface="Times New Roman" panose="02020603050405020304" pitchFamily="18" charset="0"/>
                <a:cs typeface="Times New Roman" panose="02020603050405020304" pitchFamily="18" charset="0"/>
              </a:rPr>
              <a:t>Open </a:t>
            </a:r>
            <a:r>
              <a:rPr lang="en-IN" sz="2000" dirty="0" err="1">
                <a:latin typeface="Times New Roman" panose="02020603050405020304" pitchFamily="18" charset="0"/>
                <a:cs typeface="Times New Roman" panose="02020603050405020304" pitchFamily="18" charset="0"/>
              </a:rPr>
              <a:t>Cv</a:t>
            </a:r>
            <a:endParaRPr lang="en-IN" sz="2000" dirty="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SMTPSS</a:t>
            </a:r>
            <a:endParaRPr lang="en-IN" sz="20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7C715123-1641-4006-02CD-8F84989FF121}"/>
              </a:ext>
            </a:extLst>
          </p:cNvPr>
          <p:cNvSpPr txBox="1"/>
          <p:nvPr/>
        </p:nvSpPr>
        <p:spPr>
          <a:xfrm>
            <a:off x="161833" y="810189"/>
            <a:ext cx="4572000" cy="4431983"/>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IN" sz="2400" b="1" dirty="0">
                <a:latin typeface="Times New Roman" panose="02020603050405020304" pitchFamily="18" charset="0"/>
                <a:cs typeface="Times New Roman" panose="02020603050405020304" pitchFamily="18" charset="0"/>
              </a:rPr>
              <a:t>Hardware Requirements     </a:t>
            </a:r>
          </a:p>
          <a:p>
            <a:r>
              <a:rPr lang="en-IN" sz="2000" dirty="0">
                <a:latin typeface="Times New Roman" panose="02020603050405020304" pitchFamily="18" charset="0"/>
                <a:cs typeface="Times New Roman" panose="02020603050405020304" pitchFamily="18" charset="0"/>
              </a:rPr>
              <a:t>Raspberry pi</a:t>
            </a:r>
          </a:p>
          <a:p>
            <a:r>
              <a:rPr lang="en-IN" sz="2000" dirty="0">
                <a:latin typeface="Times New Roman" panose="02020603050405020304" pitchFamily="18" charset="0"/>
                <a:cs typeface="Times New Roman" panose="02020603050405020304" pitchFamily="18" charset="0"/>
              </a:rPr>
              <a:t>Memory card</a:t>
            </a:r>
          </a:p>
          <a:p>
            <a:r>
              <a:rPr lang="en-IN" sz="2000" dirty="0" err="1">
                <a:latin typeface="Times New Roman" panose="02020603050405020304" pitchFamily="18" charset="0"/>
                <a:cs typeface="Times New Roman" panose="02020603050405020304" pitchFamily="18" charset="0"/>
              </a:rPr>
              <a:t>Usb</a:t>
            </a:r>
            <a:r>
              <a:rPr lang="en-IN" sz="2000" dirty="0">
                <a:latin typeface="Times New Roman" panose="02020603050405020304" pitchFamily="18" charset="0"/>
                <a:cs typeface="Times New Roman" panose="02020603050405020304" pitchFamily="18" charset="0"/>
              </a:rPr>
              <a:t> camera</a:t>
            </a:r>
          </a:p>
          <a:p>
            <a:r>
              <a:rPr lang="en-IN" sz="2000" dirty="0">
                <a:latin typeface="Times New Roman" panose="02020603050405020304" pitchFamily="18" charset="0"/>
                <a:cs typeface="Times New Roman" panose="02020603050405020304" pitchFamily="18" charset="0"/>
              </a:rPr>
              <a:t>pir sensor</a:t>
            </a:r>
          </a:p>
          <a:p>
            <a:r>
              <a:rPr lang="en-IN" sz="2000" dirty="0">
                <a:latin typeface="Times New Roman" panose="02020603050405020304" pitchFamily="18" charset="0"/>
                <a:cs typeface="Times New Roman" panose="02020603050405020304" pitchFamily="18" charset="0"/>
              </a:rPr>
              <a:t>Ultrasonic sensor</a:t>
            </a:r>
          </a:p>
          <a:p>
            <a:r>
              <a:rPr lang="en-IN" sz="2000" dirty="0">
                <a:latin typeface="Times New Roman" panose="02020603050405020304" pitchFamily="18" charset="0"/>
                <a:cs typeface="Times New Roman" panose="02020603050405020304" pitchFamily="18" charset="0"/>
              </a:rPr>
              <a:t>sound sensor</a:t>
            </a:r>
          </a:p>
          <a:p>
            <a:r>
              <a:rPr lang="en-IN" sz="2000" dirty="0">
                <a:latin typeface="Times New Roman" panose="02020603050405020304" pitchFamily="18" charset="0"/>
                <a:cs typeface="Times New Roman" panose="02020603050405020304" pitchFamily="18" charset="0"/>
              </a:rPr>
              <a:t>Buzzer</a:t>
            </a:r>
          </a:p>
          <a:p>
            <a:r>
              <a:rPr lang="en-IN" sz="2000" dirty="0">
                <a:latin typeface="Times New Roman" panose="02020603050405020304" pitchFamily="18" charset="0"/>
                <a:cs typeface="Times New Roman" panose="02020603050405020304" pitchFamily="18" charset="0"/>
              </a:rPr>
              <a:t>Red led</a:t>
            </a:r>
          </a:p>
          <a:p>
            <a:r>
              <a:rPr lang="en-IN" sz="2000" dirty="0">
                <a:latin typeface="Times New Roman" panose="02020603050405020304" pitchFamily="18" charset="0"/>
                <a:cs typeface="Times New Roman" panose="02020603050405020304" pitchFamily="18" charset="0"/>
              </a:rPr>
              <a:t>Green led</a:t>
            </a:r>
          </a:p>
          <a:p>
            <a:r>
              <a:rPr lang="en-IN" sz="2000" dirty="0">
                <a:latin typeface="Times New Roman" panose="02020603050405020304" pitchFamily="18" charset="0"/>
                <a:cs typeface="Times New Roman" panose="02020603050405020304" pitchFamily="18" charset="0"/>
              </a:rPr>
              <a:t>Power supply</a:t>
            </a:r>
          </a:p>
          <a:p>
            <a:r>
              <a:rPr lang="en-IN" sz="2000" dirty="0">
                <a:latin typeface="Times New Roman" panose="02020603050405020304" pitchFamily="18" charset="0"/>
                <a:cs typeface="Times New Roman" panose="02020603050405020304" pitchFamily="18" charset="0"/>
              </a:rPr>
              <a:t>Adapter 12v</a:t>
            </a:r>
          </a:p>
          <a:p>
            <a:r>
              <a:rPr lang="en-IN" sz="2000" dirty="0">
                <a:latin typeface="Times New Roman" panose="02020603050405020304" pitchFamily="18" charset="0"/>
                <a:cs typeface="Times New Roman" panose="02020603050405020304" pitchFamily="18" charset="0"/>
              </a:rPr>
              <a:t>connectors-20</a:t>
            </a:r>
            <a:r>
              <a:rPr lang="en-IN" sz="2000" b="1"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E48A4-5C56-AA9F-588A-2715E90C85C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A133337-C111-63F9-D3A6-40074A6B7CE7}"/>
              </a:ext>
            </a:extLst>
          </p:cNvPr>
          <p:cNvSpPr txBox="1"/>
          <p:nvPr/>
        </p:nvSpPr>
        <p:spPr>
          <a:xfrm>
            <a:off x="4876800" y="-27407"/>
            <a:ext cx="47244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867C26CB-DDCA-69F0-4B33-64DC24DDACA8}"/>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715C18E0-45F6-A094-D949-13174C0AE616}"/>
                </a:ext>
              </a:extLst>
            </p:cNvPr>
            <p:cNvPicPr/>
            <p:nvPr/>
          </p:nvPicPr>
          <p:blipFill>
            <a:blip r:embed="rId2"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F505B294-5782-AD70-66B2-9274BC06C4E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9BA1DBC0-3664-48FF-50BF-2174AD39C4BC}"/>
              </a:ext>
            </a:extLst>
          </p:cNvPr>
          <p:cNvSpPr txBox="1">
            <a:spLocks noGrp="1"/>
          </p:cNvSpPr>
          <p:nvPr>
            <p:ph type="title"/>
          </p:nvPr>
        </p:nvSpPr>
        <p:spPr>
          <a:xfrm>
            <a:off x="141782" y="198892"/>
            <a:ext cx="7706817" cy="689932"/>
          </a:xfrm>
          <a:prstGeom prst="rect">
            <a:avLst/>
          </a:prstGeom>
        </p:spPr>
        <p:txBody>
          <a:bodyPr vert="horz" wrap="square" lIns="0" tIns="12700" rIns="0" bIns="0" rtlCol="0">
            <a:spAutoFit/>
          </a:bodyPr>
          <a:lstStyle/>
          <a:p>
            <a:pPr marL="12700">
              <a:lnSpc>
                <a:spcPct val="100000"/>
              </a:lnSpc>
              <a:spcBef>
                <a:spcPts val="100"/>
              </a:spcBef>
            </a:pPr>
            <a:r>
              <a:rPr lang="en-IN" spc="-10" dirty="0">
                <a:latin typeface="Times New Roman" panose="02020603050405020304" pitchFamily="18" charset="0"/>
                <a:cs typeface="Times New Roman" panose="02020603050405020304" pitchFamily="18" charset="0"/>
              </a:rPr>
              <a:t>Planning and Design</a:t>
            </a:r>
            <a:endParaRPr spc="-10" dirty="0">
              <a:latin typeface="Times New Roman" panose="02020603050405020304" pitchFamily="18" charset="0"/>
              <a:cs typeface="Times New Roman" panose="02020603050405020304" pitchFamily="18" charset="0"/>
            </a:endParaRPr>
          </a:p>
        </p:txBody>
      </p:sp>
      <p:sp>
        <p:nvSpPr>
          <p:cNvPr id="9" name="object 9">
            <a:extLst>
              <a:ext uri="{FF2B5EF4-FFF2-40B4-BE49-F238E27FC236}">
                <a16:creationId xmlns:a16="http://schemas.microsoft.com/office/drawing/2014/main" id="{8BE83658-CB01-3D79-39B2-8E763204EB9F}"/>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10" name="object 10">
            <a:extLst>
              <a:ext uri="{FF2B5EF4-FFF2-40B4-BE49-F238E27FC236}">
                <a16:creationId xmlns:a16="http://schemas.microsoft.com/office/drawing/2014/main" id="{307D8445-3C72-7574-F54B-423FD7780904}"/>
              </a:ext>
            </a:extLst>
          </p:cNvPr>
          <p:cNvSpPr txBox="1">
            <a:spLocks noGrp="1"/>
          </p:cNvSpPr>
          <p:nvPr>
            <p:ph type="dt" sz="half" idx="6"/>
          </p:nvPr>
        </p:nvSpPr>
        <p:spPr>
          <a:xfrm>
            <a:off x="838200" y="6641751"/>
            <a:ext cx="5181600"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1" name="object 11">
            <a:extLst>
              <a:ext uri="{FF2B5EF4-FFF2-40B4-BE49-F238E27FC236}">
                <a16:creationId xmlns:a16="http://schemas.microsoft.com/office/drawing/2014/main" id="{811621F1-340D-AE0D-6ABB-6EC4288F7794}"/>
              </a:ext>
            </a:extLst>
          </p:cNvPr>
          <p:cNvSpPr txBox="1"/>
          <p:nvPr/>
        </p:nvSpPr>
        <p:spPr>
          <a:xfrm>
            <a:off x="6525636" y="6641751"/>
            <a:ext cx="3913764"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a:extLst>
              <a:ext uri="{FF2B5EF4-FFF2-40B4-BE49-F238E27FC236}">
                <a16:creationId xmlns:a16="http://schemas.microsoft.com/office/drawing/2014/main" id="{80BC573C-4688-CF28-5A1D-C23842207F9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14</a:t>
            </a:fld>
            <a:endParaRPr spc="-25" dirty="0"/>
          </a:p>
        </p:txBody>
      </p:sp>
      <p:grpSp>
        <p:nvGrpSpPr>
          <p:cNvPr id="13" name="Group 12">
            <a:extLst>
              <a:ext uri="{FF2B5EF4-FFF2-40B4-BE49-F238E27FC236}">
                <a16:creationId xmlns:a16="http://schemas.microsoft.com/office/drawing/2014/main" id="{073C7729-E15D-29B5-4C4D-B540405018F9}"/>
              </a:ext>
            </a:extLst>
          </p:cNvPr>
          <p:cNvGrpSpPr/>
          <p:nvPr/>
        </p:nvGrpSpPr>
        <p:grpSpPr>
          <a:xfrm>
            <a:off x="3200401" y="1263697"/>
            <a:ext cx="5638800" cy="4850296"/>
            <a:chOff x="0" y="0"/>
            <a:chExt cx="4550513" cy="5143721"/>
          </a:xfrm>
        </p:grpSpPr>
        <p:sp>
          <p:nvSpPr>
            <p:cNvPr id="14" name="Rectangle 13">
              <a:extLst>
                <a:ext uri="{FF2B5EF4-FFF2-40B4-BE49-F238E27FC236}">
                  <a16:creationId xmlns:a16="http://schemas.microsoft.com/office/drawing/2014/main" id="{E3900EFF-B50D-1D1E-A853-4B7417FA8138}"/>
                </a:ext>
              </a:extLst>
            </p:cNvPr>
            <p:cNvSpPr/>
            <p:nvPr/>
          </p:nvSpPr>
          <p:spPr>
            <a:xfrm>
              <a:off x="1796902" y="733646"/>
              <a:ext cx="914400" cy="441007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800"/>
                </a:spcAft>
              </a:pPr>
              <a:r>
                <a:rPr lang="en-IN" sz="1100" dirty="0">
                  <a:effectLst/>
                  <a:latin typeface="Arial" panose="020B0604020202020204" pitchFamily="34" charset="0"/>
                  <a:ea typeface="Calibri" panose="020F0502020204030204" pitchFamily="34" charset="0"/>
                  <a:cs typeface="Times New Roman" panose="02020603050405020304" pitchFamily="18" charset="0"/>
                </a:rPr>
                <a:t> </a:t>
              </a:r>
              <a:endParaRPr lang="en-IN" sz="1100" dirty="0">
                <a:effectLst/>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Arial" panose="020B0604020202020204" pitchFamily="34" charset="0"/>
                  <a:ea typeface="Calibri" panose="020F0502020204030204" pitchFamily="34" charset="0"/>
                  <a:cs typeface="Times New Roman" panose="02020603050405020304" pitchFamily="18" charset="0"/>
                </a:rPr>
                <a:t> </a:t>
              </a:r>
              <a:endParaRPr lang="en-IN" sz="1100" dirty="0">
                <a:effectLst/>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Arial" panose="020B0604020202020204" pitchFamily="34" charset="0"/>
                  <a:ea typeface="Calibri" panose="020F0502020204030204" pitchFamily="34" charset="0"/>
                  <a:cs typeface="Times New Roman" panose="02020603050405020304" pitchFamily="18" charset="0"/>
                </a:rPr>
                <a:t> </a:t>
              </a:r>
              <a:endParaRPr lang="en-IN" sz="1100" dirty="0">
                <a:effectLst/>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Arial" panose="020B0604020202020204" pitchFamily="34" charset="0"/>
                  <a:ea typeface="Calibri" panose="020F0502020204030204" pitchFamily="34" charset="0"/>
                  <a:cs typeface="Times New Roman" panose="02020603050405020304" pitchFamily="18" charset="0"/>
                </a:rPr>
                <a:t> </a:t>
              </a:r>
              <a:endParaRPr lang="en-IN" sz="1100" dirty="0">
                <a:effectLst/>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Arial" panose="020B0604020202020204" pitchFamily="34" charset="0"/>
                  <a:ea typeface="Calibri" panose="020F0502020204030204" pitchFamily="34" charset="0"/>
                  <a:cs typeface="Times New Roman" panose="02020603050405020304" pitchFamily="18" charset="0"/>
                </a:rPr>
                <a:t> </a:t>
              </a:r>
              <a:endParaRPr lang="en-IN" sz="1100" dirty="0">
                <a:effectLst/>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Arial" panose="020B0604020202020204" pitchFamily="34" charset="0"/>
                  <a:ea typeface="Calibri" panose="020F0502020204030204" pitchFamily="34" charset="0"/>
                  <a:cs typeface="Times New Roman" panose="02020603050405020304" pitchFamily="18" charset="0"/>
                </a:rPr>
                <a:t> </a:t>
              </a:r>
              <a:endParaRPr lang="en-IN" sz="1100" dirty="0">
                <a:effectLst/>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Arial" panose="020B0604020202020204" pitchFamily="34" charset="0"/>
                  <a:ea typeface="Calibri" panose="020F0502020204030204" pitchFamily="34" charset="0"/>
                  <a:cs typeface="Times New Roman" panose="02020603050405020304" pitchFamily="18" charset="0"/>
                </a:rPr>
                <a:t> </a:t>
              </a:r>
              <a:endParaRPr lang="en-IN" sz="1100" dirty="0">
                <a:effectLst/>
                <a:ea typeface="Calibri" panose="020F0502020204030204" pitchFamily="34" charset="0"/>
                <a:cs typeface="Times New Roman" panose="02020603050405020304" pitchFamily="18" charset="0"/>
              </a:endParaRPr>
            </a:p>
            <a:p>
              <a:pPr>
                <a:lnSpc>
                  <a:spcPct val="107000"/>
                </a:lnSpc>
                <a:spcAft>
                  <a:spcPts val="800"/>
                </a:spcAft>
              </a:pPr>
              <a:r>
                <a:rPr lang="en-IN" sz="1100" dirty="0">
                  <a:effectLst/>
                  <a:latin typeface="Arial" panose="020B0604020202020204" pitchFamily="34" charset="0"/>
                  <a:ea typeface="Calibri" panose="020F0502020204030204" pitchFamily="34" charset="0"/>
                  <a:cs typeface="Times New Roman" panose="02020603050405020304" pitchFamily="18" charset="0"/>
                </a:rPr>
                <a:t>Raspberry pi</a:t>
              </a: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br>
                <a:rPr lang="en-IN" sz="1150" dirty="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br>
              <a:endParaRPr lang="en-IN" sz="1100" dirty="0">
                <a:effectLst/>
                <a:ea typeface="Calibri" panose="020F0502020204030204" pitchFamily="34" charset="0"/>
                <a:cs typeface="Times New Roman" panose="02020603050405020304" pitchFamily="18" charset="0"/>
              </a:endParaRPr>
            </a:p>
          </p:txBody>
        </p:sp>
        <p:sp>
          <p:nvSpPr>
            <p:cNvPr id="16" name="Rectangle 15">
              <a:extLst>
                <a:ext uri="{FF2B5EF4-FFF2-40B4-BE49-F238E27FC236}">
                  <a16:creationId xmlns:a16="http://schemas.microsoft.com/office/drawing/2014/main" id="{B6886B7B-E01A-9B05-FB1D-600E66FCF028}"/>
                </a:ext>
              </a:extLst>
            </p:cNvPr>
            <p:cNvSpPr/>
            <p:nvPr/>
          </p:nvSpPr>
          <p:spPr>
            <a:xfrm>
              <a:off x="74428" y="903767"/>
              <a:ext cx="1181100" cy="47625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a:effectLst/>
                  <a:latin typeface="Arial" panose="020B0604020202020204" pitchFamily="34" charset="0"/>
                  <a:ea typeface="Calibri" panose="020F0502020204030204" pitchFamily="34" charset="0"/>
                  <a:cs typeface="Times New Roman" panose="02020603050405020304" pitchFamily="18" charset="0"/>
                </a:rPr>
                <a:t>Memory card</a:t>
              </a:r>
              <a:endParaRPr lang="en-IN" sz="1100">
                <a:effectLst/>
                <a:ea typeface="Calibri" panose="020F0502020204030204" pitchFamily="34" charset="0"/>
                <a:cs typeface="Times New Roman" panose="02020603050405020304" pitchFamily="18" charset="0"/>
              </a:endParaRPr>
            </a:p>
          </p:txBody>
        </p:sp>
        <p:sp>
          <p:nvSpPr>
            <p:cNvPr id="17" name="Rectangle 16">
              <a:extLst>
                <a:ext uri="{FF2B5EF4-FFF2-40B4-BE49-F238E27FC236}">
                  <a16:creationId xmlns:a16="http://schemas.microsoft.com/office/drawing/2014/main" id="{3BFBC146-7FE2-DED7-2375-DC45DE17E6F9}"/>
                </a:ext>
              </a:extLst>
            </p:cNvPr>
            <p:cNvSpPr/>
            <p:nvPr/>
          </p:nvSpPr>
          <p:spPr>
            <a:xfrm>
              <a:off x="63795" y="1669311"/>
              <a:ext cx="1181100" cy="47625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a:effectLst/>
                  <a:latin typeface="Arial" panose="020B0604020202020204" pitchFamily="34" charset="0"/>
                  <a:ea typeface="Calibri" panose="020F0502020204030204" pitchFamily="34" charset="0"/>
                  <a:cs typeface="Times New Roman" panose="02020603050405020304" pitchFamily="18" charset="0"/>
                </a:rPr>
                <a:t>Usb camera</a:t>
              </a:r>
              <a:endParaRPr lang="en-IN" sz="1100">
                <a:effectLst/>
                <a:ea typeface="Calibri" panose="020F0502020204030204" pitchFamily="34" charset="0"/>
                <a:cs typeface="Times New Roman" panose="02020603050405020304" pitchFamily="18" charset="0"/>
              </a:endParaRPr>
            </a:p>
          </p:txBody>
        </p:sp>
        <p:sp>
          <p:nvSpPr>
            <p:cNvPr id="18" name="Rectangle 17">
              <a:extLst>
                <a:ext uri="{FF2B5EF4-FFF2-40B4-BE49-F238E27FC236}">
                  <a16:creationId xmlns:a16="http://schemas.microsoft.com/office/drawing/2014/main" id="{3CC98300-0631-3B5B-C6AC-EE7FE8BD2C64}"/>
                </a:ext>
              </a:extLst>
            </p:cNvPr>
            <p:cNvSpPr/>
            <p:nvPr/>
          </p:nvSpPr>
          <p:spPr>
            <a:xfrm>
              <a:off x="3359888" y="1733107"/>
              <a:ext cx="1085850" cy="428625"/>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1100">
                  <a:effectLst/>
                  <a:latin typeface="Arial" panose="020B0604020202020204" pitchFamily="34" charset="0"/>
                  <a:ea typeface="Calibri" panose="020F0502020204030204" pitchFamily="34" charset="0"/>
                  <a:cs typeface="Times New Roman" panose="02020603050405020304" pitchFamily="18" charset="0"/>
                </a:rPr>
                <a:t>Led’s </a:t>
              </a:r>
              <a:endParaRPr lang="en-IN" sz="1100">
                <a:effectLst/>
                <a:ea typeface="Calibri" panose="020F0502020204030204" pitchFamily="34" charset="0"/>
                <a:cs typeface="Times New Roman" panose="02020603050405020304" pitchFamily="18" charset="0"/>
              </a:endParaRPr>
            </a:p>
          </p:txBody>
        </p:sp>
        <p:sp>
          <p:nvSpPr>
            <p:cNvPr id="19" name="Rectangle 18">
              <a:extLst>
                <a:ext uri="{FF2B5EF4-FFF2-40B4-BE49-F238E27FC236}">
                  <a16:creationId xmlns:a16="http://schemas.microsoft.com/office/drawing/2014/main" id="{C1B4DE99-B19F-00F8-5276-F79525772647}"/>
                </a:ext>
              </a:extLst>
            </p:cNvPr>
            <p:cNvSpPr/>
            <p:nvPr/>
          </p:nvSpPr>
          <p:spPr>
            <a:xfrm>
              <a:off x="1626781" y="0"/>
              <a:ext cx="1181100" cy="47625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50">
                  <a:solidFill>
                    <a:srgbClr val="000000"/>
                  </a:solidFill>
                  <a:effectLst/>
                  <a:latin typeface="Segoe UI" panose="020B0502040204020203" pitchFamily="34" charset="0"/>
                  <a:ea typeface="Calibri" panose="020F0502020204030204" pitchFamily="34" charset="0"/>
                  <a:cs typeface="Times New Roman" panose="02020603050405020304" pitchFamily="18" charset="0"/>
                </a:rPr>
                <a:t>Power supply</a:t>
              </a:r>
              <a:endParaRPr lang="en-IN" sz="1100">
                <a:effectLst/>
                <a:ea typeface="Calibri" panose="020F0502020204030204" pitchFamily="34" charset="0"/>
                <a:cs typeface="Times New Roman" panose="02020603050405020304" pitchFamily="18" charset="0"/>
              </a:endParaRPr>
            </a:p>
          </p:txBody>
        </p:sp>
        <p:cxnSp>
          <p:nvCxnSpPr>
            <p:cNvPr id="20" name="Straight Arrow Connector 19">
              <a:extLst>
                <a:ext uri="{FF2B5EF4-FFF2-40B4-BE49-F238E27FC236}">
                  <a16:creationId xmlns:a16="http://schemas.microsoft.com/office/drawing/2014/main" id="{19FEC10B-6124-6399-6FA2-F18E0E4E623B}"/>
                </a:ext>
              </a:extLst>
            </p:cNvPr>
            <p:cNvCxnSpPr/>
            <p:nvPr/>
          </p:nvCxnSpPr>
          <p:spPr>
            <a:xfrm>
              <a:off x="1275907" y="1137684"/>
              <a:ext cx="514350"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11060820-8CB4-7D9C-B14F-0CCDBA68090A}"/>
                </a:ext>
              </a:extLst>
            </p:cNvPr>
            <p:cNvCxnSpPr/>
            <p:nvPr/>
          </p:nvCxnSpPr>
          <p:spPr>
            <a:xfrm>
              <a:off x="1254642" y="1924493"/>
              <a:ext cx="561975"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85D94860-FF7F-95D3-143D-931D99DF9C30}"/>
                </a:ext>
              </a:extLst>
            </p:cNvPr>
            <p:cNvCxnSpPr/>
            <p:nvPr/>
          </p:nvCxnSpPr>
          <p:spPr>
            <a:xfrm>
              <a:off x="2169042" y="489097"/>
              <a:ext cx="0" cy="2571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9A5F1D15-9BA1-CA6D-AFA0-8BB7CC7A6143}"/>
                </a:ext>
              </a:extLst>
            </p:cNvPr>
            <p:cNvSpPr/>
            <p:nvPr/>
          </p:nvSpPr>
          <p:spPr>
            <a:xfrm>
              <a:off x="3359888" y="1095153"/>
              <a:ext cx="1190625" cy="41910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br>
                <a:rPr lang="en-IN" sz="1100">
                  <a:effectLst/>
                  <a:latin typeface="Arial" panose="020B0604020202020204" pitchFamily="34" charset="0"/>
                  <a:ea typeface="Calibri" panose="020F0502020204030204" pitchFamily="34" charset="0"/>
                  <a:cs typeface="Times New Roman" panose="02020603050405020304" pitchFamily="18" charset="0"/>
                </a:rPr>
              </a:br>
              <a:r>
                <a:rPr lang="en-IN" sz="1100">
                  <a:effectLst/>
                  <a:latin typeface="Arial" panose="020B0604020202020204" pitchFamily="34" charset="0"/>
                  <a:ea typeface="Calibri" panose="020F0502020204030204" pitchFamily="34" charset="0"/>
                  <a:cs typeface="Times New Roman" panose="02020603050405020304" pitchFamily="18" charset="0"/>
                </a:rPr>
                <a:t>Buzzer</a:t>
              </a:r>
              <a:endParaRPr lang="en-IN" sz="1100">
                <a:effectLst/>
                <a:ea typeface="Calibri" panose="020F0502020204030204" pitchFamily="34" charset="0"/>
                <a:cs typeface="Times New Roman" panose="02020603050405020304" pitchFamily="18" charset="0"/>
              </a:endParaRPr>
            </a:p>
          </p:txBody>
        </p:sp>
        <p:cxnSp>
          <p:nvCxnSpPr>
            <p:cNvPr id="25" name="Straight Arrow Connector 24">
              <a:extLst>
                <a:ext uri="{FF2B5EF4-FFF2-40B4-BE49-F238E27FC236}">
                  <a16:creationId xmlns:a16="http://schemas.microsoft.com/office/drawing/2014/main" id="{3BE11AF3-F67B-B85A-0B4E-274B6A6D9CB4}"/>
                </a:ext>
              </a:extLst>
            </p:cNvPr>
            <p:cNvCxnSpPr/>
            <p:nvPr/>
          </p:nvCxnSpPr>
          <p:spPr>
            <a:xfrm>
              <a:off x="2721935" y="1307804"/>
              <a:ext cx="685800" cy="95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8DC24A5F-91BF-5818-B2CF-E13981600582}"/>
                </a:ext>
              </a:extLst>
            </p:cNvPr>
            <p:cNvSpPr/>
            <p:nvPr/>
          </p:nvSpPr>
          <p:spPr>
            <a:xfrm>
              <a:off x="31898" y="2434856"/>
              <a:ext cx="1181100" cy="47625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a:effectLst/>
                  <a:latin typeface="Arial" panose="020B0604020202020204" pitchFamily="34" charset="0"/>
                  <a:ea typeface="Calibri" panose="020F0502020204030204" pitchFamily="34" charset="0"/>
                  <a:cs typeface="Times New Roman" panose="02020603050405020304" pitchFamily="18" charset="0"/>
                </a:rPr>
                <a:t>pir sensor</a:t>
              </a:r>
              <a:endParaRPr lang="en-IN" sz="1100">
                <a:effectLst/>
                <a:ea typeface="Calibri" panose="020F0502020204030204"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id="{BEBEC36D-863F-81E4-818F-D14428C060CA}"/>
                </a:ext>
              </a:extLst>
            </p:cNvPr>
            <p:cNvSpPr/>
            <p:nvPr/>
          </p:nvSpPr>
          <p:spPr>
            <a:xfrm>
              <a:off x="42530" y="3211032"/>
              <a:ext cx="1181100" cy="47625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IN" sz="1100">
                  <a:effectLst/>
                  <a:latin typeface="Arial" panose="020B0604020202020204" pitchFamily="34" charset="0"/>
                  <a:ea typeface="Calibri" panose="020F0502020204030204" pitchFamily="34" charset="0"/>
                  <a:cs typeface="Times New Roman" panose="02020603050405020304" pitchFamily="18" charset="0"/>
                </a:rPr>
                <a:t>Ultrasonic sensor</a:t>
              </a:r>
              <a:endParaRPr lang="en-IN" sz="1100">
                <a:effectLst/>
                <a:ea typeface="Calibri" panose="020F0502020204030204" pitchFamily="34" charset="0"/>
                <a:cs typeface="Times New Roman" panose="02020603050405020304" pitchFamily="18" charset="0"/>
              </a:endParaRPr>
            </a:p>
          </p:txBody>
        </p:sp>
        <p:cxnSp>
          <p:nvCxnSpPr>
            <p:cNvPr id="28" name="Straight Arrow Connector 27">
              <a:extLst>
                <a:ext uri="{FF2B5EF4-FFF2-40B4-BE49-F238E27FC236}">
                  <a16:creationId xmlns:a16="http://schemas.microsoft.com/office/drawing/2014/main" id="{2707DC23-BFC1-5992-AE4C-E63F9BA4702A}"/>
                </a:ext>
              </a:extLst>
            </p:cNvPr>
            <p:cNvCxnSpPr/>
            <p:nvPr/>
          </p:nvCxnSpPr>
          <p:spPr>
            <a:xfrm>
              <a:off x="1201479" y="2647507"/>
              <a:ext cx="6000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1BF4BF41-41CA-FB55-F430-7317D6232C02}"/>
                </a:ext>
              </a:extLst>
            </p:cNvPr>
            <p:cNvCxnSpPr/>
            <p:nvPr/>
          </p:nvCxnSpPr>
          <p:spPr>
            <a:xfrm>
              <a:off x="1233377" y="3413051"/>
              <a:ext cx="54292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68259DDE-462E-2A78-07E5-9AA1BF71225C}"/>
                </a:ext>
              </a:extLst>
            </p:cNvPr>
            <p:cNvCxnSpPr/>
            <p:nvPr/>
          </p:nvCxnSpPr>
          <p:spPr>
            <a:xfrm>
              <a:off x="2711302" y="1892595"/>
              <a:ext cx="6667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9C751D4C-A593-C2E9-C661-AB02F86EA131}"/>
                </a:ext>
              </a:extLst>
            </p:cNvPr>
            <p:cNvSpPr/>
            <p:nvPr/>
          </p:nvSpPr>
          <p:spPr>
            <a:xfrm>
              <a:off x="0" y="3955311"/>
              <a:ext cx="1181100" cy="476250"/>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br>
                <a:rPr lang="en-IN" sz="1100">
                  <a:effectLst/>
                  <a:latin typeface="Arial" panose="020B0604020202020204" pitchFamily="34" charset="0"/>
                  <a:ea typeface="Calibri" panose="020F0502020204030204" pitchFamily="34" charset="0"/>
                  <a:cs typeface="Times New Roman" panose="02020603050405020304" pitchFamily="18" charset="0"/>
                </a:rPr>
              </a:br>
              <a:r>
                <a:rPr lang="en-IN" sz="1100">
                  <a:effectLst/>
                  <a:latin typeface="Arial" panose="020B0604020202020204" pitchFamily="34" charset="0"/>
                  <a:ea typeface="Calibri" panose="020F0502020204030204" pitchFamily="34" charset="0"/>
                  <a:cs typeface="Times New Roman" panose="02020603050405020304" pitchFamily="18" charset="0"/>
                </a:rPr>
                <a:t>sound sensor</a:t>
              </a:r>
              <a:endParaRPr lang="en-IN" sz="1100">
                <a:effectLst/>
                <a:ea typeface="Calibri" panose="020F0502020204030204" pitchFamily="34" charset="0"/>
                <a:cs typeface="Times New Roman" panose="02020603050405020304" pitchFamily="18" charset="0"/>
              </a:endParaRPr>
            </a:p>
          </p:txBody>
        </p:sp>
        <p:cxnSp>
          <p:nvCxnSpPr>
            <p:cNvPr id="32" name="Straight Arrow Connector 31">
              <a:extLst>
                <a:ext uri="{FF2B5EF4-FFF2-40B4-BE49-F238E27FC236}">
                  <a16:creationId xmlns:a16="http://schemas.microsoft.com/office/drawing/2014/main" id="{FA3C930A-7C04-9BC4-CF05-48FB15D994B1}"/>
                </a:ext>
              </a:extLst>
            </p:cNvPr>
            <p:cNvCxnSpPr/>
            <p:nvPr/>
          </p:nvCxnSpPr>
          <p:spPr>
            <a:xfrm>
              <a:off x="1169581" y="4199860"/>
              <a:ext cx="60007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2584670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73278-E2F7-4AF3-A5E7-E1C0DC42612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711151A-BBA6-1EE1-7EDE-97EBED54A30C}"/>
              </a:ext>
            </a:extLst>
          </p:cNvPr>
          <p:cNvSpPr txBox="1"/>
          <p:nvPr/>
        </p:nvSpPr>
        <p:spPr>
          <a:xfrm>
            <a:off x="4876800" y="-27407"/>
            <a:ext cx="47244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5FE4B96B-BF1C-5C26-1283-DBC37ED92FEE}"/>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660FE57E-B97B-4252-B0EC-8B7B7E0BC2F0}"/>
                </a:ext>
              </a:extLst>
            </p:cNvPr>
            <p:cNvPicPr/>
            <p:nvPr/>
          </p:nvPicPr>
          <p:blipFill>
            <a:blip r:embed="rId2"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7B1AB3F1-37D8-EA5F-BF55-D6380C7F52DF}"/>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7CAC3E85-98F0-5124-D1D6-9D64903BAE53}"/>
              </a:ext>
            </a:extLst>
          </p:cNvPr>
          <p:cNvSpPr txBox="1">
            <a:spLocks noGrp="1"/>
          </p:cNvSpPr>
          <p:nvPr>
            <p:ph type="title"/>
          </p:nvPr>
        </p:nvSpPr>
        <p:spPr>
          <a:xfrm>
            <a:off x="141782" y="198892"/>
            <a:ext cx="7706817" cy="689932"/>
          </a:xfrm>
          <a:prstGeom prst="rect">
            <a:avLst/>
          </a:prstGeom>
        </p:spPr>
        <p:txBody>
          <a:bodyPr vert="horz" wrap="square" lIns="0" tIns="12700" rIns="0" bIns="0" rtlCol="0">
            <a:spAutoFit/>
          </a:bodyPr>
          <a:lstStyle/>
          <a:p>
            <a:pPr marL="12700">
              <a:lnSpc>
                <a:spcPct val="100000"/>
              </a:lnSpc>
              <a:spcBef>
                <a:spcPts val="100"/>
              </a:spcBef>
            </a:pPr>
            <a:r>
              <a:rPr lang="en-IN" spc="-10" dirty="0">
                <a:latin typeface="Times New Roman" panose="02020603050405020304" pitchFamily="18" charset="0"/>
                <a:cs typeface="Times New Roman" panose="02020603050405020304" pitchFamily="18" charset="0"/>
              </a:rPr>
              <a:t>Planning and Design</a:t>
            </a:r>
            <a:endParaRPr spc="-10" dirty="0">
              <a:latin typeface="Times New Roman" panose="02020603050405020304" pitchFamily="18" charset="0"/>
              <a:cs typeface="Times New Roman" panose="02020603050405020304" pitchFamily="18" charset="0"/>
            </a:endParaRPr>
          </a:p>
        </p:txBody>
      </p:sp>
      <p:sp>
        <p:nvSpPr>
          <p:cNvPr id="9" name="object 9">
            <a:extLst>
              <a:ext uri="{FF2B5EF4-FFF2-40B4-BE49-F238E27FC236}">
                <a16:creationId xmlns:a16="http://schemas.microsoft.com/office/drawing/2014/main" id="{A2CF1188-8ACA-6098-848A-65DA49E2FDBC}"/>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10" name="object 10">
            <a:extLst>
              <a:ext uri="{FF2B5EF4-FFF2-40B4-BE49-F238E27FC236}">
                <a16:creationId xmlns:a16="http://schemas.microsoft.com/office/drawing/2014/main" id="{001A1E0B-9CC9-EF0B-EE2C-DE21C7DF6699}"/>
              </a:ext>
            </a:extLst>
          </p:cNvPr>
          <p:cNvSpPr txBox="1">
            <a:spLocks noGrp="1"/>
          </p:cNvSpPr>
          <p:nvPr>
            <p:ph type="dt" sz="half" idx="6"/>
          </p:nvPr>
        </p:nvSpPr>
        <p:spPr>
          <a:xfrm>
            <a:off x="838200" y="6641751"/>
            <a:ext cx="5181600"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1" name="object 11">
            <a:extLst>
              <a:ext uri="{FF2B5EF4-FFF2-40B4-BE49-F238E27FC236}">
                <a16:creationId xmlns:a16="http://schemas.microsoft.com/office/drawing/2014/main" id="{85FB38BF-F9F8-6348-AC58-6568554ACCED}"/>
              </a:ext>
            </a:extLst>
          </p:cNvPr>
          <p:cNvSpPr txBox="1"/>
          <p:nvPr/>
        </p:nvSpPr>
        <p:spPr>
          <a:xfrm>
            <a:off x="6525636" y="6641751"/>
            <a:ext cx="3913764"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a:extLst>
              <a:ext uri="{FF2B5EF4-FFF2-40B4-BE49-F238E27FC236}">
                <a16:creationId xmlns:a16="http://schemas.microsoft.com/office/drawing/2014/main" id="{A05168ED-3AFF-D177-D1CD-071BC4924575}"/>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15</a:t>
            </a:fld>
            <a:endParaRPr spc="-25" dirty="0"/>
          </a:p>
        </p:txBody>
      </p:sp>
      <p:sp>
        <p:nvSpPr>
          <p:cNvPr id="15" name="TextBox 14">
            <a:extLst>
              <a:ext uri="{FF2B5EF4-FFF2-40B4-BE49-F238E27FC236}">
                <a16:creationId xmlns:a16="http://schemas.microsoft.com/office/drawing/2014/main" id="{20355AB7-AD60-54B2-721F-BC7F56B64110}"/>
              </a:ext>
            </a:extLst>
          </p:cNvPr>
          <p:cNvSpPr txBox="1"/>
          <p:nvPr/>
        </p:nvSpPr>
        <p:spPr>
          <a:xfrm>
            <a:off x="473797" y="2901488"/>
            <a:ext cx="11244402" cy="2795958"/>
          </a:xfrm>
          <a:prstGeom prst="rect">
            <a:avLst/>
          </a:prstGeom>
          <a:noFill/>
        </p:spPr>
        <p:txBody>
          <a:bodyPr wrap="square">
            <a:spAutoFit/>
          </a:bodyPr>
          <a:lstStyle/>
          <a:p>
            <a:pPr marL="342900" indent="-342900" algn="just">
              <a:lnSpc>
                <a:spcPct val="120000"/>
              </a:lnSpc>
              <a:buFont typeface="Wingdings" panose="05000000000000000000" pitchFamily="2" charset="2"/>
              <a:buChar char="Ø"/>
            </a:pPr>
            <a:r>
              <a:rPr lang="en-US" sz="2400" dirty="0"/>
              <a:t>A step-down transformer converts the 230V AC into12v.</a:t>
            </a:r>
          </a:p>
          <a:p>
            <a:pPr marL="342900" indent="-342900" algn="just">
              <a:lnSpc>
                <a:spcPct val="120000"/>
              </a:lnSpc>
              <a:buFont typeface="Wingdings" panose="05000000000000000000" pitchFamily="2" charset="2"/>
              <a:buChar char="Ø"/>
            </a:pPr>
            <a:r>
              <a:rPr lang="en-US" sz="2400" dirty="0"/>
              <a:t>The bridge rectifier is used to change AC to DC</a:t>
            </a:r>
          </a:p>
          <a:p>
            <a:pPr marL="342900" indent="-342900" algn="just">
              <a:lnSpc>
                <a:spcPct val="120000"/>
              </a:lnSpc>
              <a:buFont typeface="Wingdings" panose="05000000000000000000" pitchFamily="2" charset="2"/>
              <a:buChar char="Ø"/>
            </a:pPr>
            <a:r>
              <a:rPr lang="en-US" sz="2400" dirty="0"/>
              <a:t>A capacitor is used to filter the AC ripples and gives to the voltage regulator.</a:t>
            </a:r>
          </a:p>
          <a:p>
            <a:pPr marL="342900" indent="-342900" algn="just">
              <a:lnSpc>
                <a:spcPct val="120000"/>
              </a:lnSpc>
              <a:buFont typeface="Wingdings" panose="05000000000000000000" pitchFamily="2" charset="2"/>
              <a:buChar char="Ø"/>
            </a:pPr>
            <a:r>
              <a:rPr lang="en-US" sz="2400" dirty="0"/>
              <a:t>Finally voltage regulator regulates the voltage to 5V and finally, a blocking diode is used for taking the pulsating waveform.</a:t>
            </a:r>
          </a:p>
          <a:p>
            <a:pPr marL="285750" indent="-285750">
              <a:lnSpc>
                <a:spcPct val="1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pic>
        <p:nvPicPr>
          <p:cNvPr id="31" name="Picture 2" descr="Regulated Power Supply : Block Diagram, Characteristics, and Applications">
            <a:extLst>
              <a:ext uri="{FF2B5EF4-FFF2-40B4-BE49-F238E27FC236}">
                <a16:creationId xmlns:a16="http://schemas.microsoft.com/office/drawing/2014/main" id="{8DC75EF8-8C4F-07E1-04B3-4F6A21B1DD3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6877"/>
          <a:stretch/>
        </p:blipFill>
        <p:spPr bwMode="auto">
          <a:xfrm>
            <a:off x="1447800" y="1136491"/>
            <a:ext cx="9530090" cy="1137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32627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871C9-1FD8-271E-443F-15898E3DEE9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6010B89-32CA-3227-A700-6603DCDCD52D}"/>
              </a:ext>
            </a:extLst>
          </p:cNvPr>
          <p:cNvSpPr txBox="1"/>
          <p:nvPr/>
        </p:nvSpPr>
        <p:spPr>
          <a:xfrm>
            <a:off x="4876800" y="-27407"/>
            <a:ext cx="47244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F4AC41EC-0C25-5A65-A891-F2599A060C79}"/>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F4E4A060-CF12-4135-E7F8-A127249F6E54}"/>
                </a:ext>
              </a:extLst>
            </p:cNvPr>
            <p:cNvPicPr/>
            <p:nvPr/>
          </p:nvPicPr>
          <p:blipFill>
            <a:blip r:embed="rId2"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F61DD0B9-C6BF-E11E-3C6C-4E9814CAEEE4}"/>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11F10D4D-D325-2C61-0893-49A82520E604}"/>
              </a:ext>
            </a:extLst>
          </p:cNvPr>
          <p:cNvSpPr txBox="1">
            <a:spLocks noGrp="1"/>
          </p:cNvSpPr>
          <p:nvPr>
            <p:ph type="title"/>
          </p:nvPr>
        </p:nvSpPr>
        <p:spPr>
          <a:xfrm>
            <a:off x="141782" y="198892"/>
            <a:ext cx="5344617" cy="689932"/>
          </a:xfrm>
          <a:prstGeom prst="rect">
            <a:avLst/>
          </a:prstGeom>
        </p:spPr>
        <p:txBody>
          <a:bodyPr vert="horz" wrap="square" lIns="0" tIns="12700" rIns="0" bIns="0" rtlCol="0">
            <a:spAutoFit/>
          </a:bodyPr>
          <a:lstStyle/>
          <a:p>
            <a:pPr marL="12700">
              <a:lnSpc>
                <a:spcPct val="100000"/>
              </a:lnSpc>
              <a:spcBef>
                <a:spcPts val="100"/>
              </a:spcBef>
            </a:pPr>
            <a:r>
              <a:rPr lang="en-US" spc="-10" dirty="0"/>
              <a:t>Implementation</a:t>
            </a:r>
            <a:endParaRPr spc="-10" dirty="0"/>
          </a:p>
        </p:txBody>
      </p:sp>
      <p:sp>
        <p:nvSpPr>
          <p:cNvPr id="9" name="object 9">
            <a:extLst>
              <a:ext uri="{FF2B5EF4-FFF2-40B4-BE49-F238E27FC236}">
                <a16:creationId xmlns:a16="http://schemas.microsoft.com/office/drawing/2014/main" id="{F6220961-3DC0-5185-5949-AA3B42A40F1F}"/>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10" name="object 10">
            <a:extLst>
              <a:ext uri="{FF2B5EF4-FFF2-40B4-BE49-F238E27FC236}">
                <a16:creationId xmlns:a16="http://schemas.microsoft.com/office/drawing/2014/main" id="{C54FDA8C-F1A0-5802-5586-76D70081EFAE}"/>
              </a:ext>
            </a:extLst>
          </p:cNvPr>
          <p:cNvSpPr txBox="1">
            <a:spLocks noGrp="1"/>
          </p:cNvSpPr>
          <p:nvPr>
            <p:ph type="dt" sz="half" idx="6"/>
          </p:nvPr>
        </p:nvSpPr>
        <p:spPr>
          <a:xfrm>
            <a:off x="838200" y="6641751"/>
            <a:ext cx="5181600"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1" name="object 11">
            <a:extLst>
              <a:ext uri="{FF2B5EF4-FFF2-40B4-BE49-F238E27FC236}">
                <a16:creationId xmlns:a16="http://schemas.microsoft.com/office/drawing/2014/main" id="{4C2976D5-D2F3-4DA8-6616-187FF3A8AED5}"/>
              </a:ext>
            </a:extLst>
          </p:cNvPr>
          <p:cNvSpPr txBox="1"/>
          <p:nvPr/>
        </p:nvSpPr>
        <p:spPr>
          <a:xfrm>
            <a:off x="6525636" y="6641751"/>
            <a:ext cx="3913764"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a:extLst>
              <a:ext uri="{FF2B5EF4-FFF2-40B4-BE49-F238E27FC236}">
                <a16:creationId xmlns:a16="http://schemas.microsoft.com/office/drawing/2014/main" id="{9F489F94-7C73-5B91-B157-1B3B538EFF6F}"/>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16</a:t>
            </a:fld>
            <a:endParaRPr spc="-25" dirty="0"/>
          </a:p>
        </p:txBody>
      </p:sp>
      <p:sp>
        <p:nvSpPr>
          <p:cNvPr id="7" name="object 7">
            <a:extLst>
              <a:ext uri="{FF2B5EF4-FFF2-40B4-BE49-F238E27FC236}">
                <a16:creationId xmlns:a16="http://schemas.microsoft.com/office/drawing/2014/main" id="{8571A7BD-9CA3-C2B4-7B61-17A7DAC26F8C}"/>
              </a:ext>
            </a:extLst>
          </p:cNvPr>
          <p:cNvSpPr txBox="1"/>
          <p:nvPr/>
        </p:nvSpPr>
        <p:spPr>
          <a:xfrm>
            <a:off x="207327" y="4800600"/>
            <a:ext cx="11624945" cy="2462213"/>
          </a:xfrm>
          <a:prstGeom prst="rect">
            <a:avLst/>
          </a:prstGeom>
        </p:spPr>
        <p:txBody>
          <a:bodyPr vert="horz" wrap="square" lIns="0" tIns="60960" rIns="0" bIns="0" rtlCol="0">
            <a:spAutoFit/>
          </a:bodyPr>
          <a:lstStyle/>
          <a:p>
            <a:pPr rtl="0"/>
            <a:endParaRPr lang="en-IN" sz="1800" dirty="0"/>
          </a:p>
          <a:p>
            <a:pPr rtl="0"/>
            <a:endParaRPr lang="en-IN" dirty="0"/>
          </a:p>
          <a:p>
            <a:pPr rtl="0"/>
            <a:endParaRPr lang="en-IN" sz="1800" dirty="0"/>
          </a:p>
          <a:p>
            <a:pPr rtl="0"/>
            <a:endParaRPr lang="en-IN" dirty="0"/>
          </a:p>
          <a:p>
            <a:pPr rtl="0"/>
            <a:endParaRPr lang="en-IN" sz="1800" dirty="0"/>
          </a:p>
          <a:p>
            <a:pPr rtl="0"/>
            <a:r>
              <a:rPr lang="en-IN" dirty="0"/>
              <a:t>                                                 </a:t>
            </a:r>
            <a:endParaRPr lang="en-IN" sz="2200" spc="-10" dirty="0">
              <a:latin typeface="Times New Roman" panose="02020603050405020304" pitchFamily="18" charset="0"/>
              <a:cs typeface="Times New Roman" panose="02020603050405020304" pitchFamily="18" charset="0"/>
            </a:endParaRPr>
          </a:p>
          <a:p>
            <a:br>
              <a:rPr lang="en-US" sz="2200" dirty="0">
                <a:latin typeface="Times New Roman" panose="02020603050405020304" pitchFamily="18" charset="0"/>
                <a:cs typeface="Times New Roman" panose="02020603050405020304" pitchFamily="18" charset="0"/>
              </a:rPr>
            </a:br>
            <a:endParaRPr lang="en-IN" sz="2200" spc="-10" dirty="0">
              <a:latin typeface="Times New Roman" panose="02020603050405020304" pitchFamily="18" charset="0"/>
              <a:cs typeface="Times New Roman" panose="02020603050405020304" pitchFamily="18" charset="0"/>
            </a:endParaRPr>
          </a:p>
        </p:txBody>
      </p:sp>
      <p:sp>
        <p:nvSpPr>
          <p:cNvPr id="22" name="Rectangle 2">
            <a:extLst>
              <a:ext uri="{FF2B5EF4-FFF2-40B4-BE49-F238E27FC236}">
                <a16:creationId xmlns:a16="http://schemas.microsoft.com/office/drawing/2014/main" id="{55CECEFD-370B-608A-814E-0F077C34EBB1}"/>
              </a:ext>
            </a:extLst>
          </p:cNvPr>
          <p:cNvSpPr>
            <a:spLocks noChangeArrowheads="1"/>
          </p:cNvSpPr>
          <p:nvPr/>
        </p:nvSpPr>
        <p:spPr bwMode="auto">
          <a:xfrm>
            <a:off x="5801816" y="2943065"/>
            <a:ext cx="11793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23" name="Rectangle 3">
            <a:extLst>
              <a:ext uri="{FF2B5EF4-FFF2-40B4-BE49-F238E27FC236}">
                <a16:creationId xmlns:a16="http://schemas.microsoft.com/office/drawing/2014/main" id="{F645D2B5-A75B-DC61-E2E4-039777885757}"/>
              </a:ext>
            </a:extLst>
          </p:cNvPr>
          <p:cNvSpPr>
            <a:spLocks noChangeArrowheads="1"/>
          </p:cNvSpPr>
          <p:nvPr/>
        </p:nvSpPr>
        <p:spPr bwMode="auto">
          <a:xfrm>
            <a:off x="5801816" y="6325398"/>
            <a:ext cx="1179391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5">
            <a:extLst>
              <a:ext uri="{FF2B5EF4-FFF2-40B4-BE49-F238E27FC236}">
                <a16:creationId xmlns:a16="http://schemas.microsoft.com/office/drawing/2014/main" id="{38D57209-62E4-B371-5E8E-5D70C7086AB2}"/>
              </a:ext>
            </a:extLst>
          </p:cNvPr>
          <p:cNvSpPr>
            <a:spLocks noChangeArrowheads="1"/>
          </p:cNvSpPr>
          <p:nvPr/>
        </p:nvSpPr>
        <p:spPr bwMode="auto">
          <a:xfrm>
            <a:off x="217984" y="1225358"/>
            <a:ext cx="702101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components like Raspberry Pi, PIR sensor, ultrasonic sensor, sound sensor, camera, LED, and buzzer are connected and configured.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programming is used to read sensor data, control devices, and process inputs continuously.</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OpenCV is implemented for image capture and basic face detection when an intrusion is detected. </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system is integrated to activate buzzer/LED and send email notifications with captured images in real time. </a:t>
            </a:r>
          </a:p>
        </p:txBody>
      </p:sp>
      <p:sp>
        <p:nvSpPr>
          <p:cNvPr id="25" name="Rectangle 6">
            <a:extLst>
              <a:ext uri="{FF2B5EF4-FFF2-40B4-BE49-F238E27FC236}">
                <a16:creationId xmlns:a16="http://schemas.microsoft.com/office/drawing/2014/main" id="{FEBF1086-F5D4-2BBB-3CDD-874A0132F67A}"/>
              </a:ext>
            </a:extLst>
          </p:cNvPr>
          <p:cNvSpPr>
            <a:spLocks noChangeArrowheads="1"/>
          </p:cNvSpPr>
          <p:nvPr/>
        </p:nvSpPr>
        <p:spPr bwMode="auto">
          <a:xfrm>
            <a:off x="419886" y="6115107"/>
            <a:ext cx="21403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8">
            <a:extLst>
              <a:ext uri="{FF2B5EF4-FFF2-40B4-BE49-F238E27FC236}">
                <a16:creationId xmlns:a16="http://schemas.microsoft.com/office/drawing/2014/main" id="{BD7B981D-E66F-C654-29CB-B9D513D7F8B0}"/>
              </a:ext>
            </a:extLst>
          </p:cNvPr>
          <p:cNvSpPr>
            <a:spLocks noChangeArrowheads="1"/>
          </p:cNvSpPr>
          <p:nvPr/>
        </p:nvSpPr>
        <p:spPr bwMode="auto">
          <a:xfrm>
            <a:off x="395823" y="44914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8" name="Rectangle 11">
            <a:extLst>
              <a:ext uri="{FF2B5EF4-FFF2-40B4-BE49-F238E27FC236}">
                <a16:creationId xmlns:a16="http://schemas.microsoft.com/office/drawing/2014/main" id="{04B462FB-E93A-5E17-9871-9EDB8EFA6008}"/>
              </a:ext>
            </a:extLst>
          </p:cNvPr>
          <p:cNvSpPr>
            <a:spLocks noChangeArrowheads="1"/>
          </p:cNvSpPr>
          <p:nvPr/>
        </p:nvSpPr>
        <p:spPr bwMode="auto">
          <a:xfrm>
            <a:off x="5882222" y="8302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9" name="Rectangle 12">
            <a:extLst>
              <a:ext uri="{FF2B5EF4-FFF2-40B4-BE49-F238E27FC236}">
                <a16:creationId xmlns:a16="http://schemas.microsoft.com/office/drawing/2014/main" id="{2DAB89C1-4904-C39F-3BEB-54B932F23480}"/>
              </a:ext>
            </a:extLst>
          </p:cNvPr>
          <p:cNvSpPr>
            <a:spLocks noChangeArrowheads="1"/>
          </p:cNvSpPr>
          <p:nvPr/>
        </p:nvSpPr>
        <p:spPr bwMode="auto">
          <a:xfrm>
            <a:off x="5882222" y="3137858"/>
            <a:ext cx="20120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751492D8-D416-F6EC-FC6F-E864048EDFC9}"/>
              </a:ext>
            </a:extLst>
          </p:cNvPr>
          <p:cNvPicPr>
            <a:picLocks noChangeAspect="1"/>
          </p:cNvPicPr>
          <p:nvPr/>
        </p:nvPicPr>
        <p:blipFill>
          <a:blip r:embed="rId3"/>
          <a:stretch>
            <a:fillRect/>
          </a:stretch>
        </p:blipFill>
        <p:spPr>
          <a:xfrm>
            <a:off x="7249657" y="1492780"/>
            <a:ext cx="4419600" cy="3166159"/>
          </a:xfrm>
          <a:prstGeom prst="rect">
            <a:avLst/>
          </a:prstGeom>
        </p:spPr>
      </p:pic>
    </p:spTree>
    <p:extLst>
      <p:ext uri="{BB962C8B-B14F-4D97-AF65-F5344CB8AC3E}">
        <p14:creationId xmlns:p14="http://schemas.microsoft.com/office/powerpoint/2010/main" val="3801211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A9A4D-A5E5-4A3E-8CDC-A970A0BA498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CA90544-F2F8-F7DF-1FEB-1F08108A84EB}"/>
              </a:ext>
            </a:extLst>
          </p:cNvPr>
          <p:cNvSpPr txBox="1"/>
          <p:nvPr/>
        </p:nvSpPr>
        <p:spPr>
          <a:xfrm>
            <a:off x="4876800" y="-27407"/>
            <a:ext cx="47244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7E731F4C-A7F8-5EA7-3FB2-BCFEC95E5964}"/>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2A0A69D8-D00F-6994-F7A3-E5084C9B4BF5}"/>
                </a:ext>
              </a:extLst>
            </p:cNvPr>
            <p:cNvPicPr/>
            <p:nvPr/>
          </p:nvPicPr>
          <p:blipFill>
            <a:blip r:embed="rId2"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9B28BE48-AE27-763C-C15E-01274A662F3D}"/>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60CFA46D-56C7-EB0E-188B-15570B74A4EC}"/>
              </a:ext>
            </a:extLst>
          </p:cNvPr>
          <p:cNvSpPr txBox="1">
            <a:spLocks noGrp="1"/>
          </p:cNvSpPr>
          <p:nvPr>
            <p:ph type="title"/>
          </p:nvPr>
        </p:nvSpPr>
        <p:spPr>
          <a:xfrm>
            <a:off x="141782" y="198892"/>
            <a:ext cx="5344617" cy="689932"/>
          </a:xfrm>
          <a:prstGeom prst="rect">
            <a:avLst/>
          </a:prstGeom>
        </p:spPr>
        <p:txBody>
          <a:bodyPr vert="horz" wrap="square" lIns="0" tIns="12700" rIns="0" bIns="0" rtlCol="0">
            <a:spAutoFit/>
          </a:bodyPr>
          <a:lstStyle/>
          <a:p>
            <a:pPr marL="12700">
              <a:lnSpc>
                <a:spcPct val="100000"/>
              </a:lnSpc>
              <a:spcBef>
                <a:spcPts val="100"/>
              </a:spcBef>
            </a:pPr>
            <a:r>
              <a:rPr lang="en-US" spc="-10" dirty="0"/>
              <a:t>Results</a:t>
            </a:r>
            <a:endParaRPr spc="-10" dirty="0"/>
          </a:p>
        </p:txBody>
      </p:sp>
      <p:sp>
        <p:nvSpPr>
          <p:cNvPr id="9" name="object 9">
            <a:extLst>
              <a:ext uri="{FF2B5EF4-FFF2-40B4-BE49-F238E27FC236}">
                <a16:creationId xmlns:a16="http://schemas.microsoft.com/office/drawing/2014/main" id="{7FB70886-6246-674D-FB36-4655C49B5ADB}"/>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10" name="object 10">
            <a:extLst>
              <a:ext uri="{FF2B5EF4-FFF2-40B4-BE49-F238E27FC236}">
                <a16:creationId xmlns:a16="http://schemas.microsoft.com/office/drawing/2014/main" id="{4DFD4A2B-A3DB-B3F4-A152-19616641241F}"/>
              </a:ext>
            </a:extLst>
          </p:cNvPr>
          <p:cNvSpPr txBox="1">
            <a:spLocks noGrp="1"/>
          </p:cNvSpPr>
          <p:nvPr>
            <p:ph type="dt" sz="half" idx="6"/>
          </p:nvPr>
        </p:nvSpPr>
        <p:spPr>
          <a:xfrm>
            <a:off x="838200" y="6641751"/>
            <a:ext cx="5181600"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1" name="object 11">
            <a:extLst>
              <a:ext uri="{FF2B5EF4-FFF2-40B4-BE49-F238E27FC236}">
                <a16:creationId xmlns:a16="http://schemas.microsoft.com/office/drawing/2014/main" id="{5D734A92-85E6-B9AB-7020-F51B54348C5E}"/>
              </a:ext>
            </a:extLst>
          </p:cNvPr>
          <p:cNvSpPr txBox="1"/>
          <p:nvPr/>
        </p:nvSpPr>
        <p:spPr>
          <a:xfrm>
            <a:off x="6525636" y="6641751"/>
            <a:ext cx="3913764"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a:extLst>
              <a:ext uri="{FF2B5EF4-FFF2-40B4-BE49-F238E27FC236}">
                <a16:creationId xmlns:a16="http://schemas.microsoft.com/office/drawing/2014/main" id="{14E5C1DC-6A20-1736-A555-F369A54E092C}"/>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17</a:t>
            </a:fld>
            <a:endParaRPr spc="-25" dirty="0"/>
          </a:p>
        </p:txBody>
      </p:sp>
      <p:sp>
        <p:nvSpPr>
          <p:cNvPr id="7" name="object 7">
            <a:extLst>
              <a:ext uri="{FF2B5EF4-FFF2-40B4-BE49-F238E27FC236}">
                <a16:creationId xmlns:a16="http://schemas.microsoft.com/office/drawing/2014/main" id="{32141523-E940-267E-B2B3-EF58E6CE2FF0}"/>
              </a:ext>
            </a:extLst>
          </p:cNvPr>
          <p:cNvSpPr txBox="1"/>
          <p:nvPr/>
        </p:nvSpPr>
        <p:spPr>
          <a:xfrm>
            <a:off x="207327" y="4800600"/>
            <a:ext cx="11624945" cy="2462213"/>
          </a:xfrm>
          <a:prstGeom prst="rect">
            <a:avLst/>
          </a:prstGeom>
        </p:spPr>
        <p:txBody>
          <a:bodyPr vert="horz" wrap="square" lIns="0" tIns="60960" rIns="0" bIns="0" rtlCol="0">
            <a:spAutoFit/>
          </a:bodyPr>
          <a:lstStyle/>
          <a:p>
            <a:pPr rtl="0"/>
            <a:endParaRPr lang="en-IN" sz="1800" dirty="0"/>
          </a:p>
          <a:p>
            <a:pPr rtl="0"/>
            <a:endParaRPr lang="en-IN" dirty="0"/>
          </a:p>
          <a:p>
            <a:pPr rtl="0"/>
            <a:endParaRPr lang="en-IN" sz="1800" dirty="0"/>
          </a:p>
          <a:p>
            <a:pPr rtl="0"/>
            <a:endParaRPr lang="en-IN" dirty="0"/>
          </a:p>
          <a:p>
            <a:pPr rtl="0"/>
            <a:endParaRPr lang="en-IN" sz="1800" dirty="0"/>
          </a:p>
          <a:p>
            <a:pPr rtl="0"/>
            <a:r>
              <a:rPr lang="en-IN" dirty="0"/>
              <a:t>                                                 </a:t>
            </a:r>
            <a:endParaRPr lang="en-IN" sz="2200" spc="-10" dirty="0">
              <a:latin typeface="Times New Roman" panose="02020603050405020304" pitchFamily="18" charset="0"/>
              <a:cs typeface="Times New Roman" panose="02020603050405020304" pitchFamily="18" charset="0"/>
            </a:endParaRPr>
          </a:p>
          <a:p>
            <a:br>
              <a:rPr lang="en-US" sz="2200" dirty="0">
                <a:latin typeface="Times New Roman" panose="02020603050405020304" pitchFamily="18" charset="0"/>
                <a:cs typeface="Times New Roman" panose="02020603050405020304" pitchFamily="18" charset="0"/>
              </a:rPr>
            </a:br>
            <a:endParaRPr lang="en-IN" sz="2200" spc="-10" dirty="0">
              <a:latin typeface="Times New Roman" panose="02020603050405020304" pitchFamily="18" charset="0"/>
              <a:cs typeface="Times New Roman" panose="02020603050405020304" pitchFamily="18" charset="0"/>
            </a:endParaRPr>
          </a:p>
        </p:txBody>
      </p:sp>
      <p:sp>
        <p:nvSpPr>
          <p:cNvPr id="22" name="Rectangle 2">
            <a:extLst>
              <a:ext uri="{FF2B5EF4-FFF2-40B4-BE49-F238E27FC236}">
                <a16:creationId xmlns:a16="http://schemas.microsoft.com/office/drawing/2014/main" id="{1ABBECF8-9BED-8725-A921-06CD12A2D163}"/>
              </a:ext>
            </a:extLst>
          </p:cNvPr>
          <p:cNvSpPr>
            <a:spLocks noChangeArrowheads="1"/>
          </p:cNvSpPr>
          <p:nvPr/>
        </p:nvSpPr>
        <p:spPr bwMode="auto">
          <a:xfrm>
            <a:off x="5801816" y="2943065"/>
            <a:ext cx="11793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23" name="Rectangle 3">
            <a:extLst>
              <a:ext uri="{FF2B5EF4-FFF2-40B4-BE49-F238E27FC236}">
                <a16:creationId xmlns:a16="http://schemas.microsoft.com/office/drawing/2014/main" id="{11BF2EF0-E90E-9757-F53E-6FCCEA8F11B9}"/>
              </a:ext>
            </a:extLst>
          </p:cNvPr>
          <p:cNvSpPr>
            <a:spLocks noChangeArrowheads="1"/>
          </p:cNvSpPr>
          <p:nvPr/>
        </p:nvSpPr>
        <p:spPr bwMode="auto">
          <a:xfrm>
            <a:off x="5801816" y="6325398"/>
            <a:ext cx="1179391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E163717F-5111-67EE-6966-C43BF6E3E0BE}"/>
              </a:ext>
            </a:extLst>
          </p:cNvPr>
          <p:cNvSpPr>
            <a:spLocks noChangeArrowheads="1"/>
          </p:cNvSpPr>
          <p:nvPr/>
        </p:nvSpPr>
        <p:spPr bwMode="auto">
          <a:xfrm>
            <a:off x="419886" y="6115107"/>
            <a:ext cx="21403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8">
            <a:extLst>
              <a:ext uri="{FF2B5EF4-FFF2-40B4-BE49-F238E27FC236}">
                <a16:creationId xmlns:a16="http://schemas.microsoft.com/office/drawing/2014/main" id="{50D544FA-07CD-7CC1-1F66-8743788B6CF8}"/>
              </a:ext>
            </a:extLst>
          </p:cNvPr>
          <p:cNvSpPr>
            <a:spLocks noChangeArrowheads="1"/>
          </p:cNvSpPr>
          <p:nvPr/>
        </p:nvSpPr>
        <p:spPr bwMode="auto">
          <a:xfrm>
            <a:off x="395823" y="44914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8" name="Rectangle 11">
            <a:extLst>
              <a:ext uri="{FF2B5EF4-FFF2-40B4-BE49-F238E27FC236}">
                <a16:creationId xmlns:a16="http://schemas.microsoft.com/office/drawing/2014/main" id="{C3BA9C55-61FE-6FBB-008D-6CF011EF0452}"/>
              </a:ext>
            </a:extLst>
          </p:cNvPr>
          <p:cNvSpPr>
            <a:spLocks noChangeArrowheads="1"/>
          </p:cNvSpPr>
          <p:nvPr/>
        </p:nvSpPr>
        <p:spPr bwMode="auto">
          <a:xfrm>
            <a:off x="5882222" y="8302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9" name="Rectangle 12">
            <a:extLst>
              <a:ext uri="{FF2B5EF4-FFF2-40B4-BE49-F238E27FC236}">
                <a16:creationId xmlns:a16="http://schemas.microsoft.com/office/drawing/2014/main" id="{6BBFC357-A98A-EA65-4915-4536B19660B0}"/>
              </a:ext>
            </a:extLst>
          </p:cNvPr>
          <p:cNvSpPr>
            <a:spLocks noChangeArrowheads="1"/>
          </p:cNvSpPr>
          <p:nvPr/>
        </p:nvSpPr>
        <p:spPr bwMode="auto">
          <a:xfrm>
            <a:off x="5882222" y="3137858"/>
            <a:ext cx="20120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3" name="Picture 12">
            <a:extLst>
              <a:ext uri="{FF2B5EF4-FFF2-40B4-BE49-F238E27FC236}">
                <a16:creationId xmlns:a16="http://schemas.microsoft.com/office/drawing/2014/main" id="{D78486DD-2D1B-97CF-5D04-D392364204DA}"/>
              </a:ext>
            </a:extLst>
          </p:cNvPr>
          <p:cNvPicPr/>
          <p:nvPr/>
        </p:nvPicPr>
        <p:blipFill>
          <a:blip r:embed="rId3"/>
          <a:stretch>
            <a:fillRect/>
          </a:stretch>
        </p:blipFill>
        <p:spPr>
          <a:xfrm>
            <a:off x="822199" y="1546543"/>
            <a:ext cx="4932045" cy="3444240"/>
          </a:xfrm>
          <a:prstGeom prst="rect">
            <a:avLst/>
          </a:prstGeom>
        </p:spPr>
      </p:pic>
      <p:pic>
        <p:nvPicPr>
          <p:cNvPr id="14" name="Picture 13">
            <a:extLst>
              <a:ext uri="{FF2B5EF4-FFF2-40B4-BE49-F238E27FC236}">
                <a16:creationId xmlns:a16="http://schemas.microsoft.com/office/drawing/2014/main" id="{5238DA14-344C-5701-8079-790EC01A3983}"/>
              </a:ext>
            </a:extLst>
          </p:cNvPr>
          <p:cNvPicPr/>
          <p:nvPr/>
        </p:nvPicPr>
        <p:blipFill>
          <a:blip r:embed="rId4"/>
          <a:stretch>
            <a:fillRect/>
          </a:stretch>
        </p:blipFill>
        <p:spPr>
          <a:xfrm>
            <a:off x="6345289" y="1546543"/>
            <a:ext cx="4969510" cy="2828290"/>
          </a:xfrm>
          <a:prstGeom prst="rect">
            <a:avLst/>
          </a:prstGeom>
        </p:spPr>
      </p:pic>
    </p:spTree>
    <p:extLst>
      <p:ext uri="{BB962C8B-B14F-4D97-AF65-F5344CB8AC3E}">
        <p14:creationId xmlns:p14="http://schemas.microsoft.com/office/powerpoint/2010/main" val="2271069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1AB24-52F0-4B81-7CD4-3052F50B93F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A103564-AC17-0B6C-E327-2C8364892AB3}"/>
              </a:ext>
            </a:extLst>
          </p:cNvPr>
          <p:cNvSpPr txBox="1"/>
          <p:nvPr/>
        </p:nvSpPr>
        <p:spPr>
          <a:xfrm>
            <a:off x="4876800" y="-27407"/>
            <a:ext cx="47244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D6FDB147-94D7-1B02-3CE3-E0871D904BD9}"/>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AA5B39F8-59AD-6AD1-7B5B-D3A22337E3F5}"/>
                </a:ext>
              </a:extLst>
            </p:cNvPr>
            <p:cNvPicPr/>
            <p:nvPr/>
          </p:nvPicPr>
          <p:blipFill>
            <a:blip r:embed="rId2"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6358F73A-476C-BD5A-57DA-92E6083AF228}"/>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A02AD324-16F9-970D-1231-D758A5838381}"/>
              </a:ext>
            </a:extLst>
          </p:cNvPr>
          <p:cNvSpPr txBox="1">
            <a:spLocks noGrp="1"/>
          </p:cNvSpPr>
          <p:nvPr>
            <p:ph type="title"/>
          </p:nvPr>
        </p:nvSpPr>
        <p:spPr>
          <a:xfrm>
            <a:off x="141782" y="198892"/>
            <a:ext cx="5344617" cy="689932"/>
          </a:xfrm>
          <a:prstGeom prst="rect">
            <a:avLst/>
          </a:prstGeom>
        </p:spPr>
        <p:txBody>
          <a:bodyPr vert="horz" wrap="square" lIns="0" tIns="12700" rIns="0" bIns="0" rtlCol="0">
            <a:spAutoFit/>
          </a:bodyPr>
          <a:lstStyle/>
          <a:p>
            <a:pPr marL="12700">
              <a:lnSpc>
                <a:spcPct val="100000"/>
              </a:lnSpc>
              <a:spcBef>
                <a:spcPts val="100"/>
              </a:spcBef>
            </a:pPr>
            <a:r>
              <a:rPr lang="en-US" spc="-10" dirty="0"/>
              <a:t>Results</a:t>
            </a:r>
            <a:endParaRPr spc="-10" dirty="0"/>
          </a:p>
        </p:txBody>
      </p:sp>
      <p:sp>
        <p:nvSpPr>
          <p:cNvPr id="9" name="object 9">
            <a:extLst>
              <a:ext uri="{FF2B5EF4-FFF2-40B4-BE49-F238E27FC236}">
                <a16:creationId xmlns:a16="http://schemas.microsoft.com/office/drawing/2014/main" id="{E6107CFB-08D4-36AB-45B7-61140E4924CF}"/>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10" name="object 10">
            <a:extLst>
              <a:ext uri="{FF2B5EF4-FFF2-40B4-BE49-F238E27FC236}">
                <a16:creationId xmlns:a16="http://schemas.microsoft.com/office/drawing/2014/main" id="{5D1C8E03-2FB4-CEC7-6B64-3FE6B42B8976}"/>
              </a:ext>
            </a:extLst>
          </p:cNvPr>
          <p:cNvSpPr txBox="1">
            <a:spLocks noGrp="1"/>
          </p:cNvSpPr>
          <p:nvPr>
            <p:ph type="dt" sz="half" idx="6"/>
          </p:nvPr>
        </p:nvSpPr>
        <p:spPr>
          <a:xfrm>
            <a:off x="838200" y="6641751"/>
            <a:ext cx="5181600"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1" name="object 11">
            <a:extLst>
              <a:ext uri="{FF2B5EF4-FFF2-40B4-BE49-F238E27FC236}">
                <a16:creationId xmlns:a16="http://schemas.microsoft.com/office/drawing/2014/main" id="{D12FA80F-203F-F5E7-202E-F5BBB65D084F}"/>
              </a:ext>
            </a:extLst>
          </p:cNvPr>
          <p:cNvSpPr txBox="1"/>
          <p:nvPr/>
        </p:nvSpPr>
        <p:spPr>
          <a:xfrm>
            <a:off x="6525636" y="6641751"/>
            <a:ext cx="3913764"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a:extLst>
              <a:ext uri="{FF2B5EF4-FFF2-40B4-BE49-F238E27FC236}">
                <a16:creationId xmlns:a16="http://schemas.microsoft.com/office/drawing/2014/main" id="{74E5A12E-6A7A-4D8A-7817-5CCB72317F1E}"/>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18</a:t>
            </a:fld>
            <a:endParaRPr spc="-25" dirty="0"/>
          </a:p>
        </p:txBody>
      </p:sp>
      <p:sp>
        <p:nvSpPr>
          <p:cNvPr id="7" name="object 7">
            <a:extLst>
              <a:ext uri="{FF2B5EF4-FFF2-40B4-BE49-F238E27FC236}">
                <a16:creationId xmlns:a16="http://schemas.microsoft.com/office/drawing/2014/main" id="{073B4942-03A6-1F08-1BDA-D4385BBEC2CE}"/>
              </a:ext>
            </a:extLst>
          </p:cNvPr>
          <p:cNvSpPr txBox="1"/>
          <p:nvPr/>
        </p:nvSpPr>
        <p:spPr>
          <a:xfrm>
            <a:off x="207327" y="4800600"/>
            <a:ext cx="11624945" cy="2462213"/>
          </a:xfrm>
          <a:prstGeom prst="rect">
            <a:avLst/>
          </a:prstGeom>
        </p:spPr>
        <p:txBody>
          <a:bodyPr vert="horz" wrap="square" lIns="0" tIns="60960" rIns="0" bIns="0" rtlCol="0">
            <a:spAutoFit/>
          </a:bodyPr>
          <a:lstStyle/>
          <a:p>
            <a:pPr rtl="0"/>
            <a:endParaRPr lang="en-IN" sz="1800" dirty="0"/>
          </a:p>
          <a:p>
            <a:pPr rtl="0"/>
            <a:endParaRPr lang="en-IN" dirty="0"/>
          </a:p>
          <a:p>
            <a:pPr rtl="0"/>
            <a:endParaRPr lang="en-IN" sz="1800" dirty="0"/>
          </a:p>
          <a:p>
            <a:pPr rtl="0"/>
            <a:endParaRPr lang="en-IN" dirty="0"/>
          </a:p>
          <a:p>
            <a:pPr rtl="0"/>
            <a:endParaRPr lang="en-IN" sz="1800" dirty="0"/>
          </a:p>
          <a:p>
            <a:pPr rtl="0"/>
            <a:r>
              <a:rPr lang="en-IN" dirty="0"/>
              <a:t>                                                 </a:t>
            </a:r>
            <a:endParaRPr lang="en-IN" sz="2200" spc="-10" dirty="0">
              <a:latin typeface="Times New Roman" panose="02020603050405020304" pitchFamily="18" charset="0"/>
              <a:cs typeface="Times New Roman" panose="02020603050405020304" pitchFamily="18" charset="0"/>
            </a:endParaRPr>
          </a:p>
          <a:p>
            <a:br>
              <a:rPr lang="en-US" sz="2200" dirty="0">
                <a:latin typeface="Times New Roman" panose="02020603050405020304" pitchFamily="18" charset="0"/>
                <a:cs typeface="Times New Roman" panose="02020603050405020304" pitchFamily="18" charset="0"/>
              </a:rPr>
            </a:br>
            <a:endParaRPr lang="en-IN" sz="2200" spc="-10" dirty="0">
              <a:latin typeface="Times New Roman" panose="02020603050405020304" pitchFamily="18" charset="0"/>
              <a:cs typeface="Times New Roman" panose="02020603050405020304" pitchFamily="18" charset="0"/>
            </a:endParaRPr>
          </a:p>
        </p:txBody>
      </p:sp>
      <p:sp>
        <p:nvSpPr>
          <p:cNvPr id="22" name="Rectangle 2">
            <a:extLst>
              <a:ext uri="{FF2B5EF4-FFF2-40B4-BE49-F238E27FC236}">
                <a16:creationId xmlns:a16="http://schemas.microsoft.com/office/drawing/2014/main" id="{5B8392C4-A906-63F7-912E-C42799246166}"/>
              </a:ext>
            </a:extLst>
          </p:cNvPr>
          <p:cNvSpPr>
            <a:spLocks noChangeArrowheads="1"/>
          </p:cNvSpPr>
          <p:nvPr/>
        </p:nvSpPr>
        <p:spPr bwMode="auto">
          <a:xfrm>
            <a:off x="5801816" y="2943065"/>
            <a:ext cx="11793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23" name="Rectangle 3">
            <a:extLst>
              <a:ext uri="{FF2B5EF4-FFF2-40B4-BE49-F238E27FC236}">
                <a16:creationId xmlns:a16="http://schemas.microsoft.com/office/drawing/2014/main" id="{69FE3B18-668F-2DC8-8468-F449FC946A9A}"/>
              </a:ext>
            </a:extLst>
          </p:cNvPr>
          <p:cNvSpPr>
            <a:spLocks noChangeArrowheads="1"/>
          </p:cNvSpPr>
          <p:nvPr/>
        </p:nvSpPr>
        <p:spPr bwMode="auto">
          <a:xfrm>
            <a:off x="5801816" y="6325398"/>
            <a:ext cx="1179391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E03A9EEB-DBC2-44FA-E529-63B7047C03DD}"/>
              </a:ext>
            </a:extLst>
          </p:cNvPr>
          <p:cNvSpPr>
            <a:spLocks noChangeArrowheads="1"/>
          </p:cNvSpPr>
          <p:nvPr/>
        </p:nvSpPr>
        <p:spPr bwMode="auto">
          <a:xfrm>
            <a:off x="419886" y="6115107"/>
            <a:ext cx="21403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8">
            <a:extLst>
              <a:ext uri="{FF2B5EF4-FFF2-40B4-BE49-F238E27FC236}">
                <a16:creationId xmlns:a16="http://schemas.microsoft.com/office/drawing/2014/main" id="{0B95D131-2B8D-4E34-E46A-494BAB98378B}"/>
              </a:ext>
            </a:extLst>
          </p:cNvPr>
          <p:cNvSpPr>
            <a:spLocks noChangeArrowheads="1"/>
          </p:cNvSpPr>
          <p:nvPr/>
        </p:nvSpPr>
        <p:spPr bwMode="auto">
          <a:xfrm>
            <a:off x="395823" y="44914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8" name="Rectangle 11">
            <a:extLst>
              <a:ext uri="{FF2B5EF4-FFF2-40B4-BE49-F238E27FC236}">
                <a16:creationId xmlns:a16="http://schemas.microsoft.com/office/drawing/2014/main" id="{E153C080-22F5-69E8-2EBF-DE2ED0D905DB}"/>
              </a:ext>
            </a:extLst>
          </p:cNvPr>
          <p:cNvSpPr>
            <a:spLocks noChangeArrowheads="1"/>
          </p:cNvSpPr>
          <p:nvPr/>
        </p:nvSpPr>
        <p:spPr bwMode="auto">
          <a:xfrm>
            <a:off x="5882222" y="8302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9" name="Rectangle 12">
            <a:extLst>
              <a:ext uri="{FF2B5EF4-FFF2-40B4-BE49-F238E27FC236}">
                <a16:creationId xmlns:a16="http://schemas.microsoft.com/office/drawing/2014/main" id="{4B637910-4A16-17A1-9E8D-E9DE978395B4}"/>
              </a:ext>
            </a:extLst>
          </p:cNvPr>
          <p:cNvSpPr>
            <a:spLocks noChangeArrowheads="1"/>
          </p:cNvSpPr>
          <p:nvPr/>
        </p:nvSpPr>
        <p:spPr bwMode="auto">
          <a:xfrm>
            <a:off x="5882222" y="3137858"/>
            <a:ext cx="20120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8" name="Picture 7">
            <a:extLst>
              <a:ext uri="{FF2B5EF4-FFF2-40B4-BE49-F238E27FC236}">
                <a16:creationId xmlns:a16="http://schemas.microsoft.com/office/drawing/2014/main" id="{4971CC1C-B744-2BD6-2216-EC3A1CCD75F6}"/>
              </a:ext>
            </a:extLst>
          </p:cNvPr>
          <p:cNvPicPr/>
          <p:nvPr/>
        </p:nvPicPr>
        <p:blipFill>
          <a:blip r:embed="rId3"/>
          <a:stretch>
            <a:fillRect/>
          </a:stretch>
        </p:blipFill>
        <p:spPr>
          <a:xfrm>
            <a:off x="699751" y="1700208"/>
            <a:ext cx="4538980" cy="3398520"/>
          </a:xfrm>
          <a:prstGeom prst="rect">
            <a:avLst/>
          </a:prstGeom>
        </p:spPr>
      </p:pic>
      <p:pic>
        <p:nvPicPr>
          <p:cNvPr id="15" name="Picture 14">
            <a:extLst>
              <a:ext uri="{FF2B5EF4-FFF2-40B4-BE49-F238E27FC236}">
                <a16:creationId xmlns:a16="http://schemas.microsoft.com/office/drawing/2014/main" id="{495B2286-9DF5-4A50-D4B2-0C66BFFD0492}"/>
              </a:ext>
            </a:extLst>
          </p:cNvPr>
          <p:cNvPicPr/>
          <p:nvPr/>
        </p:nvPicPr>
        <p:blipFill>
          <a:blip r:embed="rId4"/>
          <a:stretch>
            <a:fillRect/>
          </a:stretch>
        </p:blipFill>
        <p:spPr>
          <a:xfrm>
            <a:off x="5882222" y="1508125"/>
            <a:ext cx="4464685" cy="3521075"/>
          </a:xfrm>
          <a:prstGeom prst="rect">
            <a:avLst/>
          </a:prstGeom>
        </p:spPr>
      </p:pic>
    </p:spTree>
    <p:extLst>
      <p:ext uri="{BB962C8B-B14F-4D97-AF65-F5344CB8AC3E}">
        <p14:creationId xmlns:p14="http://schemas.microsoft.com/office/powerpoint/2010/main" val="3729586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D0C1A-0074-5A72-903A-5EFD75568DE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9EEDA2A-D5AB-9ADA-DA04-A0D92E392A9A}"/>
              </a:ext>
            </a:extLst>
          </p:cNvPr>
          <p:cNvSpPr txBox="1"/>
          <p:nvPr/>
        </p:nvSpPr>
        <p:spPr>
          <a:xfrm>
            <a:off x="4876800" y="-27407"/>
            <a:ext cx="4724400"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grpSp>
        <p:nvGrpSpPr>
          <p:cNvPr id="3" name="object 3">
            <a:extLst>
              <a:ext uri="{FF2B5EF4-FFF2-40B4-BE49-F238E27FC236}">
                <a16:creationId xmlns:a16="http://schemas.microsoft.com/office/drawing/2014/main" id="{F0CB735B-64F7-F5FD-D053-D7B7D32AC9A8}"/>
              </a:ext>
            </a:extLst>
          </p:cNvPr>
          <p:cNvGrpSpPr/>
          <p:nvPr/>
        </p:nvGrpSpPr>
        <p:grpSpPr>
          <a:xfrm>
            <a:off x="-2" y="216249"/>
            <a:ext cx="12192000" cy="803910"/>
            <a:chOff x="-2" y="216249"/>
            <a:chExt cx="12192000" cy="803910"/>
          </a:xfrm>
        </p:grpSpPr>
        <p:pic>
          <p:nvPicPr>
            <p:cNvPr id="4" name="object 4">
              <a:extLst>
                <a:ext uri="{FF2B5EF4-FFF2-40B4-BE49-F238E27FC236}">
                  <a16:creationId xmlns:a16="http://schemas.microsoft.com/office/drawing/2014/main" id="{2E59D68E-DC19-AA4E-9A2A-2BE79476A28C}"/>
                </a:ext>
              </a:extLst>
            </p:cNvPr>
            <p:cNvPicPr/>
            <p:nvPr/>
          </p:nvPicPr>
          <p:blipFill>
            <a:blip r:embed="rId2" cstate="print"/>
            <a:stretch>
              <a:fillRect/>
            </a:stretch>
          </p:blipFill>
          <p:spPr>
            <a:xfrm>
              <a:off x="0" y="216249"/>
              <a:ext cx="12192000" cy="803792"/>
            </a:xfrm>
            <a:prstGeom prst="rect">
              <a:avLst/>
            </a:prstGeom>
          </p:spPr>
        </p:pic>
        <p:sp>
          <p:nvSpPr>
            <p:cNvPr id="5" name="object 5">
              <a:extLst>
                <a:ext uri="{FF2B5EF4-FFF2-40B4-BE49-F238E27FC236}">
                  <a16:creationId xmlns:a16="http://schemas.microsoft.com/office/drawing/2014/main" id="{50D3DAEA-1CC0-BB80-8C3E-BD1CE0EEA909}"/>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endParaRPr/>
            </a:p>
          </p:txBody>
        </p:sp>
      </p:grpSp>
      <p:sp>
        <p:nvSpPr>
          <p:cNvPr id="6" name="object 6">
            <a:extLst>
              <a:ext uri="{FF2B5EF4-FFF2-40B4-BE49-F238E27FC236}">
                <a16:creationId xmlns:a16="http://schemas.microsoft.com/office/drawing/2014/main" id="{A9DB4081-A372-F707-8A28-159A2161B92F}"/>
              </a:ext>
            </a:extLst>
          </p:cNvPr>
          <p:cNvSpPr txBox="1">
            <a:spLocks noGrp="1"/>
          </p:cNvSpPr>
          <p:nvPr>
            <p:ph type="title"/>
          </p:nvPr>
        </p:nvSpPr>
        <p:spPr>
          <a:xfrm>
            <a:off x="141782" y="198892"/>
            <a:ext cx="6716218" cy="689932"/>
          </a:xfrm>
          <a:prstGeom prst="rect">
            <a:avLst/>
          </a:prstGeom>
        </p:spPr>
        <p:txBody>
          <a:bodyPr vert="horz" wrap="square" lIns="0" tIns="12700" rIns="0" bIns="0" rtlCol="0">
            <a:spAutoFit/>
          </a:bodyPr>
          <a:lstStyle/>
          <a:p>
            <a:pPr marL="12700">
              <a:lnSpc>
                <a:spcPct val="100000"/>
              </a:lnSpc>
              <a:spcBef>
                <a:spcPts val="100"/>
              </a:spcBef>
            </a:pPr>
            <a:r>
              <a:rPr lang="en-US" spc="-10" dirty="0"/>
              <a:t>Conclusion </a:t>
            </a:r>
            <a:endParaRPr spc="-10" dirty="0"/>
          </a:p>
        </p:txBody>
      </p:sp>
      <p:sp>
        <p:nvSpPr>
          <p:cNvPr id="9" name="object 9">
            <a:extLst>
              <a:ext uri="{FF2B5EF4-FFF2-40B4-BE49-F238E27FC236}">
                <a16:creationId xmlns:a16="http://schemas.microsoft.com/office/drawing/2014/main" id="{899224AC-4C97-7092-DEBD-4DA2090B12F4}"/>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10" name="object 10">
            <a:extLst>
              <a:ext uri="{FF2B5EF4-FFF2-40B4-BE49-F238E27FC236}">
                <a16:creationId xmlns:a16="http://schemas.microsoft.com/office/drawing/2014/main" id="{F7BCE14A-4088-F97C-8DF5-9A0875880C12}"/>
              </a:ext>
            </a:extLst>
          </p:cNvPr>
          <p:cNvSpPr txBox="1">
            <a:spLocks noGrp="1"/>
          </p:cNvSpPr>
          <p:nvPr>
            <p:ph type="dt" sz="half" idx="6"/>
          </p:nvPr>
        </p:nvSpPr>
        <p:spPr>
          <a:xfrm>
            <a:off x="838200" y="6641751"/>
            <a:ext cx="5181600"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11" name="object 11">
            <a:extLst>
              <a:ext uri="{FF2B5EF4-FFF2-40B4-BE49-F238E27FC236}">
                <a16:creationId xmlns:a16="http://schemas.microsoft.com/office/drawing/2014/main" id="{6CDC34D1-74D8-0302-2398-94CED3032BDC}"/>
              </a:ext>
            </a:extLst>
          </p:cNvPr>
          <p:cNvSpPr txBox="1"/>
          <p:nvPr/>
        </p:nvSpPr>
        <p:spPr>
          <a:xfrm>
            <a:off x="6525636" y="6641751"/>
            <a:ext cx="3913764"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12" name="object 12">
            <a:extLst>
              <a:ext uri="{FF2B5EF4-FFF2-40B4-BE49-F238E27FC236}">
                <a16:creationId xmlns:a16="http://schemas.microsoft.com/office/drawing/2014/main" id="{350BEACE-FF75-59D5-C45B-644083EBFE5B}"/>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19</a:t>
            </a:fld>
            <a:endParaRPr spc="-25" dirty="0"/>
          </a:p>
        </p:txBody>
      </p:sp>
      <p:sp>
        <p:nvSpPr>
          <p:cNvPr id="7" name="object 7">
            <a:extLst>
              <a:ext uri="{FF2B5EF4-FFF2-40B4-BE49-F238E27FC236}">
                <a16:creationId xmlns:a16="http://schemas.microsoft.com/office/drawing/2014/main" id="{6604CC7C-3FB5-57DD-A6B9-CCA639A8F3EB}"/>
              </a:ext>
            </a:extLst>
          </p:cNvPr>
          <p:cNvSpPr txBox="1"/>
          <p:nvPr/>
        </p:nvSpPr>
        <p:spPr>
          <a:xfrm>
            <a:off x="207327" y="4800600"/>
            <a:ext cx="11624945" cy="2462213"/>
          </a:xfrm>
          <a:prstGeom prst="rect">
            <a:avLst/>
          </a:prstGeom>
        </p:spPr>
        <p:txBody>
          <a:bodyPr vert="horz" wrap="square" lIns="0" tIns="60960" rIns="0" bIns="0" rtlCol="0">
            <a:spAutoFit/>
          </a:bodyPr>
          <a:lstStyle/>
          <a:p>
            <a:pPr rtl="0"/>
            <a:endParaRPr lang="en-IN" sz="1800" dirty="0"/>
          </a:p>
          <a:p>
            <a:pPr rtl="0"/>
            <a:endParaRPr lang="en-IN" dirty="0"/>
          </a:p>
          <a:p>
            <a:pPr rtl="0"/>
            <a:endParaRPr lang="en-IN" sz="1800" dirty="0"/>
          </a:p>
          <a:p>
            <a:pPr rtl="0"/>
            <a:endParaRPr lang="en-IN" dirty="0"/>
          </a:p>
          <a:p>
            <a:pPr rtl="0"/>
            <a:endParaRPr lang="en-IN" sz="1800" dirty="0"/>
          </a:p>
          <a:p>
            <a:pPr rtl="0"/>
            <a:r>
              <a:rPr lang="en-IN" dirty="0"/>
              <a:t>                                                 </a:t>
            </a:r>
            <a:endParaRPr lang="en-IN" sz="2200" spc="-10" dirty="0">
              <a:latin typeface="Times New Roman" panose="02020603050405020304" pitchFamily="18" charset="0"/>
              <a:cs typeface="Times New Roman" panose="02020603050405020304" pitchFamily="18" charset="0"/>
            </a:endParaRPr>
          </a:p>
          <a:p>
            <a:br>
              <a:rPr lang="en-US" sz="2200" dirty="0">
                <a:latin typeface="Times New Roman" panose="02020603050405020304" pitchFamily="18" charset="0"/>
                <a:cs typeface="Times New Roman" panose="02020603050405020304" pitchFamily="18" charset="0"/>
              </a:rPr>
            </a:br>
            <a:endParaRPr lang="en-IN" sz="2200" spc="-10" dirty="0">
              <a:latin typeface="Times New Roman" panose="02020603050405020304" pitchFamily="18" charset="0"/>
              <a:cs typeface="Times New Roman" panose="02020603050405020304" pitchFamily="18" charset="0"/>
            </a:endParaRPr>
          </a:p>
        </p:txBody>
      </p:sp>
      <p:sp>
        <p:nvSpPr>
          <p:cNvPr id="22" name="Rectangle 2">
            <a:extLst>
              <a:ext uri="{FF2B5EF4-FFF2-40B4-BE49-F238E27FC236}">
                <a16:creationId xmlns:a16="http://schemas.microsoft.com/office/drawing/2014/main" id="{BFA13BF7-1D60-F55D-0391-535F869118E7}"/>
              </a:ext>
            </a:extLst>
          </p:cNvPr>
          <p:cNvSpPr>
            <a:spLocks noChangeArrowheads="1"/>
          </p:cNvSpPr>
          <p:nvPr/>
        </p:nvSpPr>
        <p:spPr bwMode="auto">
          <a:xfrm>
            <a:off x="5801816" y="2943065"/>
            <a:ext cx="11793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
        <p:nvSpPr>
          <p:cNvPr id="23" name="Rectangle 3">
            <a:extLst>
              <a:ext uri="{FF2B5EF4-FFF2-40B4-BE49-F238E27FC236}">
                <a16:creationId xmlns:a16="http://schemas.microsoft.com/office/drawing/2014/main" id="{09974EFD-F0A1-E512-DCDD-68B2F61A38DB}"/>
              </a:ext>
            </a:extLst>
          </p:cNvPr>
          <p:cNvSpPr>
            <a:spLocks noChangeArrowheads="1"/>
          </p:cNvSpPr>
          <p:nvPr/>
        </p:nvSpPr>
        <p:spPr bwMode="auto">
          <a:xfrm>
            <a:off x="5801816" y="6325398"/>
            <a:ext cx="11793913"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5" name="Rectangle 6">
            <a:extLst>
              <a:ext uri="{FF2B5EF4-FFF2-40B4-BE49-F238E27FC236}">
                <a16:creationId xmlns:a16="http://schemas.microsoft.com/office/drawing/2014/main" id="{9212436B-C337-1B77-514B-0CED4B6C8A03}"/>
              </a:ext>
            </a:extLst>
          </p:cNvPr>
          <p:cNvSpPr>
            <a:spLocks noChangeArrowheads="1"/>
          </p:cNvSpPr>
          <p:nvPr/>
        </p:nvSpPr>
        <p:spPr bwMode="auto">
          <a:xfrm>
            <a:off x="419886" y="6115107"/>
            <a:ext cx="2140330"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6" name="Rectangle 8">
            <a:extLst>
              <a:ext uri="{FF2B5EF4-FFF2-40B4-BE49-F238E27FC236}">
                <a16:creationId xmlns:a16="http://schemas.microsoft.com/office/drawing/2014/main" id="{45BA2D44-CDB5-1AC0-9A31-BBCDC7DCF47D}"/>
              </a:ext>
            </a:extLst>
          </p:cNvPr>
          <p:cNvSpPr>
            <a:spLocks noChangeArrowheads="1"/>
          </p:cNvSpPr>
          <p:nvPr/>
        </p:nvSpPr>
        <p:spPr bwMode="auto">
          <a:xfrm>
            <a:off x="395823" y="449142"/>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8" name="Rectangle 11">
            <a:extLst>
              <a:ext uri="{FF2B5EF4-FFF2-40B4-BE49-F238E27FC236}">
                <a16:creationId xmlns:a16="http://schemas.microsoft.com/office/drawing/2014/main" id="{E3BE39CC-31A7-282B-9588-8314CFA7368B}"/>
              </a:ext>
            </a:extLst>
          </p:cNvPr>
          <p:cNvSpPr>
            <a:spLocks noChangeArrowheads="1"/>
          </p:cNvSpPr>
          <p:nvPr/>
        </p:nvSpPr>
        <p:spPr bwMode="auto">
          <a:xfrm>
            <a:off x="5882222" y="83026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29" name="Rectangle 12">
            <a:extLst>
              <a:ext uri="{FF2B5EF4-FFF2-40B4-BE49-F238E27FC236}">
                <a16:creationId xmlns:a16="http://schemas.microsoft.com/office/drawing/2014/main" id="{98610210-92DB-2B7A-E79A-8A4A8DB89A9A}"/>
              </a:ext>
            </a:extLst>
          </p:cNvPr>
          <p:cNvSpPr>
            <a:spLocks noChangeArrowheads="1"/>
          </p:cNvSpPr>
          <p:nvPr/>
        </p:nvSpPr>
        <p:spPr bwMode="auto">
          <a:xfrm>
            <a:off x="5882222" y="3137858"/>
            <a:ext cx="2012089"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TextBox 13">
            <a:extLst>
              <a:ext uri="{FF2B5EF4-FFF2-40B4-BE49-F238E27FC236}">
                <a16:creationId xmlns:a16="http://schemas.microsoft.com/office/drawing/2014/main" id="{44E5CAF4-4157-EE10-5E99-46C07E540F27}"/>
              </a:ext>
            </a:extLst>
          </p:cNvPr>
          <p:cNvSpPr txBox="1"/>
          <p:nvPr/>
        </p:nvSpPr>
        <p:spPr>
          <a:xfrm>
            <a:off x="359728" y="846955"/>
            <a:ext cx="9128234" cy="4411400"/>
          </a:xfrm>
          <a:prstGeom prst="rect">
            <a:avLst/>
          </a:prstGeom>
          <a:noFill/>
        </p:spPr>
        <p:txBody>
          <a:bodyPr wrap="square">
            <a:spAutoFit/>
          </a:bodyPr>
          <a:lstStyle/>
          <a:p>
            <a:pPr algn="l"/>
            <a:endParaRPr lang="en-US" sz="2400" b="1" dirty="0">
              <a:latin typeface="Times New Roman" panose="02020603050405020304" pitchFamily="18" charset="0"/>
              <a:cs typeface="Times New Roman" panose="02020603050405020304" pitchFamily="18" charset="0"/>
            </a:endParaRPr>
          </a:p>
          <a:p>
            <a:pPr marL="342900" indent="-342900" algn="just">
              <a:lnSpc>
                <a:spcPct val="12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Smart Intruder Detection System provides an effective and automated security solution using Raspberry Pi and multiple sensors for accurate detection</a:t>
            </a:r>
            <a:r>
              <a:rPr lang="en-US" sz="2400" dirty="0"/>
              <a:t>.</a:t>
            </a:r>
            <a:endParaRPr lang="en-US" sz="2400" dirty="0">
              <a:latin typeface="Times New Roman" panose="02020603050405020304" pitchFamily="18" charset="0"/>
              <a:cs typeface="Times New Roman" panose="02020603050405020304" pitchFamily="18" charset="0"/>
            </a:endParaRPr>
          </a:p>
          <a:p>
            <a:pPr marL="342900" indent="-342900" algn="just">
              <a:lnSpc>
                <a:spcPct val="12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successfully detects motion, sound, and suspicious activities even in low-light and dark environments, overcoming limitations of traditional systems</a:t>
            </a:r>
            <a:r>
              <a:rPr lang="en-US" sz="2400" dirty="0"/>
              <a:t>.</a:t>
            </a:r>
            <a:endParaRPr lang="en-US" sz="2400" dirty="0">
              <a:latin typeface="Times New Roman" panose="02020603050405020304" pitchFamily="18" charset="0"/>
              <a:cs typeface="Times New Roman" panose="02020603050405020304" pitchFamily="18" charset="0"/>
            </a:endParaRPr>
          </a:p>
          <a:p>
            <a:pPr marL="342900" indent="-342900" algn="l">
              <a:lnSpc>
                <a:spcPct val="12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generates real-time alerts with captured images, reducing the need for continuous human monitoring and improving response time.</a:t>
            </a:r>
          </a:p>
        </p:txBody>
      </p:sp>
    </p:spTree>
    <p:extLst>
      <p:ext uri="{BB962C8B-B14F-4D97-AF65-F5344CB8AC3E}">
        <p14:creationId xmlns:p14="http://schemas.microsoft.com/office/powerpoint/2010/main" val="27519802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76800" y="1"/>
            <a:ext cx="4266630" cy="487313"/>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a:p>
            <a:pPr marL="12700">
              <a:lnSpc>
                <a:spcPct val="100000"/>
              </a:lnSpc>
              <a:spcBef>
                <a:spcPts val="100"/>
              </a:spcBef>
            </a:pPr>
            <a:endParaRPr sz="1500" dirty="0">
              <a:latin typeface="Times New Roman"/>
              <a:cs typeface="Times New Roman"/>
            </a:endParaRPr>
          </a:p>
        </p:txBody>
      </p:sp>
      <p:sp>
        <p:nvSpPr>
          <p:cNvPr id="4" name="object 4"/>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5" name="object 5"/>
          <p:cNvSpPr txBox="1">
            <a:spLocks noGrp="1"/>
          </p:cNvSpPr>
          <p:nvPr>
            <p:ph type="dt" sz="half" idx="6"/>
          </p:nvPr>
        </p:nvSpPr>
        <p:spPr>
          <a:xfrm>
            <a:off x="838200" y="6629309"/>
            <a:ext cx="5105400"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6" name="object 6"/>
          <p:cNvSpPr txBox="1"/>
          <p:nvPr/>
        </p:nvSpPr>
        <p:spPr>
          <a:xfrm>
            <a:off x="6477000" y="6629310"/>
            <a:ext cx="4485656"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20</a:t>
            </a:fld>
            <a:endParaRPr spc="-25" dirty="0"/>
          </a:p>
        </p:txBody>
      </p:sp>
      <p:sp>
        <p:nvSpPr>
          <p:cNvPr id="3" name="object 3"/>
          <p:cNvSpPr txBox="1">
            <a:spLocks noGrp="1"/>
          </p:cNvSpPr>
          <p:nvPr>
            <p:ph type="title"/>
          </p:nvPr>
        </p:nvSpPr>
        <p:spPr>
          <a:xfrm>
            <a:off x="304800" y="762000"/>
            <a:ext cx="10657856" cy="1674817"/>
          </a:xfrm>
          <a:prstGeom prst="rect">
            <a:avLst/>
          </a:prstGeom>
        </p:spPr>
        <p:txBody>
          <a:bodyPr vert="horz" wrap="square" lIns="0" tIns="12700" rIns="0" bIns="0" rtlCol="0">
            <a:spAutoFit/>
          </a:bodyPr>
          <a:lstStyle/>
          <a:p>
            <a:pPr marL="285750" indent="-285750" rtl="0"/>
            <a:r>
              <a:rPr lang="en-IN" sz="1800" dirty="0">
                <a:latin typeface="Times New Roman" panose="02020603050405020304" pitchFamily="18" charset="0"/>
                <a:cs typeface="Times New Roman" panose="02020603050405020304" pitchFamily="18" charset="0"/>
              </a:rPr>
              <a:t>[1] Zaman, Fadhl</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[2]  Parveen, Suraiya, and Javeria Shah. “A motion detection system in python and </a:t>
            </a:r>
            <a:r>
              <a:rPr lang="en-IN" sz="1800" dirty="0" err="1">
                <a:latin typeface="Times New Roman" panose="02020603050405020304" pitchFamily="18" charset="0"/>
                <a:cs typeface="Times New Roman" panose="02020603050405020304" pitchFamily="18" charset="0"/>
              </a:rPr>
              <a:t>Oenc</a:t>
            </a:r>
            <a:r>
              <a:rPr lang="en-IN" sz="1800" dirty="0">
                <a:latin typeface="Times New Roman" panose="02020603050405020304" pitchFamily="18" charset="0"/>
                <a:cs typeface="Times New Roman" panose="02020603050405020304" pitchFamily="18" charset="0"/>
              </a:rPr>
              <a:t>” 2021 third international conference on intelligent communication technologies and virtual mobile networks(ICICV).IEEE,2021</a:t>
            </a:r>
            <a:r>
              <a:rPr lang="en-IN" sz="1800" spc="-10" dirty="0">
                <a:latin typeface="Times New Roman" panose="02020603050405020304" pitchFamily="18" charset="0"/>
                <a:cs typeface="Times New Roman" panose="02020603050405020304" pitchFamily="18" charset="0"/>
              </a:rPr>
              <a:t>.</a:t>
            </a:r>
            <a:br>
              <a:rPr lang="en-IN" sz="1800" spc="-10" dirty="0">
                <a:latin typeface="Times New Roman" panose="02020603050405020304" pitchFamily="18" charset="0"/>
                <a:cs typeface="Times New Roman" panose="02020603050405020304" pitchFamily="18" charset="0"/>
              </a:rPr>
            </a:br>
            <a:endParaRPr sz="1800" dirty="0">
              <a:latin typeface="Times New Roman"/>
              <a:cs typeface="Times New Roman"/>
            </a:endParaRPr>
          </a:p>
        </p:txBody>
      </p:sp>
      <p:sp>
        <p:nvSpPr>
          <p:cNvPr id="13" name="TextBox 12">
            <a:extLst>
              <a:ext uri="{FF2B5EF4-FFF2-40B4-BE49-F238E27FC236}">
                <a16:creationId xmlns:a16="http://schemas.microsoft.com/office/drawing/2014/main" id="{6F23BF40-FD8C-B42C-A2DE-5449940D2358}"/>
              </a:ext>
            </a:extLst>
          </p:cNvPr>
          <p:cNvSpPr txBox="1"/>
          <p:nvPr/>
        </p:nvSpPr>
        <p:spPr>
          <a:xfrm>
            <a:off x="304800" y="5715000"/>
            <a:ext cx="10831016" cy="1569660"/>
          </a:xfrm>
          <a:prstGeom prst="rect">
            <a:avLst/>
          </a:prstGeom>
          <a:noFill/>
        </p:spPr>
        <p:txBody>
          <a:bodyPr wrap="square">
            <a:spAutoFit/>
          </a:bodyPr>
          <a:lstStyle/>
          <a:p>
            <a:pPr rtl="0"/>
            <a:endParaRPr lang="en-IN" sz="2400" dirty="0"/>
          </a:p>
          <a:p>
            <a:pPr rtl="0"/>
            <a:r>
              <a:rPr lang="en-IN" sz="2400" dirty="0"/>
              <a:t>			Repository Name : CSD-2025-26 Batch-B-07</a:t>
            </a:r>
            <a:endParaRPr lang="en-IN" sz="3200" spc="-10" dirty="0">
              <a:latin typeface="Times New Roman" panose="02020603050405020304" pitchFamily="18" charset="0"/>
              <a:cs typeface="Times New Roman" panose="02020603050405020304" pitchFamily="18" charset="0"/>
            </a:endParaRPr>
          </a:p>
          <a:p>
            <a:pPr marL="285750" indent="-285750" rtl="0">
              <a:buFont typeface="Wingdings" panose="05000000000000000000" pitchFamily="2" charset="2"/>
              <a:buChar char="Ø"/>
            </a:pPr>
            <a:endParaRPr lang="en-IN" sz="2400" spc="-10" dirty="0">
              <a:latin typeface="Times New Roman" panose="02020603050405020304" pitchFamily="18" charset="0"/>
              <a:cs typeface="Times New Roman" panose="02020603050405020304" pitchFamily="18" charset="0"/>
            </a:endParaRPr>
          </a:p>
          <a:p>
            <a:pPr marL="285750" indent="-285750" rtl="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grpSp>
        <p:nvGrpSpPr>
          <p:cNvPr id="14" name="object 3">
            <a:extLst>
              <a:ext uri="{FF2B5EF4-FFF2-40B4-BE49-F238E27FC236}">
                <a16:creationId xmlns:a16="http://schemas.microsoft.com/office/drawing/2014/main" id="{919AD467-823C-BCE1-2944-2FCE71789033}"/>
              </a:ext>
            </a:extLst>
          </p:cNvPr>
          <p:cNvGrpSpPr/>
          <p:nvPr/>
        </p:nvGrpSpPr>
        <p:grpSpPr>
          <a:xfrm>
            <a:off x="-2" y="216249"/>
            <a:ext cx="12192000" cy="803910"/>
            <a:chOff x="-2" y="216249"/>
            <a:chExt cx="12192000" cy="803910"/>
          </a:xfrm>
        </p:grpSpPr>
        <p:pic>
          <p:nvPicPr>
            <p:cNvPr id="15" name="object 4">
              <a:extLst>
                <a:ext uri="{FF2B5EF4-FFF2-40B4-BE49-F238E27FC236}">
                  <a16:creationId xmlns:a16="http://schemas.microsoft.com/office/drawing/2014/main" id="{9717A79E-A34A-FD48-E9CD-E319A9A720DE}"/>
                </a:ext>
              </a:extLst>
            </p:cNvPr>
            <p:cNvPicPr/>
            <p:nvPr/>
          </p:nvPicPr>
          <p:blipFill>
            <a:blip r:embed="rId3" cstate="print"/>
            <a:stretch>
              <a:fillRect/>
            </a:stretch>
          </p:blipFill>
          <p:spPr>
            <a:xfrm>
              <a:off x="0" y="216249"/>
              <a:ext cx="12192000" cy="803792"/>
            </a:xfrm>
            <a:prstGeom prst="rect">
              <a:avLst/>
            </a:prstGeom>
          </p:spPr>
        </p:pic>
        <p:sp>
          <p:nvSpPr>
            <p:cNvPr id="16" name="object 5">
              <a:extLst>
                <a:ext uri="{FF2B5EF4-FFF2-40B4-BE49-F238E27FC236}">
                  <a16:creationId xmlns:a16="http://schemas.microsoft.com/office/drawing/2014/main" id="{04A72011-DDDD-699E-A571-5743E6376AB6}"/>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r>
                <a:rPr lang="en-IN" sz="4400" dirty="0">
                  <a:latin typeface="Times New Roman" panose="02020603050405020304" pitchFamily="18" charset="0"/>
                  <a:cs typeface="Times New Roman" panose="02020603050405020304" pitchFamily="18" charset="0"/>
                </a:rPr>
                <a:t> </a:t>
              </a:r>
              <a:r>
                <a:rPr lang="en-IN" sz="4400" dirty="0">
                  <a:solidFill>
                    <a:schemeClr val="bg2"/>
                  </a:solidFill>
                  <a:latin typeface="Times New Roman" panose="02020603050405020304" pitchFamily="18" charset="0"/>
                  <a:cs typeface="Times New Roman" panose="02020603050405020304" pitchFamily="18" charset="0"/>
                </a:rPr>
                <a:t>GitHub</a:t>
              </a:r>
              <a:endParaRPr sz="4400" dirty="0">
                <a:solidFill>
                  <a:schemeClr val="bg2"/>
                </a:solidFill>
                <a:latin typeface="Times New Roman" panose="02020603050405020304" pitchFamily="18" charset="0"/>
                <a:cs typeface="Times New Roman" panose="02020603050405020304" pitchFamily="18" charset="0"/>
              </a:endParaRPr>
            </a:p>
          </p:txBody>
        </p:sp>
      </p:grpSp>
      <p:pic>
        <p:nvPicPr>
          <p:cNvPr id="9" name="Picture 8">
            <a:extLst>
              <a:ext uri="{FF2B5EF4-FFF2-40B4-BE49-F238E27FC236}">
                <a16:creationId xmlns:a16="http://schemas.microsoft.com/office/drawing/2014/main" id="{045A2A2D-9F29-C00A-66DF-A9429BC8F9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1219200"/>
            <a:ext cx="10124456" cy="4800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BCC7F-F106-706C-11B1-5A9CC99978E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DC5FF4A-785F-3001-FAD7-2986168E603A}"/>
              </a:ext>
            </a:extLst>
          </p:cNvPr>
          <p:cNvSpPr txBox="1"/>
          <p:nvPr/>
        </p:nvSpPr>
        <p:spPr>
          <a:xfrm>
            <a:off x="4876800" y="1"/>
            <a:ext cx="4266630" cy="487313"/>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a:p>
            <a:pPr marL="12700">
              <a:lnSpc>
                <a:spcPct val="100000"/>
              </a:lnSpc>
              <a:spcBef>
                <a:spcPts val="100"/>
              </a:spcBef>
            </a:pPr>
            <a:endParaRPr sz="1500" dirty="0">
              <a:latin typeface="Times New Roman"/>
              <a:cs typeface="Times New Roman"/>
            </a:endParaRPr>
          </a:p>
        </p:txBody>
      </p:sp>
      <p:sp>
        <p:nvSpPr>
          <p:cNvPr id="4" name="object 4">
            <a:extLst>
              <a:ext uri="{FF2B5EF4-FFF2-40B4-BE49-F238E27FC236}">
                <a16:creationId xmlns:a16="http://schemas.microsoft.com/office/drawing/2014/main" id="{A95C1146-90A4-AED9-A195-8E78B921A8EE}"/>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5" name="object 5">
            <a:extLst>
              <a:ext uri="{FF2B5EF4-FFF2-40B4-BE49-F238E27FC236}">
                <a16:creationId xmlns:a16="http://schemas.microsoft.com/office/drawing/2014/main" id="{E4A89B6C-4A22-A753-4B51-AD5560E26C33}"/>
              </a:ext>
            </a:extLst>
          </p:cNvPr>
          <p:cNvSpPr txBox="1">
            <a:spLocks noGrp="1"/>
          </p:cNvSpPr>
          <p:nvPr>
            <p:ph type="dt" sz="half" idx="6"/>
          </p:nvPr>
        </p:nvSpPr>
        <p:spPr>
          <a:xfrm>
            <a:off x="838200" y="6629309"/>
            <a:ext cx="5105400"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6" name="object 6">
            <a:extLst>
              <a:ext uri="{FF2B5EF4-FFF2-40B4-BE49-F238E27FC236}">
                <a16:creationId xmlns:a16="http://schemas.microsoft.com/office/drawing/2014/main" id="{B59C4200-2A32-F671-6EBB-68089BD3CB90}"/>
              </a:ext>
            </a:extLst>
          </p:cNvPr>
          <p:cNvSpPr txBox="1"/>
          <p:nvPr/>
        </p:nvSpPr>
        <p:spPr>
          <a:xfrm>
            <a:off x="6477000" y="6629310"/>
            <a:ext cx="4485656"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a:extLst>
              <a:ext uri="{FF2B5EF4-FFF2-40B4-BE49-F238E27FC236}">
                <a16:creationId xmlns:a16="http://schemas.microsoft.com/office/drawing/2014/main" id="{28B66348-6C23-6074-0B67-93D8F71F122C}"/>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21</a:t>
            </a:fld>
            <a:endParaRPr spc="-25" dirty="0"/>
          </a:p>
        </p:txBody>
      </p:sp>
      <p:sp>
        <p:nvSpPr>
          <p:cNvPr id="3" name="object 3">
            <a:extLst>
              <a:ext uri="{FF2B5EF4-FFF2-40B4-BE49-F238E27FC236}">
                <a16:creationId xmlns:a16="http://schemas.microsoft.com/office/drawing/2014/main" id="{00D7652A-888D-0588-F317-5B84665695A3}"/>
              </a:ext>
            </a:extLst>
          </p:cNvPr>
          <p:cNvSpPr txBox="1">
            <a:spLocks noGrp="1"/>
          </p:cNvSpPr>
          <p:nvPr>
            <p:ph type="title"/>
          </p:nvPr>
        </p:nvSpPr>
        <p:spPr>
          <a:xfrm>
            <a:off x="304800" y="762000"/>
            <a:ext cx="10657856" cy="1674817"/>
          </a:xfrm>
          <a:prstGeom prst="rect">
            <a:avLst/>
          </a:prstGeom>
        </p:spPr>
        <p:txBody>
          <a:bodyPr vert="horz" wrap="square" lIns="0" tIns="12700" rIns="0" bIns="0" rtlCol="0">
            <a:spAutoFit/>
          </a:bodyPr>
          <a:lstStyle/>
          <a:p>
            <a:pPr marL="285750" indent="-285750" rtl="0"/>
            <a:r>
              <a:rPr lang="en-IN" sz="1800" dirty="0">
                <a:latin typeface="Times New Roman" panose="02020603050405020304" pitchFamily="18" charset="0"/>
                <a:cs typeface="Times New Roman" panose="02020603050405020304" pitchFamily="18" charset="0"/>
              </a:rPr>
              <a:t>[1] Zaman, Fadhl</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[2]  Parveen, Suraiya, and Javeria Shah. “A motion detection system in python and </a:t>
            </a:r>
            <a:r>
              <a:rPr lang="en-IN" sz="1800" dirty="0" err="1">
                <a:latin typeface="Times New Roman" panose="02020603050405020304" pitchFamily="18" charset="0"/>
                <a:cs typeface="Times New Roman" panose="02020603050405020304" pitchFamily="18" charset="0"/>
              </a:rPr>
              <a:t>Oenc</a:t>
            </a:r>
            <a:r>
              <a:rPr lang="en-IN" sz="1800" dirty="0">
                <a:latin typeface="Times New Roman" panose="02020603050405020304" pitchFamily="18" charset="0"/>
                <a:cs typeface="Times New Roman" panose="02020603050405020304" pitchFamily="18" charset="0"/>
              </a:rPr>
              <a:t>” 2021 third international conference on intelligent communication technologies and virtual mobile networks(ICICV).IEEE,2021</a:t>
            </a:r>
            <a:r>
              <a:rPr lang="en-IN" sz="1800" spc="-10" dirty="0">
                <a:latin typeface="Times New Roman" panose="02020603050405020304" pitchFamily="18" charset="0"/>
                <a:cs typeface="Times New Roman" panose="02020603050405020304" pitchFamily="18" charset="0"/>
              </a:rPr>
              <a:t>.</a:t>
            </a:r>
            <a:br>
              <a:rPr lang="en-IN" sz="1800" spc="-10" dirty="0">
                <a:latin typeface="Times New Roman" panose="02020603050405020304" pitchFamily="18" charset="0"/>
                <a:cs typeface="Times New Roman" panose="02020603050405020304" pitchFamily="18" charset="0"/>
              </a:rPr>
            </a:br>
            <a:endParaRPr sz="1800" dirty="0">
              <a:latin typeface="Times New Roman"/>
              <a:cs typeface="Times New Roman"/>
            </a:endParaRPr>
          </a:p>
        </p:txBody>
      </p:sp>
      <p:sp>
        <p:nvSpPr>
          <p:cNvPr id="13" name="TextBox 12">
            <a:extLst>
              <a:ext uri="{FF2B5EF4-FFF2-40B4-BE49-F238E27FC236}">
                <a16:creationId xmlns:a16="http://schemas.microsoft.com/office/drawing/2014/main" id="{7E27BB07-1CF1-9A91-7A94-404C625789BF}"/>
              </a:ext>
            </a:extLst>
          </p:cNvPr>
          <p:cNvSpPr txBox="1"/>
          <p:nvPr/>
        </p:nvSpPr>
        <p:spPr>
          <a:xfrm>
            <a:off x="131640" y="1032540"/>
            <a:ext cx="10831016" cy="5632311"/>
          </a:xfrm>
          <a:prstGeom prst="rect">
            <a:avLst/>
          </a:prstGeom>
          <a:noFill/>
        </p:spPr>
        <p:txBody>
          <a:bodyPr wrap="square">
            <a:spAutoFit/>
          </a:bodyPr>
          <a:lstStyle/>
          <a:p>
            <a:pPr marL="285750" indent="-285750" rtl="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[1] Zaman, </a:t>
            </a:r>
            <a:r>
              <a:rPr lang="en-IN" sz="2400" dirty="0" err="1">
                <a:latin typeface="Times New Roman" panose="02020603050405020304" pitchFamily="18" charset="0"/>
                <a:cs typeface="Times New Roman" panose="02020603050405020304" pitchFamily="18" charset="0"/>
              </a:rPr>
              <a:t>Fadhlan</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Hafizhelmi</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kamaru</a:t>
            </a:r>
            <a:r>
              <a:rPr lang="en-IN" sz="2400" dirty="0">
                <a:latin typeface="Times New Roman" panose="02020603050405020304" pitchFamily="18" charset="0"/>
                <a:cs typeface="Times New Roman" panose="02020603050405020304" pitchFamily="18" charset="0"/>
              </a:rPr>
              <a:t>, et al. “Efficient human motion detection with adaptive background for vision-based security system.”(2017)</a:t>
            </a:r>
          </a:p>
          <a:p>
            <a:pPr marL="285750" indent="-285750" rtl="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285750" indent="-285750" rtl="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[2]</a:t>
            </a:r>
            <a:r>
              <a:rPr lang="en-IN" sz="2400" dirty="0" err="1">
                <a:latin typeface="Times New Roman" panose="02020603050405020304" pitchFamily="18" charset="0"/>
                <a:cs typeface="Times New Roman" panose="02020603050405020304" pitchFamily="18" charset="0"/>
              </a:rPr>
              <a:t>S.Menaa</a:t>
            </a:r>
            <a:r>
              <a:rPr lang="en-IN" sz="2400" dirty="0">
                <a:latin typeface="Times New Roman" panose="02020603050405020304" pitchFamily="18" charset="0"/>
                <a:cs typeface="Times New Roman" panose="02020603050405020304" pitchFamily="18" charset="0"/>
              </a:rPr>
              <a:t>, . “A Smar Intruder Detection System.” (IJERT)2021</a:t>
            </a:r>
          </a:p>
          <a:p>
            <a:pPr marL="285750" indent="-285750" rtl="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285750" indent="-285750" rtl="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[3]</a:t>
            </a:r>
            <a:r>
              <a:rPr lang="en-IN" sz="2400" dirty="0" err="1">
                <a:latin typeface="Times New Roman" panose="02020603050405020304" pitchFamily="18" charset="0"/>
                <a:cs typeface="Times New Roman" panose="02020603050405020304" pitchFamily="18" charset="0"/>
              </a:rPr>
              <a:t>hiba</a:t>
            </a:r>
            <a:r>
              <a:rPr lang="en-IN" sz="2400" dirty="0">
                <a:latin typeface="Times New Roman" panose="02020603050405020304" pitchFamily="18" charset="0"/>
                <a:cs typeface="Times New Roman" panose="02020603050405020304" pitchFamily="18" charset="0"/>
              </a:rPr>
              <a:t> Hameed Ali, . “A new smart home intruder detection system based on deep </a:t>
            </a:r>
            <a:r>
              <a:rPr lang="en-IN" sz="2400" dirty="0" err="1">
                <a:latin typeface="Times New Roman" panose="02020603050405020304" pitchFamily="18" charset="0"/>
                <a:cs typeface="Times New Roman" panose="02020603050405020304" pitchFamily="18" charset="0"/>
              </a:rPr>
              <a:t>learning.”,ISSN</a:t>
            </a:r>
            <a:r>
              <a:rPr lang="en-IN" sz="2400" dirty="0">
                <a:latin typeface="Times New Roman" panose="02020603050405020304" pitchFamily="18" charset="0"/>
                <a:cs typeface="Times New Roman" panose="02020603050405020304" pitchFamily="18" charset="0"/>
              </a:rPr>
              <a:t> ,2023 </a:t>
            </a:r>
            <a:endParaRPr lang="en-US" sz="2400" dirty="0">
              <a:latin typeface="Times New Roman" panose="02020603050405020304" pitchFamily="18" charset="0"/>
              <a:cs typeface="Times New Roman" panose="02020603050405020304" pitchFamily="18" charset="0"/>
            </a:endParaRPr>
          </a:p>
          <a:p>
            <a:pPr marL="285750" indent="-285750" rtl="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285750" indent="-285750" rtl="0">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[4]  Muhammad Sajid. “Enhancing intrusion detection: a hybrid machine and deep learning approach..” IEEE,2024</a:t>
            </a:r>
            <a:r>
              <a:rPr lang="en-IN" sz="2400" spc="-10" dirty="0">
                <a:latin typeface="Times New Roman" panose="02020603050405020304" pitchFamily="18" charset="0"/>
                <a:cs typeface="Times New Roman" panose="02020603050405020304" pitchFamily="18" charset="0"/>
              </a:rPr>
              <a:t>.</a:t>
            </a:r>
          </a:p>
          <a:p>
            <a:pPr marL="285750" indent="-285750" rtl="0">
              <a:buFont typeface="Wingdings" panose="05000000000000000000" pitchFamily="2" charset="2"/>
              <a:buChar char="Ø"/>
            </a:pPr>
            <a:endParaRPr lang="en-IN" sz="2400" spc="-10" dirty="0">
              <a:latin typeface="Times New Roman" panose="02020603050405020304" pitchFamily="18" charset="0"/>
              <a:cs typeface="Times New Roman" panose="02020603050405020304" pitchFamily="18" charset="0"/>
            </a:endParaRPr>
          </a:p>
          <a:p>
            <a:pPr marL="285750" indent="-285750" rtl="0">
              <a:buFont typeface="Wingdings" panose="05000000000000000000" pitchFamily="2" charset="2"/>
              <a:buChar char="Ø"/>
            </a:pPr>
            <a:r>
              <a:rPr lang="en-IN" sz="2400" spc="-10" dirty="0">
                <a:latin typeface="Times New Roman" panose="02020603050405020304" pitchFamily="18" charset="0"/>
                <a:cs typeface="Times New Roman" panose="02020603050405020304" pitchFamily="18" charset="0"/>
              </a:rPr>
              <a:t>[5] </a:t>
            </a:r>
            <a:r>
              <a:rPr lang="en-IN" sz="2400" spc="-10" dirty="0" err="1">
                <a:latin typeface="Times New Roman" panose="02020603050405020304" pitchFamily="18" charset="0"/>
                <a:cs typeface="Times New Roman" panose="02020603050405020304" pitchFamily="18" charset="0"/>
              </a:rPr>
              <a:t>pawan</a:t>
            </a:r>
            <a:r>
              <a:rPr lang="en-IN" sz="2400" spc="-10" dirty="0">
                <a:latin typeface="Times New Roman" panose="02020603050405020304" pitchFamily="18" charset="0"/>
                <a:cs typeface="Times New Roman" panose="02020603050405020304" pitchFamily="18" charset="0"/>
              </a:rPr>
              <a:t> game ,</a:t>
            </a:r>
            <a:r>
              <a:rPr lang="en-IN" sz="2400" dirty="0">
                <a:latin typeface="Times New Roman" panose="02020603050405020304" pitchFamily="18" charset="0"/>
                <a:cs typeface="Times New Roman" panose="02020603050405020304" pitchFamily="18" charset="0"/>
              </a:rPr>
              <a:t> “Intruder detection system using machine learning.” (IJERT) 2025 </a:t>
            </a:r>
          </a:p>
          <a:p>
            <a:pPr marL="285750" indent="-285750" rtl="0">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a:p>
            <a:pPr marL="285750" indent="-285750" rtl="0">
              <a:buFont typeface="Wingdings" panose="05000000000000000000" pitchFamily="2" charset="2"/>
              <a:buChar char="Ø"/>
            </a:pPr>
            <a:r>
              <a:rPr lang="en-IN" sz="2400" spc="-10" dirty="0">
                <a:latin typeface="Times New Roman" panose="02020603050405020304" pitchFamily="18" charset="0"/>
                <a:cs typeface="Times New Roman" panose="02020603050405020304" pitchFamily="18" charset="0"/>
              </a:rPr>
              <a:t>[6]MS. Mamata ,</a:t>
            </a:r>
            <a:r>
              <a:rPr lang="en-IN" sz="2400" dirty="0">
                <a:latin typeface="Times New Roman" panose="02020603050405020304" pitchFamily="18" charset="0"/>
                <a:cs typeface="Times New Roman" panose="02020603050405020304" pitchFamily="18" charset="0"/>
              </a:rPr>
              <a:t> “ Intruder detection for smart home alarm security system”, (IJERT) 2025</a:t>
            </a:r>
            <a:endParaRPr lang="en-IN" sz="2400" spc="-10" dirty="0">
              <a:latin typeface="Times New Roman" panose="02020603050405020304" pitchFamily="18" charset="0"/>
              <a:cs typeface="Times New Roman" panose="02020603050405020304" pitchFamily="18" charset="0"/>
            </a:endParaRPr>
          </a:p>
        </p:txBody>
      </p:sp>
      <p:grpSp>
        <p:nvGrpSpPr>
          <p:cNvPr id="14" name="object 3">
            <a:extLst>
              <a:ext uri="{FF2B5EF4-FFF2-40B4-BE49-F238E27FC236}">
                <a16:creationId xmlns:a16="http://schemas.microsoft.com/office/drawing/2014/main" id="{E365B540-D51E-4E3B-D99B-49E9761B7A72}"/>
              </a:ext>
            </a:extLst>
          </p:cNvPr>
          <p:cNvGrpSpPr/>
          <p:nvPr/>
        </p:nvGrpSpPr>
        <p:grpSpPr>
          <a:xfrm>
            <a:off x="-2" y="216249"/>
            <a:ext cx="12192000" cy="803910"/>
            <a:chOff x="-2" y="216249"/>
            <a:chExt cx="12192000" cy="803910"/>
          </a:xfrm>
        </p:grpSpPr>
        <p:pic>
          <p:nvPicPr>
            <p:cNvPr id="15" name="object 4">
              <a:extLst>
                <a:ext uri="{FF2B5EF4-FFF2-40B4-BE49-F238E27FC236}">
                  <a16:creationId xmlns:a16="http://schemas.microsoft.com/office/drawing/2014/main" id="{BA0CB688-C392-3AE3-B161-600B4FAC5D84}"/>
                </a:ext>
              </a:extLst>
            </p:cNvPr>
            <p:cNvPicPr/>
            <p:nvPr/>
          </p:nvPicPr>
          <p:blipFill>
            <a:blip r:embed="rId2" cstate="print"/>
            <a:stretch>
              <a:fillRect/>
            </a:stretch>
          </p:blipFill>
          <p:spPr>
            <a:xfrm>
              <a:off x="0" y="216249"/>
              <a:ext cx="12192000" cy="803792"/>
            </a:xfrm>
            <a:prstGeom prst="rect">
              <a:avLst/>
            </a:prstGeom>
          </p:spPr>
        </p:pic>
        <p:sp>
          <p:nvSpPr>
            <p:cNvPr id="16" name="object 5">
              <a:extLst>
                <a:ext uri="{FF2B5EF4-FFF2-40B4-BE49-F238E27FC236}">
                  <a16:creationId xmlns:a16="http://schemas.microsoft.com/office/drawing/2014/main" id="{3EA0AFB7-1DE9-F5B7-CAEF-8C43F4B5000C}"/>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r>
                <a:rPr lang="en-IN" sz="4400" dirty="0">
                  <a:latin typeface="Times New Roman" panose="02020603050405020304" pitchFamily="18" charset="0"/>
                  <a:cs typeface="Times New Roman" panose="02020603050405020304" pitchFamily="18" charset="0"/>
                </a:rPr>
                <a:t> </a:t>
              </a:r>
              <a:r>
                <a:rPr lang="en-IN" sz="4400" dirty="0">
                  <a:solidFill>
                    <a:schemeClr val="bg2"/>
                  </a:solidFill>
                  <a:latin typeface="Times New Roman" panose="02020603050405020304" pitchFamily="18" charset="0"/>
                  <a:cs typeface="Times New Roman" panose="02020603050405020304" pitchFamily="18" charset="0"/>
                </a:rPr>
                <a:t>References</a:t>
              </a:r>
              <a:endParaRPr sz="4400" dirty="0">
                <a:solidFill>
                  <a:schemeClr val="bg2"/>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0253222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7C149-2079-B860-24F2-3012CDD34EA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341D083-7BEE-56B9-5EBF-44939A96DE4D}"/>
              </a:ext>
            </a:extLst>
          </p:cNvPr>
          <p:cNvSpPr txBox="1"/>
          <p:nvPr/>
        </p:nvSpPr>
        <p:spPr>
          <a:xfrm>
            <a:off x="4876800" y="1"/>
            <a:ext cx="4266630" cy="487313"/>
          </a:xfrm>
          <a:prstGeom prst="rect">
            <a:avLst/>
          </a:prstGeom>
        </p:spPr>
        <p:txBody>
          <a:bodyPr vert="horz" wrap="square" lIns="0" tIns="12700" rIns="0" bIns="0" rtlCol="0">
            <a:spAutoFit/>
          </a:bodyPr>
          <a:lstStyle/>
          <a:p>
            <a:pPr marL="12700">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a:p>
            <a:pPr marL="12700">
              <a:lnSpc>
                <a:spcPct val="100000"/>
              </a:lnSpc>
              <a:spcBef>
                <a:spcPts val="100"/>
              </a:spcBef>
            </a:pPr>
            <a:endParaRPr sz="1500" dirty="0">
              <a:latin typeface="Times New Roman"/>
              <a:cs typeface="Times New Roman"/>
            </a:endParaRPr>
          </a:p>
        </p:txBody>
      </p:sp>
      <p:sp>
        <p:nvSpPr>
          <p:cNvPr id="4" name="object 4">
            <a:extLst>
              <a:ext uri="{FF2B5EF4-FFF2-40B4-BE49-F238E27FC236}">
                <a16:creationId xmlns:a16="http://schemas.microsoft.com/office/drawing/2014/main" id="{2840B4F2-FDB3-A37B-3636-A61332153C3D}"/>
              </a:ext>
            </a:extLst>
          </p:cNvPr>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5" name="object 5">
            <a:extLst>
              <a:ext uri="{FF2B5EF4-FFF2-40B4-BE49-F238E27FC236}">
                <a16:creationId xmlns:a16="http://schemas.microsoft.com/office/drawing/2014/main" id="{170DA184-74BD-4422-ED28-44C55A679F18}"/>
              </a:ext>
            </a:extLst>
          </p:cNvPr>
          <p:cNvSpPr txBox="1">
            <a:spLocks noGrp="1"/>
          </p:cNvSpPr>
          <p:nvPr>
            <p:ph type="dt" sz="half" idx="6"/>
          </p:nvPr>
        </p:nvSpPr>
        <p:spPr>
          <a:xfrm>
            <a:off x="838200" y="6629309"/>
            <a:ext cx="5105400"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6" name="object 6">
            <a:extLst>
              <a:ext uri="{FF2B5EF4-FFF2-40B4-BE49-F238E27FC236}">
                <a16:creationId xmlns:a16="http://schemas.microsoft.com/office/drawing/2014/main" id="{00DBCCE9-8C3F-9A93-6E76-FB138B22FF90}"/>
              </a:ext>
            </a:extLst>
          </p:cNvPr>
          <p:cNvSpPr txBox="1"/>
          <p:nvPr/>
        </p:nvSpPr>
        <p:spPr>
          <a:xfrm>
            <a:off x="6477000" y="6629310"/>
            <a:ext cx="4485656" cy="228690"/>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a:extLst>
              <a:ext uri="{FF2B5EF4-FFF2-40B4-BE49-F238E27FC236}">
                <a16:creationId xmlns:a16="http://schemas.microsoft.com/office/drawing/2014/main" id="{12B4F97F-5613-050D-AFE4-9930F7B2A9BF}"/>
              </a:ext>
            </a:extLst>
          </p:cNvPr>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22</a:t>
            </a:fld>
            <a:endParaRPr spc="-25" dirty="0"/>
          </a:p>
        </p:txBody>
      </p:sp>
      <p:sp>
        <p:nvSpPr>
          <p:cNvPr id="3" name="object 3">
            <a:extLst>
              <a:ext uri="{FF2B5EF4-FFF2-40B4-BE49-F238E27FC236}">
                <a16:creationId xmlns:a16="http://schemas.microsoft.com/office/drawing/2014/main" id="{BC2D0506-BBDC-6AEE-4523-E8E37CE2F711}"/>
              </a:ext>
            </a:extLst>
          </p:cNvPr>
          <p:cNvSpPr txBox="1">
            <a:spLocks noGrp="1"/>
          </p:cNvSpPr>
          <p:nvPr>
            <p:ph type="title"/>
          </p:nvPr>
        </p:nvSpPr>
        <p:spPr>
          <a:xfrm>
            <a:off x="304800" y="762000"/>
            <a:ext cx="10657856" cy="1674817"/>
          </a:xfrm>
          <a:prstGeom prst="rect">
            <a:avLst/>
          </a:prstGeom>
        </p:spPr>
        <p:txBody>
          <a:bodyPr vert="horz" wrap="square" lIns="0" tIns="12700" rIns="0" bIns="0" rtlCol="0">
            <a:spAutoFit/>
          </a:bodyPr>
          <a:lstStyle/>
          <a:p>
            <a:pPr marL="285750" indent="-285750" rtl="0"/>
            <a:r>
              <a:rPr lang="en-IN" sz="1800" dirty="0">
                <a:latin typeface="Times New Roman" panose="02020603050405020304" pitchFamily="18" charset="0"/>
                <a:cs typeface="Times New Roman" panose="02020603050405020304" pitchFamily="18" charset="0"/>
              </a:rPr>
              <a:t>[1] Zaman, Fadhl</a:t>
            </a:r>
            <a:br>
              <a:rPr lang="en-US" sz="1800" dirty="0">
                <a:latin typeface="Times New Roman" panose="02020603050405020304" pitchFamily="18" charset="0"/>
                <a:cs typeface="Times New Roman" panose="02020603050405020304" pitchFamily="18" charset="0"/>
              </a:rPr>
            </a:br>
            <a:br>
              <a:rPr lang="en-US"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[2]  Parveen, Suraiya, and Javeria Shah. “A motion detection system in python and </a:t>
            </a:r>
            <a:r>
              <a:rPr lang="en-IN" sz="1800" dirty="0" err="1">
                <a:latin typeface="Times New Roman" panose="02020603050405020304" pitchFamily="18" charset="0"/>
                <a:cs typeface="Times New Roman" panose="02020603050405020304" pitchFamily="18" charset="0"/>
              </a:rPr>
              <a:t>Oenc</a:t>
            </a:r>
            <a:r>
              <a:rPr lang="en-IN" sz="1800" dirty="0">
                <a:latin typeface="Times New Roman" panose="02020603050405020304" pitchFamily="18" charset="0"/>
                <a:cs typeface="Times New Roman" panose="02020603050405020304" pitchFamily="18" charset="0"/>
              </a:rPr>
              <a:t>” 2021 third international conference on intelligent communication technologies and virtual mobile networks(ICICV).IEEE,2021</a:t>
            </a:r>
            <a:r>
              <a:rPr lang="en-IN" sz="1800" spc="-10" dirty="0">
                <a:latin typeface="Times New Roman" panose="02020603050405020304" pitchFamily="18" charset="0"/>
                <a:cs typeface="Times New Roman" panose="02020603050405020304" pitchFamily="18" charset="0"/>
              </a:rPr>
              <a:t>.</a:t>
            </a:r>
            <a:br>
              <a:rPr lang="en-IN" sz="1800" spc="-10" dirty="0">
                <a:latin typeface="Times New Roman" panose="02020603050405020304" pitchFamily="18" charset="0"/>
                <a:cs typeface="Times New Roman" panose="02020603050405020304" pitchFamily="18" charset="0"/>
              </a:rPr>
            </a:br>
            <a:endParaRPr sz="1800" dirty="0">
              <a:latin typeface="Times New Roman"/>
              <a:cs typeface="Times New Roman"/>
            </a:endParaRPr>
          </a:p>
        </p:txBody>
      </p:sp>
      <p:grpSp>
        <p:nvGrpSpPr>
          <p:cNvPr id="14" name="object 3">
            <a:extLst>
              <a:ext uri="{FF2B5EF4-FFF2-40B4-BE49-F238E27FC236}">
                <a16:creationId xmlns:a16="http://schemas.microsoft.com/office/drawing/2014/main" id="{23241528-9787-3112-91BF-A0C22B195128}"/>
              </a:ext>
            </a:extLst>
          </p:cNvPr>
          <p:cNvGrpSpPr/>
          <p:nvPr/>
        </p:nvGrpSpPr>
        <p:grpSpPr>
          <a:xfrm>
            <a:off x="-2" y="216249"/>
            <a:ext cx="12192000" cy="803910"/>
            <a:chOff x="-2" y="216249"/>
            <a:chExt cx="12192000" cy="803910"/>
          </a:xfrm>
        </p:grpSpPr>
        <p:pic>
          <p:nvPicPr>
            <p:cNvPr id="15" name="object 4">
              <a:extLst>
                <a:ext uri="{FF2B5EF4-FFF2-40B4-BE49-F238E27FC236}">
                  <a16:creationId xmlns:a16="http://schemas.microsoft.com/office/drawing/2014/main" id="{68C440DB-402F-3852-5F1E-704D6AAEF121}"/>
                </a:ext>
              </a:extLst>
            </p:cNvPr>
            <p:cNvPicPr/>
            <p:nvPr/>
          </p:nvPicPr>
          <p:blipFill>
            <a:blip r:embed="rId3" cstate="print"/>
            <a:stretch>
              <a:fillRect/>
            </a:stretch>
          </p:blipFill>
          <p:spPr>
            <a:xfrm>
              <a:off x="0" y="216249"/>
              <a:ext cx="12192000" cy="803792"/>
            </a:xfrm>
            <a:prstGeom prst="rect">
              <a:avLst/>
            </a:prstGeom>
          </p:spPr>
        </p:pic>
        <p:sp>
          <p:nvSpPr>
            <p:cNvPr id="16" name="object 5">
              <a:extLst>
                <a:ext uri="{FF2B5EF4-FFF2-40B4-BE49-F238E27FC236}">
                  <a16:creationId xmlns:a16="http://schemas.microsoft.com/office/drawing/2014/main" id="{BECDF9F3-9732-7B16-7E26-37E8BF5FDB80}"/>
                </a:ext>
              </a:extLst>
            </p:cNvPr>
            <p:cNvSpPr/>
            <p:nvPr/>
          </p:nvSpPr>
          <p:spPr>
            <a:xfrm>
              <a:off x="-2" y="232759"/>
              <a:ext cx="12192000" cy="715010"/>
            </a:xfrm>
            <a:custGeom>
              <a:avLst/>
              <a:gdLst/>
              <a:ahLst/>
              <a:cxnLst/>
              <a:rect l="l" t="t" r="r" b="b"/>
              <a:pathLst>
                <a:path w="12192000" h="715010">
                  <a:moveTo>
                    <a:pt x="12191999" y="714891"/>
                  </a:moveTo>
                  <a:lnTo>
                    <a:pt x="0" y="714891"/>
                  </a:lnTo>
                  <a:lnTo>
                    <a:pt x="0" y="0"/>
                  </a:lnTo>
                  <a:lnTo>
                    <a:pt x="12191999" y="0"/>
                  </a:lnTo>
                  <a:lnTo>
                    <a:pt x="12191999" y="714891"/>
                  </a:lnTo>
                  <a:close/>
                </a:path>
              </a:pathLst>
            </a:custGeom>
            <a:solidFill>
              <a:srgbClr val="FF6600"/>
            </a:solidFill>
          </p:spPr>
          <p:txBody>
            <a:bodyPr wrap="square" lIns="0" tIns="0" rIns="0" bIns="0" rtlCol="0"/>
            <a:lstStyle/>
            <a:p>
              <a:r>
                <a:rPr lang="en-IN" sz="4400" dirty="0">
                  <a:solidFill>
                    <a:schemeClr val="bg2"/>
                  </a:solidFill>
                  <a:latin typeface="Times New Roman" panose="02020603050405020304" pitchFamily="18" charset="0"/>
                  <a:cs typeface="Times New Roman" panose="02020603050405020304" pitchFamily="18" charset="0"/>
                </a:rPr>
                <a:t>Paper Submission Proof</a:t>
              </a:r>
              <a:endParaRPr sz="4400" dirty="0">
                <a:solidFill>
                  <a:schemeClr val="bg2"/>
                </a:solidFill>
                <a:latin typeface="Times New Roman" panose="02020603050405020304" pitchFamily="18" charset="0"/>
                <a:cs typeface="Times New Roman" panose="02020603050405020304" pitchFamily="18" charset="0"/>
              </a:endParaRPr>
            </a:p>
          </p:txBody>
        </p:sp>
      </p:grpSp>
      <p:pic>
        <p:nvPicPr>
          <p:cNvPr id="9" name="Picture 8">
            <a:extLst>
              <a:ext uri="{FF2B5EF4-FFF2-40B4-BE49-F238E27FC236}">
                <a16:creationId xmlns:a16="http://schemas.microsoft.com/office/drawing/2014/main" id="{311AC261-51F0-6B11-A06D-77574358E6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54253" y="1036551"/>
            <a:ext cx="6883494" cy="5440450"/>
          </a:xfrm>
          <a:prstGeom prst="rect">
            <a:avLst/>
          </a:prstGeom>
        </p:spPr>
      </p:pic>
    </p:spTree>
    <p:extLst>
      <p:ext uri="{BB962C8B-B14F-4D97-AF65-F5344CB8AC3E}">
        <p14:creationId xmlns:p14="http://schemas.microsoft.com/office/powerpoint/2010/main" val="1876593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879593" y="0"/>
            <a:ext cx="4035807" cy="243656"/>
          </a:xfrm>
          <a:prstGeom prst="rect">
            <a:avLst/>
          </a:prstGeom>
        </p:spPr>
        <p:txBody>
          <a:bodyPr vert="horz" wrap="square" lIns="0" tIns="12700" rIns="0" bIns="0" rtlCol="0">
            <a:spAutoFit/>
          </a:bodyPr>
          <a:lstStyle/>
          <a:p>
            <a:pPr marL="12700">
              <a:lnSpc>
                <a:spcPct val="100000"/>
              </a:lnSpc>
              <a:spcBef>
                <a:spcPts val="100"/>
              </a:spcBef>
            </a:pPr>
            <a:r>
              <a:rPr lang="en-US" sz="1500" b="1" i="1" dirty="0">
                <a:solidFill>
                  <a:srgbClr val="FFFFFF"/>
                </a:solidFill>
                <a:latin typeface="Times New Roman"/>
                <a:cs typeface="Times New Roman"/>
              </a:rPr>
              <a:t>Smart Intruder Detection System</a:t>
            </a:r>
            <a:endParaRPr lang="en-US" sz="1500" dirty="0">
              <a:latin typeface="Times New Roman"/>
              <a:cs typeface="Times New Roman"/>
            </a:endParaRPr>
          </a:p>
        </p:txBody>
      </p:sp>
      <p:sp>
        <p:nvSpPr>
          <p:cNvPr id="4" name="object 4"/>
          <p:cNvSpPr txBox="1">
            <a:spLocks noGrp="1"/>
          </p:cNvSpPr>
          <p:nvPr>
            <p:ph type="ftr" sz="quarter" idx="5"/>
          </p:nvPr>
        </p:nvSpPr>
        <p:spPr>
          <a:xfrm>
            <a:off x="141783" y="6629792"/>
            <a:ext cx="544830" cy="230832"/>
          </a:xfrm>
          <a:prstGeom prst="rect">
            <a:avLst/>
          </a:prstGeom>
        </p:spPr>
        <p:txBody>
          <a:bodyPr vert="horz" wrap="square" lIns="0" tIns="0" rIns="0" bIns="0" rtlCol="0">
            <a:spAutoFit/>
          </a:bodyPr>
          <a:lstStyle/>
          <a:p>
            <a:pPr marL="12700">
              <a:lnSpc>
                <a:spcPts val="1845"/>
              </a:lnSpc>
            </a:pPr>
            <a:r>
              <a:rPr lang="en-IN" dirty="0"/>
              <a:t>B - 07</a:t>
            </a:r>
            <a:endParaRPr spc="-25" dirty="0"/>
          </a:p>
        </p:txBody>
      </p:sp>
      <p:sp>
        <p:nvSpPr>
          <p:cNvPr id="5" name="object 5"/>
          <p:cNvSpPr txBox="1">
            <a:spLocks noGrp="1"/>
          </p:cNvSpPr>
          <p:nvPr>
            <p:ph type="dt" sz="half" idx="6"/>
          </p:nvPr>
        </p:nvSpPr>
        <p:spPr>
          <a:xfrm>
            <a:off x="838201" y="6629793"/>
            <a:ext cx="5247450" cy="230832"/>
          </a:xfrm>
          <a:prstGeom prst="rect">
            <a:avLst/>
          </a:prstGeom>
        </p:spPr>
        <p:txBody>
          <a:bodyPr vert="horz" wrap="square" lIns="0" tIns="0" rIns="0" bIns="0" rtlCol="0">
            <a:spAutoFit/>
          </a:bodyPr>
          <a:lstStyle/>
          <a:p>
            <a:pPr marL="12700">
              <a:lnSpc>
                <a:spcPts val="1845"/>
              </a:lnSpc>
            </a:pPr>
            <a:r>
              <a:rPr lang="en-US" cap="small" spc="-75"/>
              <a:t>Dept. of Computer Science and Engineering (Data Science)                   Srinivasa Ramanujan Institute of Technology </a:t>
            </a:r>
            <a:endParaRPr cap="small" spc="-95" dirty="0"/>
          </a:p>
        </p:txBody>
      </p:sp>
      <p:sp>
        <p:nvSpPr>
          <p:cNvPr id="6" name="object 6"/>
          <p:cNvSpPr txBox="1"/>
          <p:nvPr/>
        </p:nvSpPr>
        <p:spPr>
          <a:xfrm>
            <a:off x="6553201" y="6629311"/>
            <a:ext cx="4485656" cy="230832"/>
          </a:xfrm>
          <a:prstGeom prst="rect">
            <a:avLst/>
          </a:prstGeom>
        </p:spPr>
        <p:txBody>
          <a:bodyPr vert="horz" wrap="square" lIns="0" tIns="0" rIns="0" bIns="0" rtlCol="0">
            <a:spAutoFit/>
          </a:bodyPr>
          <a:lstStyle/>
          <a:p>
            <a:pPr marL="12700">
              <a:lnSpc>
                <a:spcPts val="1845"/>
              </a:lnSpc>
            </a:pPr>
            <a:r>
              <a:rPr sz="1600" cap="small" spc="-105" dirty="0">
                <a:solidFill>
                  <a:srgbClr val="FFFFFF"/>
                </a:solidFill>
                <a:latin typeface="Times New Roman"/>
                <a:cs typeface="Times New Roman"/>
              </a:rPr>
              <a:t>Srinivasa</a:t>
            </a:r>
            <a:r>
              <a:rPr sz="1600" cap="small" spc="70" dirty="0">
                <a:solidFill>
                  <a:srgbClr val="FFFFFF"/>
                </a:solidFill>
                <a:latin typeface="Times New Roman"/>
                <a:cs typeface="Times New Roman"/>
              </a:rPr>
              <a:t> </a:t>
            </a:r>
            <a:r>
              <a:rPr sz="1600" cap="small" spc="-120" dirty="0">
                <a:solidFill>
                  <a:srgbClr val="FFFFFF"/>
                </a:solidFill>
                <a:latin typeface="Times New Roman"/>
                <a:cs typeface="Times New Roman"/>
              </a:rPr>
              <a:t>Ramanujan</a:t>
            </a:r>
            <a:r>
              <a:rPr sz="1600" cap="small" spc="75" dirty="0">
                <a:solidFill>
                  <a:srgbClr val="FFFFFF"/>
                </a:solidFill>
                <a:latin typeface="Times New Roman"/>
                <a:cs typeface="Times New Roman"/>
              </a:rPr>
              <a:t> </a:t>
            </a:r>
            <a:r>
              <a:rPr sz="1600" cap="small" spc="-110" dirty="0">
                <a:solidFill>
                  <a:srgbClr val="FFFFFF"/>
                </a:solidFill>
                <a:latin typeface="Times New Roman"/>
                <a:cs typeface="Times New Roman"/>
              </a:rPr>
              <a:t>Institute</a:t>
            </a:r>
            <a:r>
              <a:rPr sz="1600" cap="small" spc="75" dirty="0">
                <a:solidFill>
                  <a:srgbClr val="FFFFFF"/>
                </a:solidFill>
                <a:latin typeface="Times New Roman"/>
                <a:cs typeface="Times New Roman"/>
              </a:rPr>
              <a:t> </a:t>
            </a:r>
            <a:r>
              <a:rPr sz="1600" cap="small" spc="-100" dirty="0">
                <a:solidFill>
                  <a:srgbClr val="FFFFFF"/>
                </a:solidFill>
                <a:latin typeface="Times New Roman"/>
                <a:cs typeface="Times New Roman"/>
              </a:rPr>
              <a:t>of</a:t>
            </a:r>
            <a:r>
              <a:rPr sz="1600" cap="small" spc="75" dirty="0">
                <a:solidFill>
                  <a:srgbClr val="FFFFFF"/>
                </a:solidFill>
                <a:latin typeface="Times New Roman"/>
                <a:cs typeface="Times New Roman"/>
              </a:rPr>
              <a:t> </a:t>
            </a:r>
            <a:r>
              <a:rPr sz="1600" cap="small" spc="-140" dirty="0">
                <a:solidFill>
                  <a:srgbClr val="FFFFFF"/>
                </a:solidFill>
                <a:latin typeface="Times New Roman"/>
                <a:cs typeface="Times New Roman"/>
              </a:rPr>
              <a:t>Technology</a:t>
            </a:r>
            <a:endParaRPr sz="1600" dirty="0">
              <a:latin typeface="Times New Roman"/>
              <a:cs typeface="Times New Roman"/>
            </a:endParaRP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845"/>
              </a:lnSpc>
            </a:pPr>
            <a:fld id="{81D60167-4931-47E6-BA6A-407CBD079E47}" type="slidenum">
              <a:rPr spc="-25" dirty="0"/>
              <a:t>23</a:t>
            </a:fld>
            <a:endParaRPr spc="-25" dirty="0"/>
          </a:p>
        </p:txBody>
      </p:sp>
      <p:sp>
        <p:nvSpPr>
          <p:cNvPr id="3" name="object 3"/>
          <p:cNvSpPr txBox="1">
            <a:spLocks noGrp="1"/>
          </p:cNvSpPr>
          <p:nvPr>
            <p:ph type="title"/>
          </p:nvPr>
        </p:nvSpPr>
        <p:spPr>
          <a:xfrm>
            <a:off x="4191000" y="1600200"/>
            <a:ext cx="3276600" cy="3067699"/>
          </a:xfrm>
          <a:prstGeom prst="rect">
            <a:avLst/>
          </a:prstGeom>
        </p:spPr>
        <p:txBody>
          <a:bodyPr vert="horz" wrap="square" lIns="0" tIns="12700" rIns="0" bIns="0" rtlCol="0">
            <a:spAutoFit/>
          </a:bodyPr>
          <a:lstStyle/>
          <a:p>
            <a:pPr marL="12700" marR="5080">
              <a:lnSpc>
                <a:spcPct val="107000"/>
              </a:lnSpc>
              <a:spcBef>
                <a:spcPts val="100"/>
              </a:spcBef>
            </a:pPr>
            <a:r>
              <a:rPr sz="9600" i="1" spc="-10" dirty="0">
                <a:solidFill>
                  <a:srgbClr val="FF6600"/>
                </a:solidFill>
                <a:latin typeface="Times New Roman"/>
                <a:cs typeface="Times New Roman"/>
              </a:rPr>
              <a:t>Thank You!!!</a:t>
            </a:r>
            <a:endParaRPr sz="96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563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5492</TotalTime>
  <Words>2826</Words>
  <Application>Microsoft Office PowerPoint</Application>
  <PresentationFormat>Widescreen</PresentationFormat>
  <Paragraphs>309</Paragraphs>
  <Slides>23</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Calibri</vt:lpstr>
      <vt:lpstr>Segoe UI</vt:lpstr>
      <vt:lpstr>Times New Roman</vt:lpstr>
      <vt:lpstr>Wingdings</vt:lpstr>
      <vt:lpstr>Office Theme</vt:lpstr>
      <vt:lpstr>     SMART INTRUDER DETECTION SYSTEM</vt:lpstr>
      <vt:lpstr>Abstract</vt:lpstr>
      <vt:lpstr>Contents</vt:lpstr>
      <vt:lpstr>Introduction</vt:lpstr>
      <vt:lpstr>Literature survey</vt:lpstr>
      <vt:lpstr>Literature survey</vt:lpstr>
      <vt:lpstr>Literature survey</vt:lpstr>
      <vt:lpstr>Smart Intruder Detection System </vt:lpstr>
      <vt:lpstr>Proposed System</vt:lpstr>
      <vt:lpstr>Objectives</vt:lpstr>
      <vt:lpstr>Contd…</vt:lpstr>
      <vt:lpstr>Contd…</vt:lpstr>
      <vt:lpstr>Planning and Design</vt:lpstr>
      <vt:lpstr>Planning and Design</vt:lpstr>
      <vt:lpstr>Planning and Design</vt:lpstr>
      <vt:lpstr>Implementation</vt:lpstr>
      <vt:lpstr>Results</vt:lpstr>
      <vt:lpstr>Results</vt:lpstr>
      <vt:lpstr>Conclusion </vt:lpstr>
      <vt:lpstr>[1] Zaman, Fadhl  [2]  Parveen, Suraiya, and Javeria Shah. “A motion detection system in python and Oenc” 2021 third international conference on intelligent communication technologies and virtual mobile networks(ICICV).IEEE,2021. </vt:lpstr>
      <vt:lpstr>[1] Zaman, Fadhl  [2]  Parveen, Suraiya, and Javeria Shah. “A motion detection system in python and Oenc” 2021 third international conference on intelligent communication technologies and virtual mobile networks(ICICV).IEEE,2021. </vt:lpstr>
      <vt:lpstr>[1] Zaman, Fadhl  [2]  Parveen, Suraiya, and Javeria Shah. “A motion detection system in python and Oenc” 2021 third international conference on intelligent communication technologies and virtual mobile networks(ICICV).IEEE,2021.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SANKU NARAYANA SWAMI GARI SHARANYA LAKSHMI</dc:creator>
  <cp:lastModifiedBy>Vyshnavi Gavvala</cp:lastModifiedBy>
  <cp:revision>22</cp:revision>
  <dcterms:created xsi:type="dcterms:W3CDTF">2025-09-18T17:21:15Z</dcterms:created>
  <dcterms:modified xsi:type="dcterms:W3CDTF">2026-08-13T02:42:14Z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2025-09-18T00:00:00Z</vt:filetime>
  </property>
  <property fmtid="{D5CDD505-2E9C-101B-9397-08002B2CF9AE}" pid="3" name="Creator">
    <vt:lpwstr>Google</vt:lpwstr>
  </property>
  <property fmtid="{D5CDD505-2E9C-101B-9397-08002B2CF9AE}" pid="4" name="LastSaved">
    <vt:filetime>2025-09-18T00:00:00Z</vt:filetime>
  </property>
</Properties>
</file>